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1 of the Applied AI course. This module covers the foundational concepts of Generative AI, including what it is, how LLMs work, prompt engineering techniques, data analysis with LLMs, and the ethical considerations surrounding AI. By the end of this module, students will understand the capabilities and limitations of generative AI and be able to craft effective prompts for various tasks.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structured into four main sections plus an enterprise scenario. We start with the fundamentals of generative AI and LLM architecture, then move into practical prompt engineering techniques. Section 3 covers how LLMs can assist with data analysis tasks. Section 4 addresses the critical ethical dimensions. Finally, we tie everything together with a production-level enterprise scenario demonstrating how these concepts apply in real business.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AI represents a paradigm shift from traditional discriminative AI. While discriminative models learn boundaries between classes (e.g., spam vs. not spam), generative models learn the full data distribution and can sample from it to produce entirely new outputs. This enables applications like conversational AI, code generation, creative writing, and multimodal content creation. The key distinction: discriminative = 'What is this?' vs. generative = 'Create something new.'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are built on the transformer architecture introduced in 'Attention Is All You Need' (Vaswani et al., 2017). The key innovation is the self-attention mechanism which computes relationships between all token pairs simultaneously, enabling parallel processing and capturing long-range dependencies. The architecture consists of: tokenization (converting text to subword units), embedding (mapping to dense vectors), stacked transformer blocks (each with multi-head attention and feed-forward layers with residual connections and layer norm), positional encoding (injecting order since attention is permutation-invariant), and an output head that produces a probability distribution over the vocabulary for next-token prediction.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LLMs have a remarkably broad capability surface. They can generate coherent long-form text, summarize documents, translate between languages, answer questions, write and debug code, perform multi-step reasoning, and follow complex instructions. These capabilities make them versatile tools for automation, augmentation, and creative applications across virtually every industry. The key is understanding which capability to leverage for a given task and how to prompt the model effectively to achieve the desired output.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LLM limitations is critical for production deployment. Hallucinations are the most dangerous — the model generates confident-sounding but incorrect information. Knowledge cutoff means the model doesn't know about events after its training date. Context windows limit how much information can be processed at once. Bias reflects societal prejudices in training data. Reasoning errors occur with complex multi-step logic. Non-determinism means the same prompt can yield different outputs. Cost and latency are real operational concerns at scale. Each limitation has specific mitigation strategies that should be implemented in production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engineering is arguably the most important practical skill for working with LLMs. It involves designing, testing, and refining the inputs we give to language models to reliably produce the outputs we need. This section covers foundational through advanced prompting techniques that every AI practitioner should master.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principles form the foundation of effective prompt engineering. Being specific eliminates ambiguity. Providing context gives the model the background it needs. Using examples (few-shot) dramatically improves output quality and format adherence. Structuring prompts with delimiters and sections helps the model distinguish between instructions and data. Finally, iteration is key — treat prompt development like software development with version control, testing, and continuous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foundational techniques represent increasing levels of guidance. Zero-shot is simplest but least reliable for complex tasks. Few-shot dramatically improves output quality by providing input-output examples. Chain-of-thought is essential for reasoning tasks — it forces the model to show its work, which improves accuracy on math, logic, and multi-step problems. Role-based prompting leverages the model's ability to adopt personas, which is useful for specialized tasks like code review, medical analysis, or legal document drafting. In practice, these techniques are often combined for optimal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prompt patterns go beyond single-turn prompting. ReAct (Yao et al., 2022) is the foundation for modern agentic AI — it combines reasoning traces with tool actions, enabling LLMs to interact with external systems. Tree of Thoughts (Yao et al., 2023) extends chain-of-thought by exploring multiple reasoning branches and selecting the best one, similar to how humans brainstorm solutions. Self-consistency (Wang et al., 2022) generates multiple reasoning paths and uses majority voting to improve accuracy. Prompt chaining decomposes complex tasks into sequential steps, where each step's output becomes the next step's input — this is essentially building pipelines with LLMs.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best practices should be applied systematically. Delimiters are critical for preventing prompt injection and helping the model distinguish between instructions and data. Specifying output format ensures parseable results. Setting constraints prevents overly verbose responses. Providing context improves relevance. Examples are the single most impactful technique for improving output quality. Iterative refinement with A/B testing mirrors software testing practices. Handling edge cases prevents unexpected failures. Structured output with response_format guarantees machine-parseable JSON, which is essential for production pipelines.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are powerful assistants for data analysis tasks. They can generate cleaning code, write SQL queries from natural language, create visualization code, and even suggest statistical approaches. This section covers practical use cases where LLMs accelerate the data analysis workflow.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use cases represent the highest-value applications of LLMs in data analysis. Data cleaning is often 80% of a data scientist's work — LLMs can identify issues and generate cleaning code. SQL generation democratizes data access, allowing non-technical users to query databases. Visualization code generation accelerates dashboard creation. Statistical analysis assistance helps choose appropriate tests and interpret results. Report writing automates the narrative around analysis. Data transformation generates the reshape/aggregate code that's tedious to write manually. Critical caveat: always validate LLM-generated code against actual data before production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AI systems become more powerful and pervasive, ethical considerations are not optional — they are essential. This section covers bias, transparency, privacy, safety, the regulatory landscape, and future trends that every AI practitioner must understand.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in AI is a systemic issue. Representation bias occurs when certain groups are underrepresented in training data. Historical bias perpetuates past inequalities. Measurement bias uses flawed proxies (e.g., zip code for creditworthiness). Aggregation bias applies one model to diverse populations. Evaluation bias uses skewed benchmarks. The Responsible AI Framework addresses these through five pillars: Fairness (bias detection, diverse data, audits), Transparency (model documentation, explainability), Accountability (human oversight, error reporting), Privacy (data minimization, consent management), and Safety (content filtering, monitoring,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regulatory landscape is evolving rapidly. The EU AI Act is the most comprehensive, using a risk-based classification system (unacceptable, high, limited, minimal risk). NIST AI RMF provides voluntary guidance for US organizations. China requires algorithm registration. The UK takes a pro-innovation approach. Canada's AIDA focuses on accountability. Future trends include multimodal models (GPT-4V, Gemini), agentic AI that can plan and execute autonomously, small language models for efficiency and privacy (Phi, Gemma), neuro-symbolic AI combining neural and logical reasoning, and AI alignment research to ensure systems follow human intent.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all these concepts together with a real enterprise scenario. We'll examine how a large insurance company deploys generative AI to transform their customer support operations — covering prompt engineering, data analysis, ethical guardrails, and production considerations.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Insurance Corp processes 50,000+ support tickets monthly with an average resolution time of 4.2 hours at $2.8M annual cost and only 62% customer satisfaction. Their GenAI solution uses: (1) Few-shot prompting to classify tickets into categories (claims, billing, policy questions, complaints), (2) RAG to ground responses in actual policy documents reducing hallucinations, (3) Chain-of-thought for complex claim assessments, and (4) Structured output (JSON) to integrate with their Salesforce CRM. Results after 6 months: 70% automation rate, resolution time down to 1.2 hours, $1.8M savings, 89% satisfaction, 99.7% uptime. Key lesson: human-in-the-loop for high-stakes decisions (claim denials) and continuous prompt optimization based on feedback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takeaways encapsulate the core learning objectives of Module 1. (1) Understanding generative AI fundamentals — what it can and cannot do. (2) Prompt engineering as the primary interface skill for LLMs. (3) Practical data analysis applications with the critical caveat of validation. (4) The non-negotiable importance of ethical AI practices. (5) The operational realities of production deployment. Students should feel confident in these foundations before proceeding to LangChain, RAG, and agentic systems in subsequent modules.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concludes Module 1. Encourage students to review the concepts, interview questions, and quiz materials. The interview questions cover beginner to advanced levels and are excellent preparation for technical assessments. The quiz with 20 questions and detailed explanations serves as a self-assessment tool. Next module covers LangChain and building blocks for constructing LLM-powered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286000"/>
            <a:ext cx="85340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468880"/>
            <a:ext cx="8534095" cy="731520"/>
          </a:xfrm>
          <a:prstGeom prst="rect">
            <a:avLst/>
          </a:prstGeom>
          <a:noFill/>
        </p:spPr>
        <p:txBody>
          <a:bodyPr wrap="square">
            <a:spAutoFit/>
          </a:bodyPr>
          <a:lstStyle/>
          <a:p>
            <a:pPr algn="ctr">
              <a:defRPr sz="2400" b="0">
                <a:solidFill>
                  <a:srgbClr val="00BCD4"/>
                </a:solidFill>
              </a:defRPr>
            </a:pPr>
            <a:r>
              <a:t>Module 1</a:t>
            </a:r>
          </a:p>
        </p:txBody>
      </p:sp>
      <p:sp>
        <p:nvSpPr>
          <p:cNvPr id="5" name="TextBox 4"/>
          <p:cNvSpPr txBox="1"/>
          <p:nvPr/>
        </p:nvSpPr>
        <p:spPr>
          <a:xfrm>
            <a:off x="1828800" y="3017520"/>
            <a:ext cx="8534095" cy="914400"/>
          </a:xfrm>
          <a:prstGeom prst="rect">
            <a:avLst/>
          </a:prstGeom>
          <a:noFill/>
        </p:spPr>
        <p:txBody>
          <a:bodyPr wrap="square">
            <a:spAutoFit/>
          </a:bodyPr>
          <a:lstStyle/>
          <a:p>
            <a:pPr algn="ctr">
              <a:defRPr sz="4400" b="1">
                <a:solidFill>
                  <a:srgbClr val="FFFFFF"/>
                </a:solidFill>
              </a:defRPr>
            </a:pPr>
            <a:r>
              <a:t>Generative AI &amp; Prompt Engineering</a:t>
            </a:r>
          </a:p>
        </p:txBody>
      </p:sp>
      <p:sp>
        <p:nvSpPr>
          <p:cNvPr id="6" name="TextBox 5"/>
          <p:cNvSpPr txBox="1"/>
          <p:nvPr/>
        </p:nvSpPr>
        <p:spPr>
          <a:xfrm>
            <a:off x="1828800" y="3840480"/>
            <a:ext cx="8534095" cy="548640"/>
          </a:xfrm>
          <a:prstGeom prst="rect">
            <a:avLst/>
          </a:prstGeom>
          <a:noFill/>
        </p:spPr>
        <p:txBody>
          <a:bodyPr wrap="square">
            <a:spAutoFit/>
          </a:bodyPr>
          <a:lstStyle/>
          <a:p>
            <a:pPr algn="ctr">
              <a:defRPr sz="2000" b="0">
                <a:solidFill>
                  <a:srgbClr val="CCCCCC"/>
                </a:solidFill>
              </a:defRPr>
            </a:pPr>
            <a:r>
              <a:t>Foundations for the Applied AI Era</a:t>
            </a:r>
          </a:p>
        </p:txBody>
      </p:sp>
      <p:sp>
        <p:nvSpPr>
          <p:cNvPr id="7" name="Rectangle 6"/>
          <p:cNvSpPr/>
          <p:nvPr/>
        </p:nvSpPr>
        <p:spPr>
          <a:xfrm>
            <a:off x="1828800" y="4754880"/>
            <a:ext cx="85340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029200"/>
            <a:ext cx="8534095" cy="457200"/>
          </a:xfrm>
          <a:prstGeom prst="rect">
            <a:avLst/>
          </a:prstGeom>
          <a:noFill/>
        </p:spPr>
        <p:txBody>
          <a:bodyPr wrap="square">
            <a:spAutoFit/>
          </a:bodyPr>
          <a:lstStyle/>
          <a:p>
            <a:pPr algn="ctr">
              <a:defRPr sz="1400" b="0">
                <a:solidFill>
                  <a:srgbClr val="CCCCCC"/>
                </a:solidFill>
              </a:defRPr>
            </a:pPr>
            <a:r>
              <a:t>Applied AI Course  |  Part 1: Foundations</a:t>
            </a:r>
          </a:p>
        </p:txBody>
      </p:sp>
      <p:sp>
        <p:nvSpPr>
          <p:cNvPr id="9" name="TextBox 8"/>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OVERVIEW</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Module Agenda</a:t>
            </a:r>
          </a:p>
        </p:txBody>
      </p:sp>
      <p:sp>
        <p:nvSpPr>
          <p:cNvPr id="5" name="Rounded Rectangle 4"/>
          <p:cNvSpPr/>
          <p:nvPr/>
        </p:nvSpPr>
        <p:spPr>
          <a:xfrm>
            <a:off x="731520" y="1828800"/>
            <a:ext cx="640080" cy="6400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defRPr>
            </a:pPr>
            <a:r>
              <a:t>1.1</a:t>
            </a:r>
          </a:p>
        </p:txBody>
      </p:sp>
      <p:sp>
        <p:nvSpPr>
          <p:cNvPr id="6" name="TextBox 5"/>
          <p:cNvSpPr txBox="1"/>
          <p:nvPr/>
        </p:nvSpPr>
        <p:spPr>
          <a:xfrm>
            <a:off x="1645920" y="1828800"/>
            <a:ext cx="4572000" cy="365760"/>
          </a:xfrm>
          <a:prstGeom prst="rect">
            <a:avLst/>
          </a:prstGeom>
          <a:noFill/>
        </p:spPr>
        <p:txBody>
          <a:bodyPr wrap="square">
            <a:spAutoFit/>
          </a:bodyPr>
          <a:lstStyle/>
          <a:p>
            <a:pPr algn="l">
              <a:defRPr sz="2000" b="1">
                <a:solidFill>
                  <a:srgbClr val="FFFFFF"/>
                </a:solidFill>
              </a:defRPr>
            </a:pPr>
            <a:r>
              <a:t>What is Generative AI?</a:t>
            </a:r>
          </a:p>
        </p:txBody>
      </p:sp>
      <p:sp>
        <p:nvSpPr>
          <p:cNvPr id="7" name="TextBox 6"/>
          <p:cNvSpPr txBox="1"/>
          <p:nvPr/>
        </p:nvSpPr>
        <p:spPr>
          <a:xfrm>
            <a:off x="1645920" y="2148840"/>
            <a:ext cx="7315200" cy="320040"/>
          </a:xfrm>
          <a:prstGeom prst="rect">
            <a:avLst/>
          </a:prstGeom>
          <a:noFill/>
        </p:spPr>
        <p:txBody>
          <a:bodyPr wrap="square">
            <a:spAutoFit/>
          </a:bodyPr>
          <a:lstStyle/>
          <a:p>
            <a:pPr algn="l">
              <a:defRPr sz="1400" b="0">
                <a:solidFill>
                  <a:srgbClr val="CCCCCC"/>
                </a:solidFill>
              </a:defRPr>
            </a:pPr>
            <a:r>
              <a:t>LLM architecture, capabilities, and limitations</a:t>
            </a:r>
          </a:p>
        </p:txBody>
      </p:sp>
      <p:sp>
        <p:nvSpPr>
          <p:cNvPr id="8" name="Rounded Rectangle 7"/>
          <p:cNvSpPr/>
          <p:nvPr/>
        </p:nvSpPr>
        <p:spPr>
          <a:xfrm>
            <a:off x="731520" y="2743200"/>
            <a:ext cx="640080" cy="64008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defRPr>
            </a:pPr>
            <a:r>
              <a:t>1.2</a:t>
            </a:r>
          </a:p>
        </p:txBody>
      </p:sp>
      <p:sp>
        <p:nvSpPr>
          <p:cNvPr id="9" name="TextBox 8"/>
          <p:cNvSpPr txBox="1"/>
          <p:nvPr/>
        </p:nvSpPr>
        <p:spPr>
          <a:xfrm>
            <a:off x="1645920" y="2743200"/>
            <a:ext cx="4572000" cy="365760"/>
          </a:xfrm>
          <a:prstGeom prst="rect">
            <a:avLst/>
          </a:prstGeom>
          <a:noFill/>
        </p:spPr>
        <p:txBody>
          <a:bodyPr wrap="square">
            <a:spAutoFit/>
          </a:bodyPr>
          <a:lstStyle/>
          <a:p>
            <a:pPr algn="l">
              <a:defRPr sz="2000" b="1">
                <a:solidFill>
                  <a:srgbClr val="FFFFFF"/>
                </a:solidFill>
              </a:defRPr>
            </a:pPr>
            <a:r>
              <a:t>Prompt Engineering</a:t>
            </a:r>
          </a:p>
        </p:txBody>
      </p:sp>
      <p:sp>
        <p:nvSpPr>
          <p:cNvPr id="10" name="TextBox 9"/>
          <p:cNvSpPr txBox="1"/>
          <p:nvPr/>
        </p:nvSpPr>
        <p:spPr>
          <a:xfrm>
            <a:off x="1645920" y="3063240"/>
            <a:ext cx="7315200" cy="320040"/>
          </a:xfrm>
          <a:prstGeom prst="rect">
            <a:avLst/>
          </a:prstGeom>
          <a:noFill/>
        </p:spPr>
        <p:txBody>
          <a:bodyPr wrap="square">
            <a:spAutoFit/>
          </a:bodyPr>
          <a:lstStyle/>
          <a:p>
            <a:pPr algn="l">
              <a:defRPr sz="1400" b="0">
                <a:solidFill>
                  <a:srgbClr val="CCCCCC"/>
                </a:solidFill>
              </a:defRPr>
            </a:pPr>
            <a:r>
              <a:t>Techniques: zero-shot, few-shot, CoT, ReAct, ToT</a:t>
            </a:r>
          </a:p>
        </p:txBody>
      </p:sp>
      <p:sp>
        <p:nvSpPr>
          <p:cNvPr id="11" name="Rounded Rectangle 10"/>
          <p:cNvSpPr/>
          <p:nvPr/>
        </p:nvSpPr>
        <p:spPr>
          <a:xfrm>
            <a:off x="731520" y="3657600"/>
            <a:ext cx="640080" cy="64008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defRPr>
            </a:pPr>
            <a:r>
              <a:t>1.3</a:t>
            </a:r>
          </a:p>
        </p:txBody>
      </p:sp>
      <p:sp>
        <p:nvSpPr>
          <p:cNvPr id="12" name="TextBox 11"/>
          <p:cNvSpPr txBox="1"/>
          <p:nvPr/>
        </p:nvSpPr>
        <p:spPr>
          <a:xfrm>
            <a:off x="1645920" y="3657600"/>
            <a:ext cx="4572000" cy="365760"/>
          </a:xfrm>
          <a:prstGeom prst="rect">
            <a:avLst/>
          </a:prstGeom>
          <a:noFill/>
        </p:spPr>
        <p:txBody>
          <a:bodyPr wrap="square">
            <a:spAutoFit/>
          </a:bodyPr>
          <a:lstStyle/>
          <a:p>
            <a:pPr algn="l">
              <a:defRPr sz="2000" b="1">
                <a:solidFill>
                  <a:srgbClr val="FFFFFF"/>
                </a:solidFill>
              </a:defRPr>
            </a:pPr>
            <a:r>
              <a:t>Data Analysis with LLMs</a:t>
            </a:r>
          </a:p>
        </p:txBody>
      </p:sp>
      <p:sp>
        <p:nvSpPr>
          <p:cNvPr id="13" name="TextBox 12"/>
          <p:cNvSpPr txBox="1"/>
          <p:nvPr/>
        </p:nvSpPr>
        <p:spPr>
          <a:xfrm>
            <a:off x="1645920" y="3977640"/>
            <a:ext cx="7315200" cy="320040"/>
          </a:xfrm>
          <a:prstGeom prst="rect">
            <a:avLst/>
          </a:prstGeom>
          <a:noFill/>
        </p:spPr>
        <p:txBody>
          <a:bodyPr wrap="square">
            <a:spAutoFit/>
          </a:bodyPr>
          <a:lstStyle/>
          <a:p>
            <a:pPr algn="l">
              <a:defRPr sz="1400" b="0">
                <a:solidFill>
                  <a:srgbClr val="CCCCCC"/>
                </a:solidFill>
              </a:defRPr>
            </a:pPr>
            <a:r>
              <a:t>SQL generation, visualization, statistical analysis</a:t>
            </a:r>
          </a:p>
        </p:txBody>
      </p:sp>
      <p:sp>
        <p:nvSpPr>
          <p:cNvPr id="14" name="Rounded Rectangle 13"/>
          <p:cNvSpPr/>
          <p:nvPr/>
        </p:nvSpPr>
        <p:spPr>
          <a:xfrm>
            <a:off x="731520" y="4572000"/>
            <a:ext cx="640080" cy="64008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defRPr>
            </a:pPr>
            <a:r>
              <a:t>1.4</a:t>
            </a:r>
          </a:p>
        </p:txBody>
      </p:sp>
      <p:sp>
        <p:nvSpPr>
          <p:cNvPr id="15" name="TextBox 14"/>
          <p:cNvSpPr txBox="1"/>
          <p:nvPr/>
        </p:nvSpPr>
        <p:spPr>
          <a:xfrm>
            <a:off x="1645920" y="4572000"/>
            <a:ext cx="4572000" cy="365760"/>
          </a:xfrm>
          <a:prstGeom prst="rect">
            <a:avLst/>
          </a:prstGeom>
          <a:noFill/>
        </p:spPr>
        <p:txBody>
          <a:bodyPr wrap="square">
            <a:spAutoFit/>
          </a:bodyPr>
          <a:lstStyle/>
          <a:p>
            <a:pPr algn="l">
              <a:defRPr sz="2000" b="1">
                <a:solidFill>
                  <a:srgbClr val="FFFFFF"/>
                </a:solidFill>
              </a:defRPr>
            </a:pPr>
            <a:r>
              <a:t>Ethics &amp; the Future of AI</a:t>
            </a:r>
          </a:p>
        </p:txBody>
      </p:sp>
      <p:sp>
        <p:nvSpPr>
          <p:cNvPr id="16" name="TextBox 15"/>
          <p:cNvSpPr txBox="1"/>
          <p:nvPr/>
        </p:nvSpPr>
        <p:spPr>
          <a:xfrm>
            <a:off x="1645920" y="4892040"/>
            <a:ext cx="7315200" cy="320040"/>
          </a:xfrm>
          <a:prstGeom prst="rect">
            <a:avLst/>
          </a:prstGeom>
          <a:noFill/>
        </p:spPr>
        <p:txBody>
          <a:bodyPr wrap="square">
            <a:spAutoFit/>
          </a:bodyPr>
          <a:lstStyle/>
          <a:p>
            <a:pPr algn="l">
              <a:defRPr sz="1400" b="0">
                <a:solidFill>
                  <a:srgbClr val="CCCCCC"/>
                </a:solidFill>
              </a:defRPr>
            </a:pPr>
            <a:r>
              <a:t>Bias, fairness, regulations, emerging trends</a:t>
            </a:r>
          </a:p>
        </p:txBody>
      </p:sp>
      <p:sp>
        <p:nvSpPr>
          <p:cNvPr id="17" name="Rounded Rectangle 16"/>
          <p:cNvSpPr/>
          <p:nvPr/>
        </p:nvSpPr>
        <p:spPr>
          <a:xfrm>
            <a:off x="731520" y="5486400"/>
            <a:ext cx="64008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800"/>
              </a:spcBef>
              <a:defRPr sz="1800" b="1">
                <a:solidFill>
                  <a:srgbClr val="FFFFFF"/>
                </a:solidFill>
              </a:defRPr>
            </a:pPr>
            <a:r>
              <a:t>E</a:t>
            </a:r>
          </a:p>
        </p:txBody>
      </p:sp>
      <p:sp>
        <p:nvSpPr>
          <p:cNvPr id="18" name="TextBox 17"/>
          <p:cNvSpPr txBox="1"/>
          <p:nvPr/>
        </p:nvSpPr>
        <p:spPr>
          <a:xfrm>
            <a:off x="1645920" y="5486400"/>
            <a:ext cx="4572000" cy="365760"/>
          </a:xfrm>
          <a:prstGeom prst="rect">
            <a:avLst/>
          </a:prstGeom>
          <a:noFill/>
        </p:spPr>
        <p:txBody>
          <a:bodyPr wrap="square">
            <a:spAutoFit/>
          </a:bodyPr>
          <a:lstStyle/>
          <a:p>
            <a:pPr algn="l">
              <a:defRPr sz="2000" b="1">
                <a:solidFill>
                  <a:srgbClr val="FFFFFF"/>
                </a:solidFill>
              </a:defRPr>
            </a:pPr>
            <a:r>
              <a:t>Enterprise Scenario</a:t>
            </a:r>
          </a:p>
        </p:txBody>
      </p:sp>
      <p:sp>
        <p:nvSpPr>
          <p:cNvPr id="19" name="TextBox 18"/>
          <p:cNvSpPr txBox="1"/>
          <p:nvPr/>
        </p:nvSpPr>
        <p:spPr>
          <a:xfrm>
            <a:off x="1645920" y="5806440"/>
            <a:ext cx="7315200" cy="320040"/>
          </a:xfrm>
          <a:prstGeom prst="rect">
            <a:avLst/>
          </a:prstGeom>
          <a:noFill/>
        </p:spPr>
        <p:txBody>
          <a:bodyPr wrap="square">
            <a:spAutoFit/>
          </a:bodyPr>
          <a:lstStyle/>
          <a:p>
            <a:pPr algn="l">
              <a:defRPr sz="1400" b="0">
                <a:solidFill>
                  <a:srgbClr val="CCCCCC"/>
                </a:solidFill>
              </a:defRPr>
            </a:pPr>
            <a:r>
              <a:t>Real-world production application of GenAI</a:t>
            </a:r>
          </a:p>
        </p:txBody>
      </p:sp>
      <p:sp>
        <p:nvSpPr>
          <p:cNvPr id="20" name="TextBox 19"/>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2/20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1.1</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What is Generative AI?</a:t>
            </a:r>
          </a:p>
        </p:txBody>
      </p:sp>
      <p:sp>
        <p:nvSpPr>
          <p:cNvPr id="5" name="TextBox 4"/>
          <p:cNvSpPr txBox="1"/>
          <p:nvPr/>
        </p:nvSpPr>
        <p:spPr>
          <a:xfrm>
            <a:off x="457200" y="1737360"/>
            <a:ext cx="10972800" cy="640080"/>
          </a:xfrm>
          <a:prstGeom prst="rect">
            <a:avLst/>
          </a:prstGeom>
          <a:noFill/>
        </p:spPr>
        <p:txBody>
          <a:bodyPr wrap="square">
            <a:spAutoFit/>
          </a:bodyPr>
          <a:lstStyle/>
          <a:p>
            <a:pPr algn="l">
              <a:defRPr sz="1800" b="0">
                <a:solidFill>
                  <a:srgbClr val="CCCCCC"/>
                </a:solidFill>
              </a:defRPr>
            </a:pPr>
            <a:r>
              <a:t>AI systems that create novel content — text, images, code, audio, video — by learning patterns from training data.</a:t>
            </a:r>
          </a:p>
        </p:txBody>
      </p:sp>
      <p:sp>
        <p:nvSpPr>
          <p:cNvPr id="6" name="Rounded Rectangle 5"/>
          <p:cNvSpPr/>
          <p:nvPr/>
        </p:nvSpPr>
        <p:spPr>
          <a:xfrm>
            <a:off x="457200" y="2651760"/>
            <a:ext cx="5303520" cy="347472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788920"/>
            <a:ext cx="4937760" cy="365760"/>
          </a:xfrm>
          <a:prstGeom prst="rect">
            <a:avLst/>
          </a:prstGeom>
          <a:noFill/>
        </p:spPr>
        <p:txBody>
          <a:bodyPr wrap="square">
            <a:spAutoFit/>
          </a:bodyPr>
          <a:lstStyle/>
          <a:p>
            <a:pPr>
              <a:defRPr sz="1600" b="1">
                <a:solidFill>
                  <a:srgbClr val="FF9800"/>
                </a:solidFill>
              </a:defRPr>
            </a:pPr>
            <a:r>
              <a:t>Discriminative AI</a:t>
            </a:r>
          </a:p>
        </p:txBody>
      </p:sp>
      <p:sp>
        <p:nvSpPr>
          <p:cNvPr id="8" name="TextBox 7"/>
          <p:cNvSpPr txBox="1"/>
          <p:nvPr/>
        </p:nvSpPr>
        <p:spPr>
          <a:xfrm>
            <a:off x="640080" y="3154680"/>
            <a:ext cx="4937760" cy="2834640"/>
          </a:xfrm>
          <a:prstGeom prst="rect">
            <a:avLst/>
          </a:prstGeom>
          <a:noFill/>
        </p:spPr>
        <p:txBody>
          <a:bodyPr wrap="square">
            <a:spAutoFit/>
          </a:bodyPr>
          <a:lstStyle/>
          <a:p>
            <a:pPr>
              <a:spcAft>
                <a:spcPts val="400"/>
              </a:spcAft>
              <a:defRPr sz="1300">
                <a:solidFill>
                  <a:srgbClr val="CCCCCC"/>
                </a:solidFill>
              </a:defRPr>
            </a:pPr>
            <a:r>
              <a:t>• Learns decision boundaries between classes</a:t>
            </a:r>
          </a:p>
          <a:p>
            <a:pPr>
              <a:spcAft>
                <a:spcPts val="400"/>
              </a:spcAft>
              <a:defRPr sz="1300">
                <a:solidFill>
                  <a:srgbClr val="CCCCCC"/>
                </a:solidFill>
              </a:defRPr>
            </a:pPr>
            <a:r>
              <a:t>• Classification and prediction tasks</a:t>
            </a:r>
          </a:p>
          <a:p>
            <a:pPr>
              <a:spcAft>
                <a:spcPts val="400"/>
              </a:spcAft>
              <a:defRPr sz="1300">
                <a:solidFill>
                  <a:srgbClr val="CCCCCC"/>
                </a:solidFill>
              </a:defRPr>
            </a:pPr>
            <a:r>
              <a:t>• Examples: spam detection, image recognition</a:t>
            </a:r>
          </a:p>
          <a:p>
            <a:pPr>
              <a:spcAft>
                <a:spcPts val="400"/>
              </a:spcAft>
              <a:defRPr sz="1300">
                <a:solidFill>
                  <a:srgbClr val="CCCCCC"/>
                </a:solidFill>
              </a:defRPr>
            </a:pPr>
            <a:r>
              <a:t>• Models: SVM, Logistic Regression, BERT</a:t>
            </a:r>
          </a:p>
        </p:txBody>
      </p:sp>
      <p:sp>
        <p:nvSpPr>
          <p:cNvPr id="9" name="Rounded Rectangle 8"/>
          <p:cNvSpPr/>
          <p:nvPr/>
        </p:nvSpPr>
        <p:spPr>
          <a:xfrm>
            <a:off x="6400800" y="2651760"/>
            <a:ext cx="5303520" cy="347472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788920"/>
            <a:ext cx="4937760" cy="365760"/>
          </a:xfrm>
          <a:prstGeom prst="rect">
            <a:avLst/>
          </a:prstGeom>
          <a:noFill/>
        </p:spPr>
        <p:txBody>
          <a:bodyPr wrap="square">
            <a:spAutoFit/>
          </a:bodyPr>
          <a:lstStyle/>
          <a:p>
            <a:pPr>
              <a:defRPr sz="1600" b="1">
                <a:solidFill>
                  <a:srgbClr val="00BCD4"/>
                </a:solidFill>
              </a:defRPr>
            </a:pPr>
            <a:r>
              <a:t>Generative AI</a:t>
            </a:r>
          </a:p>
        </p:txBody>
      </p:sp>
      <p:sp>
        <p:nvSpPr>
          <p:cNvPr id="11" name="TextBox 10"/>
          <p:cNvSpPr txBox="1"/>
          <p:nvPr/>
        </p:nvSpPr>
        <p:spPr>
          <a:xfrm>
            <a:off x="6583680" y="3154680"/>
            <a:ext cx="4937760" cy="2834640"/>
          </a:xfrm>
          <a:prstGeom prst="rect">
            <a:avLst/>
          </a:prstGeom>
          <a:noFill/>
        </p:spPr>
        <p:txBody>
          <a:bodyPr wrap="square">
            <a:spAutoFit/>
          </a:bodyPr>
          <a:lstStyle/>
          <a:p>
            <a:pPr>
              <a:spcAft>
                <a:spcPts val="400"/>
              </a:spcAft>
              <a:defRPr sz="1300">
                <a:solidFill>
                  <a:srgbClr val="CCCCCC"/>
                </a:solidFill>
              </a:defRPr>
            </a:pPr>
            <a:r>
              <a:t>• Learns underlying data distribution</a:t>
            </a:r>
          </a:p>
          <a:p>
            <a:pPr>
              <a:spcAft>
                <a:spcPts val="400"/>
              </a:spcAft>
              <a:defRPr sz="1300">
                <a:solidFill>
                  <a:srgbClr val="CCCCCC"/>
                </a:solidFill>
              </a:defRPr>
            </a:pPr>
            <a:r>
              <a:t>• Creates new content that resembles training data</a:t>
            </a:r>
          </a:p>
          <a:p>
            <a:pPr>
              <a:spcAft>
                <a:spcPts val="400"/>
              </a:spcAft>
              <a:defRPr sz="1300">
                <a:solidFill>
                  <a:srgbClr val="CCCCCC"/>
                </a:solidFill>
              </a:defRPr>
            </a:pPr>
            <a:r>
              <a:t>• Examples: text generation, image synthesis</a:t>
            </a:r>
          </a:p>
          <a:p>
            <a:pPr>
              <a:spcAft>
                <a:spcPts val="400"/>
              </a:spcAft>
              <a:defRPr sz="1300">
                <a:solidFill>
                  <a:srgbClr val="CCCCCC"/>
                </a:solidFill>
              </a:defRPr>
            </a:pPr>
            <a:r>
              <a:t>• Models: GPT, DALL-E, Stable Diffusion, Claude</a:t>
            </a:r>
          </a:p>
        </p:txBody>
      </p:sp>
      <p:sp>
        <p:nvSpPr>
          <p:cNvPr id="12" name="TextBox 11"/>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3/20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1.1</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Large Language Model Architecture</a:t>
            </a:r>
          </a:p>
        </p:txBody>
      </p:sp>
      <p:sp>
        <p:nvSpPr>
          <p:cNvPr id="5" name="Rounded Rectangle 4"/>
          <p:cNvSpPr/>
          <p:nvPr/>
        </p:nvSpPr>
        <p:spPr>
          <a:xfrm>
            <a:off x="457200" y="1920240"/>
            <a:ext cx="3566160" cy="1828800"/>
          </a:xfrm>
          <a:prstGeom prst="roundRect">
            <a:avLst/>
          </a:prstGeom>
          <a:solidFill>
            <a:srgbClr val="2A2A45"/>
          </a:solidFill>
          <a:ln w="254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03120"/>
            <a:ext cx="3200400" cy="365760"/>
          </a:xfrm>
          <a:prstGeom prst="rect">
            <a:avLst/>
          </a:prstGeom>
          <a:noFill/>
        </p:spPr>
        <p:txBody>
          <a:bodyPr wrap="square">
            <a:spAutoFit/>
          </a:bodyPr>
          <a:lstStyle/>
          <a:p>
            <a:pPr algn="l">
              <a:defRPr sz="1800" b="1">
                <a:solidFill>
                  <a:srgbClr val="007ACC"/>
                </a:solidFill>
              </a:defRPr>
            </a:pPr>
            <a:r>
              <a:t>Tokenizer</a:t>
            </a:r>
          </a:p>
        </p:txBody>
      </p:sp>
      <p:sp>
        <p:nvSpPr>
          <p:cNvPr id="7" name="TextBox 6"/>
          <p:cNvSpPr txBox="1"/>
          <p:nvPr/>
        </p:nvSpPr>
        <p:spPr>
          <a:xfrm>
            <a:off x="640080" y="2560320"/>
            <a:ext cx="3200400" cy="1005840"/>
          </a:xfrm>
          <a:prstGeom prst="rect">
            <a:avLst/>
          </a:prstGeom>
          <a:noFill/>
        </p:spPr>
        <p:txBody>
          <a:bodyPr wrap="square">
            <a:spAutoFit/>
          </a:bodyPr>
          <a:lstStyle/>
          <a:p>
            <a:pPr algn="l">
              <a:defRPr sz="1400" b="0">
                <a:solidFill>
                  <a:srgbClr val="CCCCCC"/>
                </a:solidFill>
              </a:defRPr>
            </a:pPr>
            <a:r>
              <a:t>Converts text to subword tokens (BPE, WordPiece)</a:t>
            </a:r>
          </a:p>
        </p:txBody>
      </p:sp>
      <p:sp>
        <p:nvSpPr>
          <p:cNvPr id="8" name="Rounded Rectangle 7"/>
          <p:cNvSpPr/>
          <p:nvPr/>
        </p:nvSpPr>
        <p:spPr>
          <a:xfrm>
            <a:off x="4297680" y="1920240"/>
            <a:ext cx="3566160" cy="1828800"/>
          </a:xfrm>
          <a:prstGeom prst="roundRect">
            <a:avLst/>
          </a:prstGeom>
          <a:solidFill>
            <a:srgbClr val="2A2A45"/>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103120"/>
            <a:ext cx="3200400" cy="365760"/>
          </a:xfrm>
          <a:prstGeom prst="rect">
            <a:avLst/>
          </a:prstGeom>
          <a:noFill/>
        </p:spPr>
        <p:txBody>
          <a:bodyPr wrap="square">
            <a:spAutoFit/>
          </a:bodyPr>
          <a:lstStyle/>
          <a:p>
            <a:pPr algn="l">
              <a:defRPr sz="1800" b="1">
                <a:solidFill>
                  <a:srgbClr val="00BCD4"/>
                </a:solidFill>
              </a:defRPr>
            </a:pPr>
            <a:r>
              <a:t>Embedding Layer</a:t>
            </a:r>
          </a:p>
        </p:txBody>
      </p:sp>
      <p:sp>
        <p:nvSpPr>
          <p:cNvPr id="10" name="TextBox 9"/>
          <p:cNvSpPr txBox="1"/>
          <p:nvPr/>
        </p:nvSpPr>
        <p:spPr>
          <a:xfrm>
            <a:off x="4480560" y="2560320"/>
            <a:ext cx="3200400" cy="1005840"/>
          </a:xfrm>
          <a:prstGeom prst="rect">
            <a:avLst/>
          </a:prstGeom>
          <a:noFill/>
        </p:spPr>
        <p:txBody>
          <a:bodyPr wrap="square">
            <a:spAutoFit/>
          </a:bodyPr>
          <a:lstStyle/>
          <a:p>
            <a:pPr algn="l">
              <a:defRPr sz="1400" b="0">
                <a:solidFill>
                  <a:srgbClr val="CCCCCC"/>
                </a:solidFill>
              </a:defRPr>
            </a:pPr>
            <a:r>
              <a:t>Maps tokens to dense vector representations</a:t>
            </a:r>
          </a:p>
        </p:txBody>
      </p:sp>
      <p:sp>
        <p:nvSpPr>
          <p:cNvPr id="11" name="Rounded Rectangle 10"/>
          <p:cNvSpPr/>
          <p:nvPr/>
        </p:nvSpPr>
        <p:spPr>
          <a:xfrm>
            <a:off x="8138160" y="1920240"/>
            <a:ext cx="3566160" cy="1828800"/>
          </a:xfrm>
          <a:prstGeom prst="roundRect">
            <a:avLst/>
          </a:prstGeom>
          <a:solidFill>
            <a:srgbClr val="2A2A45"/>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103120"/>
            <a:ext cx="3200400" cy="365760"/>
          </a:xfrm>
          <a:prstGeom prst="rect">
            <a:avLst/>
          </a:prstGeom>
          <a:noFill/>
        </p:spPr>
        <p:txBody>
          <a:bodyPr wrap="square">
            <a:spAutoFit/>
          </a:bodyPr>
          <a:lstStyle/>
          <a:p>
            <a:pPr algn="l">
              <a:defRPr sz="1800" b="1">
                <a:solidFill>
                  <a:srgbClr val="4CAF50"/>
                </a:solidFill>
              </a:defRPr>
            </a:pPr>
            <a:r>
              <a:t>Transformer Blocks</a:t>
            </a:r>
          </a:p>
        </p:txBody>
      </p:sp>
      <p:sp>
        <p:nvSpPr>
          <p:cNvPr id="13" name="TextBox 12"/>
          <p:cNvSpPr txBox="1"/>
          <p:nvPr/>
        </p:nvSpPr>
        <p:spPr>
          <a:xfrm>
            <a:off x="8321040" y="2560320"/>
            <a:ext cx="3200400" cy="1005840"/>
          </a:xfrm>
          <a:prstGeom prst="rect">
            <a:avLst/>
          </a:prstGeom>
          <a:noFill/>
        </p:spPr>
        <p:txBody>
          <a:bodyPr wrap="square">
            <a:spAutoFit/>
          </a:bodyPr>
          <a:lstStyle/>
          <a:p>
            <a:pPr algn="l">
              <a:defRPr sz="1400" b="0">
                <a:solidFill>
                  <a:srgbClr val="CCCCCC"/>
                </a:solidFill>
              </a:defRPr>
            </a:pPr>
            <a:r>
              <a:t>Self-attention + feed-forward networks (stacked)</a:t>
            </a:r>
          </a:p>
        </p:txBody>
      </p:sp>
      <p:sp>
        <p:nvSpPr>
          <p:cNvPr id="14" name="Rounded Rectangle 13"/>
          <p:cNvSpPr/>
          <p:nvPr/>
        </p:nvSpPr>
        <p:spPr>
          <a:xfrm>
            <a:off x="457200" y="4114800"/>
            <a:ext cx="3566160" cy="1828800"/>
          </a:xfrm>
          <a:prstGeom prst="roundRect">
            <a:avLst/>
          </a:prstGeom>
          <a:solidFill>
            <a:srgbClr val="2A2A45"/>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97680"/>
            <a:ext cx="3200400" cy="365760"/>
          </a:xfrm>
          <a:prstGeom prst="rect">
            <a:avLst/>
          </a:prstGeom>
          <a:noFill/>
        </p:spPr>
        <p:txBody>
          <a:bodyPr wrap="square">
            <a:spAutoFit/>
          </a:bodyPr>
          <a:lstStyle/>
          <a:p>
            <a:pPr algn="l">
              <a:defRPr sz="1800" b="1">
                <a:solidFill>
                  <a:srgbClr val="FF9800"/>
                </a:solidFill>
              </a:defRPr>
            </a:pPr>
            <a:r>
              <a:t>Positional Encoding</a:t>
            </a:r>
          </a:p>
        </p:txBody>
      </p:sp>
      <p:sp>
        <p:nvSpPr>
          <p:cNvPr id="16" name="TextBox 15"/>
          <p:cNvSpPr txBox="1"/>
          <p:nvPr/>
        </p:nvSpPr>
        <p:spPr>
          <a:xfrm>
            <a:off x="640080" y="4754880"/>
            <a:ext cx="3200400" cy="1005840"/>
          </a:xfrm>
          <a:prstGeom prst="rect">
            <a:avLst/>
          </a:prstGeom>
          <a:noFill/>
        </p:spPr>
        <p:txBody>
          <a:bodyPr wrap="square">
            <a:spAutoFit/>
          </a:bodyPr>
          <a:lstStyle/>
          <a:p>
            <a:pPr algn="l">
              <a:defRPr sz="1400" b="0">
                <a:solidFill>
                  <a:srgbClr val="CCCCCC"/>
                </a:solidFill>
              </a:defRPr>
            </a:pPr>
            <a:r>
              <a:t>Injects sequence order information</a:t>
            </a:r>
          </a:p>
        </p:txBody>
      </p:sp>
      <p:sp>
        <p:nvSpPr>
          <p:cNvPr id="17" name="Rounded Rectangle 16"/>
          <p:cNvSpPr/>
          <p:nvPr/>
        </p:nvSpPr>
        <p:spPr>
          <a:xfrm>
            <a:off x="4297680" y="4114800"/>
            <a:ext cx="3566160" cy="1828800"/>
          </a:xfrm>
          <a:prstGeom prst="roundRect">
            <a:avLst/>
          </a:prstGeom>
          <a:solidFill>
            <a:srgbClr val="2A2A45"/>
          </a:solidFill>
          <a:ln w="2540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4297680"/>
            <a:ext cx="3200400" cy="365760"/>
          </a:xfrm>
          <a:prstGeom prst="rect">
            <a:avLst/>
          </a:prstGeom>
          <a:noFill/>
        </p:spPr>
        <p:txBody>
          <a:bodyPr wrap="square">
            <a:spAutoFit/>
          </a:bodyPr>
          <a:lstStyle/>
          <a:p>
            <a:pPr algn="l">
              <a:defRPr sz="1800" b="1">
                <a:solidFill>
                  <a:srgbClr val="9C27B0"/>
                </a:solidFill>
              </a:defRPr>
            </a:pPr>
            <a:r>
              <a:t>Attention Mechanism</a:t>
            </a:r>
          </a:p>
        </p:txBody>
      </p:sp>
      <p:sp>
        <p:nvSpPr>
          <p:cNvPr id="19" name="TextBox 18"/>
          <p:cNvSpPr txBox="1"/>
          <p:nvPr/>
        </p:nvSpPr>
        <p:spPr>
          <a:xfrm>
            <a:off x="4480560" y="4754880"/>
            <a:ext cx="3200400" cy="1005840"/>
          </a:xfrm>
          <a:prstGeom prst="rect">
            <a:avLst/>
          </a:prstGeom>
          <a:noFill/>
        </p:spPr>
        <p:txBody>
          <a:bodyPr wrap="square">
            <a:spAutoFit/>
          </a:bodyPr>
          <a:lstStyle/>
          <a:p>
            <a:pPr algn="l">
              <a:defRPr sz="1400" b="0">
                <a:solidFill>
                  <a:srgbClr val="CCCCCC"/>
                </a:solidFill>
              </a:defRPr>
            </a:pPr>
            <a:r>
              <a:t>Weighted relevance between all token pairs</a:t>
            </a:r>
          </a:p>
        </p:txBody>
      </p:sp>
      <p:sp>
        <p:nvSpPr>
          <p:cNvPr id="20" name="Rounded Rectangle 19"/>
          <p:cNvSpPr/>
          <p:nvPr/>
        </p:nvSpPr>
        <p:spPr>
          <a:xfrm>
            <a:off x="8138160" y="4114800"/>
            <a:ext cx="3566160" cy="1828800"/>
          </a:xfrm>
          <a:prstGeom prst="roundRect">
            <a:avLst/>
          </a:prstGeom>
          <a:solidFill>
            <a:srgbClr val="2A2A45"/>
          </a:solidFill>
          <a:ln w="254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4297680"/>
            <a:ext cx="3200400" cy="365760"/>
          </a:xfrm>
          <a:prstGeom prst="rect">
            <a:avLst/>
          </a:prstGeom>
          <a:noFill/>
        </p:spPr>
        <p:txBody>
          <a:bodyPr wrap="square">
            <a:spAutoFit/>
          </a:bodyPr>
          <a:lstStyle/>
          <a:p>
            <a:pPr algn="l">
              <a:defRPr sz="1800" b="1">
                <a:solidFill>
                  <a:srgbClr val="F44336"/>
                </a:solidFill>
              </a:defRPr>
            </a:pPr>
            <a:r>
              <a:t>Output Head</a:t>
            </a:r>
          </a:p>
        </p:txBody>
      </p:sp>
      <p:sp>
        <p:nvSpPr>
          <p:cNvPr id="22" name="TextBox 21"/>
          <p:cNvSpPr txBox="1"/>
          <p:nvPr/>
        </p:nvSpPr>
        <p:spPr>
          <a:xfrm>
            <a:off x="8321040" y="4754880"/>
            <a:ext cx="3200400" cy="1005840"/>
          </a:xfrm>
          <a:prstGeom prst="rect">
            <a:avLst/>
          </a:prstGeom>
          <a:noFill/>
        </p:spPr>
        <p:txBody>
          <a:bodyPr wrap="square">
            <a:spAutoFit/>
          </a:bodyPr>
          <a:lstStyle/>
          <a:p>
            <a:pPr algn="l">
              <a:defRPr sz="1400" b="0">
                <a:solidFill>
                  <a:srgbClr val="CCCCCC"/>
                </a:solidFill>
              </a:defRPr>
            </a:pPr>
            <a:r>
              <a:t>Probability distribution over vocabulary</a:t>
            </a:r>
          </a:p>
        </p:txBody>
      </p:sp>
      <p:sp>
        <p:nvSpPr>
          <p:cNvPr id="23" name="TextBox 22"/>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4/20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1.1</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LLM Capabilities</a:t>
            </a:r>
          </a:p>
        </p:txBody>
      </p:sp>
      <p:sp>
        <p:nvSpPr>
          <p:cNvPr id="5" name="Rounded Rectangle 4"/>
          <p:cNvSpPr/>
          <p:nvPr/>
        </p:nvSpPr>
        <p:spPr>
          <a:xfrm>
            <a:off x="274320" y="192024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057400"/>
            <a:ext cx="365760" cy="365760"/>
          </a:xfrm>
          <a:prstGeom prst="rect">
            <a:avLst/>
          </a:prstGeom>
          <a:noFill/>
        </p:spPr>
        <p:txBody>
          <a:bodyPr wrap="square">
            <a:spAutoFit/>
          </a:bodyPr>
          <a:lstStyle/>
          <a:p>
            <a:pPr algn="l">
              <a:defRPr sz="2000" b="1">
                <a:solidFill>
                  <a:srgbClr val="4CAF50"/>
                </a:solidFill>
              </a:defRPr>
            </a:pPr>
            <a:r>
              <a:t>1</a:t>
            </a:r>
          </a:p>
        </p:txBody>
      </p:sp>
      <p:sp>
        <p:nvSpPr>
          <p:cNvPr id="7" name="TextBox 6"/>
          <p:cNvSpPr txBox="1"/>
          <p:nvPr/>
        </p:nvSpPr>
        <p:spPr>
          <a:xfrm>
            <a:off x="457200" y="2423160"/>
            <a:ext cx="2377440" cy="365760"/>
          </a:xfrm>
          <a:prstGeom prst="rect">
            <a:avLst/>
          </a:prstGeom>
          <a:noFill/>
        </p:spPr>
        <p:txBody>
          <a:bodyPr wrap="square">
            <a:spAutoFit/>
          </a:bodyPr>
          <a:lstStyle/>
          <a:p>
            <a:pPr algn="l">
              <a:defRPr sz="1600" b="1">
                <a:solidFill>
                  <a:srgbClr val="FFFFFF"/>
                </a:solidFill>
              </a:defRPr>
            </a:pPr>
            <a:r>
              <a:t>Text Generation</a:t>
            </a:r>
          </a:p>
        </p:txBody>
      </p:sp>
      <p:sp>
        <p:nvSpPr>
          <p:cNvPr id="8" name="TextBox 7"/>
          <p:cNvSpPr txBox="1"/>
          <p:nvPr/>
        </p:nvSpPr>
        <p:spPr>
          <a:xfrm>
            <a:off x="457200" y="2834640"/>
            <a:ext cx="2377440" cy="914400"/>
          </a:xfrm>
          <a:prstGeom prst="rect">
            <a:avLst/>
          </a:prstGeom>
          <a:noFill/>
        </p:spPr>
        <p:txBody>
          <a:bodyPr wrap="square">
            <a:spAutoFit/>
          </a:bodyPr>
          <a:lstStyle/>
          <a:p>
            <a:pPr algn="l">
              <a:defRPr sz="1200" b="0">
                <a:solidFill>
                  <a:srgbClr val="CCCCCC"/>
                </a:solidFill>
              </a:defRPr>
            </a:pPr>
            <a:r>
              <a:t>Articles, stories, code, emails, marketing copy</a:t>
            </a:r>
          </a:p>
        </p:txBody>
      </p:sp>
      <p:sp>
        <p:nvSpPr>
          <p:cNvPr id="9" name="Rounded Rectangle 8"/>
          <p:cNvSpPr/>
          <p:nvPr/>
        </p:nvSpPr>
        <p:spPr>
          <a:xfrm>
            <a:off x="3200400" y="192024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57400"/>
            <a:ext cx="365760" cy="365760"/>
          </a:xfrm>
          <a:prstGeom prst="rect">
            <a:avLst/>
          </a:prstGeom>
          <a:noFill/>
        </p:spPr>
        <p:txBody>
          <a:bodyPr wrap="square">
            <a:spAutoFit/>
          </a:bodyPr>
          <a:lstStyle/>
          <a:p>
            <a:pPr algn="l">
              <a:defRPr sz="2000" b="1">
                <a:solidFill>
                  <a:srgbClr val="4CAF50"/>
                </a:solidFill>
              </a:defRPr>
            </a:pPr>
            <a:r>
              <a:t>2</a:t>
            </a:r>
          </a:p>
        </p:txBody>
      </p:sp>
      <p:sp>
        <p:nvSpPr>
          <p:cNvPr id="11" name="TextBox 10"/>
          <p:cNvSpPr txBox="1"/>
          <p:nvPr/>
        </p:nvSpPr>
        <p:spPr>
          <a:xfrm>
            <a:off x="3383280" y="2423160"/>
            <a:ext cx="2377440" cy="365760"/>
          </a:xfrm>
          <a:prstGeom prst="rect">
            <a:avLst/>
          </a:prstGeom>
          <a:noFill/>
        </p:spPr>
        <p:txBody>
          <a:bodyPr wrap="square">
            <a:spAutoFit/>
          </a:bodyPr>
          <a:lstStyle/>
          <a:p>
            <a:pPr algn="l">
              <a:defRPr sz="1600" b="1">
                <a:solidFill>
                  <a:srgbClr val="FFFFFF"/>
                </a:solidFill>
              </a:defRPr>
            </a:pPr>
            <a:r>
              <a:t>Summarization</a:t>
            </a:r>
          </a:p>
        </p:txBody>
      </p:sp>
      <p:sp>
        <p:nvSpPr>
          <p:cNvPr id="12" name="TextBox 11"/>
          <p:cNvSpPr txBox="1"/>
          <p:nvPr/>
        </p:nvSpPr>
        <p:spPr>
          <a:xfrm>
            <a:off x="3383280" y="2834640"/>
            <a:ext cx="2377440" cy="914400"/>
          </a:xfrm>
          <a:prstGeom prst="rect">
            <a:avLst/>
          </a:prstGeom>
          <a:noFill/>
        </p:spPr>
        <p:txBody>
          <a:bodyPr wrap="square">
            <a:spAutoFit/>
          </a:bodyPr>
          <a:lstStyle/>
          <a:p>
            <a:pPr algn="l">
              <a:defRPr sz="1200" b="0">
                <a:solidFill>
                  <a:srgbClr val="CCCCCC"/>
                </a:solidFill>
              </a:defRPr>
            </a:pPr>
            <a:r>
              <a:t>Extractive and abstractive summarization of documents</a:t>
            </a:r>
          </a:p>
        </p:txBody>
      </p:sp>
      <p:sp>
        <p:nvSpPr>
          <p:cNvPr id="13" name="Rounded Rectangle 12"/>
          <p:cNvSpPr/>
          <p:nvPr/>
        </p:nvSpPr>
        <p:spPr>
          <a:xfrm>
            <a:off x="6126480" y="192024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057400"/>
            <a:ext cx="365760" cy="365760"/>
          </a:xfrm>
          <a:prstGeom prst="rect">
            <a:avLst/>
          </a:prstGeom>
          <a:noFill/>
        </p:spPr>
        <p:txBody>
          <a:bodyPr wrap="square">
            <a:spAutoFit/>
          </a:bodyPr>
          <a:lstStyle/>
          <a:p>
            <a:pPr algn="l">
              <a:defRPr sz="2000" b="1">
                <a:solidFill>
                  <a:srgbClr val="4CAF50"/>
                </a:solidFill>
              </a:defRPr>
            </a:pPr>
            <a:r>
              <a:t>3</a:t>
            </a:r>
          </a:p>
        </p:txBody>
      </p:sp>
      <p:sp>
        <p:nvSpPr>
          <p:cNvPr id="15" name="TextBox 14"/>
          <p:cNvSpPr txBox="1"/>
          <p:nvPr/>
        </p:nvSpPr>
        <p:spPr>
          <a:xfrm>
            <a:off x="6309360" y="2423160"/>
            <a:ext cx="2377440" cy="365760"/>
          </a:xfrm>
          <a:prstGeom prst="rect">
            <a:avLst/>
          </a:prstGeom>
          <a:noFill/>
        </p:spPr>
        <p:txBody>
          <a:bodyPr wrap="square">
            <a:spAutoFit/>
          </a:bodyPr>
          <a:lstStyle/>
          <a:p>
            <a:pPr algn="l">
              <a:defRPr sz="1600" b="1">
                <a:solidFill>
                  <a:srgbClr val="FFFFFF"/>
                </a:solidFill>
              </a:defRPr>
            </a:pPr>
            <a:r>
              <a:t>Translation</a:t>
            </a:r>
          </a:p>
        </p:txBody>
      </p:sp>
      <p:sp>
        <p:nvSpPr>
          <p:cNvPr id="16" name="TextBox 15"/>
          <p:cNvSpPr txBox="1"/>
          <p:nvPr/>
        </p:nvSpPr>
        <p:spPr>
          <a:xfrm>
            <a:off x="6309360" y="2834640"/>
            <a:ext cx="2377440" cy="914400"/>
          </a:xfrm>
          <a:prstGeom prst="rect">
            <a:avLst/>
          </a:prstGeom>
          <a:noFill/>
        </p:spPr>
        <p:txBody>
          <a:bodyPr wrap="square">
            <a:spAutoFit/>
          </a:bodyPr>
          <a:lstStyle/>
          <a:p>
            <a:pPr algn="l">
              <a:defRPr sz="1200" b="0">
                <a:solidFill>
                  <a:srgbClr val="CCCCCC"/>
                </a:solidFill>
              </a:defRPr>
            </a:pPr>
            <a:r>
              <a:t>Cross-lingual text translation with context awareness</a:t>
            </a:r>
          </a:p>
        </p:txBody>
      </p:sp>
      <p:sp>
        <p:nvSpPr>
          <p:cNvPr id="17" name="Rounded Rectangle 16"/>
          <p:cNvSpPr/>
          <p:nvPr/>
        </p:nvSpPr>
        <p:spPr>
          <a:xfrm>
            <a:off x="9052560" y="192024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2057400"/>
            <a:ext cx="365760" cy="365760"/>
          </a:xfrm>
          <a:prstGeom prst="rect">
            <a:avLst/>
          </a:prstGeom>
          <a:noFill/>
        </p:spPr>
        <p:txBody>
          <a:bodyPr wrap="square">
            <a:spAutoFit/>
          </a:bodyPr>
          <a:lstStyle/>
          <a:p>
            <a:pPr algn="l">
              <a:defRPr sz="2000" b="1">
                <a:solidFill>
                  <a:srgbClr val="4CAF50"/>
                </a:solidFill>
              </a:defRPr>
            </a:pPr>
            <a:r>
              <a:t>4</a:t>
            </a:r>
          </a:p>
        </p:txBody>
      </p:sp>
      <p:sp>
        <p:nvSpPr>
          <p:cNvPr id="19" name="TextBox 18"/>
          <p:cNvSpPr txBox="1"/>
          <p:nvPr/>
        </p:nvSpPr>
        <p:spPr>
          <a:xfrm>
            <a:off x="9235440" y="2423160"/>
            <a:ext cx="2377440" cy="365760"/>
          </a:xfrm>
          <a:prstGeom prst="rect">
            <a:avLst/>
          </a:prstGeom>
          <a:noFill/>
        </p:spPr>
        <p:txBody>
          <a:bodyPr wrap="square">
            <a:spAutoFit/>
          </a:bodyPr>
          <a:lstStyle/>
          <a:p>
            <a:pPr algn="l">
              <a:defRPr sz="1600" b="1">
                <a:solidFill>
                  <a:srgbClr val="FFFFFF"/>
                </a:solidFill>
              </a:defRPr>
            </a:pPr>
            <a:r>
              <a:t>Question Answering</a:t>
            </a:r>
          </a:p>
        </p:txBody>
      </p:sp>
      <p:sp>
        <p:nvSpPr>
          <p:cNvPr id="20" name="TextBox 19"/>
          <p:cNvSpPr txBox="1"/>
          <p:nvPr/>
        </p:nvSpPr>
        <p:spPr>
          <a:xfrm>
            <a:off x="9235440" y="2834640"/>
            <a:ext cx="2377440" cy="914400"/>
          </a:xfrm>
          <a:prstGeom prst="rect">
            <a:avLst/>
          </a:prstGeom>
          <a:noFill/>
        </p:spPr>
        <p:txBody>
          <a:bodyPr wrap="square">
            <a:spAutoFit/>
          </a:bodyPr>
          <a:lstStyle/>
          <a:p>
            <a:pPr algn="l">
              <a:defRPr sz="1200" b="0">
                <a:solidFill>
                  <a:srgbClr val="CCCCCC"/>
                </a:solidFill>
              </a:defRPr>
            </a:pPr>
            <a:r>
              <a:t>Open-domain and closed-domain QA systems</a:t>
            </a:r>
          </a:p>
        </p:txBody>
      </p:sp>
      <p:sp>
        <p:nvSpPr>
          <p:cNvPr id="21" name="Rounded Rectangle 20"/>
          <p:cNvSpPr/>
          <p:nvPr/>
        </p:nvSpPr>
        <p:spPr>
          <a:xfrm>
            <a:off x="274320" y="429768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34840"/>
            <a:ext cx="365760" cy="365760"/>
          </a:xfrm>
          <a:prstGeom prst="rect">
            <a:avLst/>
          </a:prstGeom>
          <a:noFill/>
        </p:spPr>
        <p:txBody>
          <a:bodyPr wrap="square">
            <a:spAutoFit/>
          </a:bodyPr>
          <a:lstStyle/>
          <a:p>
            <a:pPr algn="l">
              <a:defRPr sz="2000" b="1">
                <a:solidFill>
                  <a:srgbClr val="4CAF50"/>
                </a:solidFill>
              </a:defRPr>
            </a:pPr>
            <a:r>
              <a:t>5</a:t>
            </a:r>
          </a:p>
        </p:txBody>
      </p:sp>
      <p:sp>
        <p:nvSpPr>
          <p:cNvPr id="23" name="TextBox 22"/>
          <p:cNvSpPr txBox="1"/>
          <p:nvPr/>
        </p:nvSpPr>
        <p:spPr>
          <a:xfrm>
            <a:off x="457200" y="4800600"/>
            <a:ext cx="2377440" cy="365760"/>
          </a:xfrm>
          <a:prstGeom prst="rect">
            <a:avLst/>
          </a:prstGeom>
          <a:noFill/>
        </p:spPr>
        <p:txBody>
          <a:bodyPr wrap="square">
            <a:spAutoFit/>
          </a:bodyPr>
          <a:lstStyle/>
          <a:p>
            <a:pPr algn="l">
              <a:defRPr sz="1600" b="1">
                <a:solidFill>
                  <a:srgbClr val="FFFFFF"/>
                </a:solidFill>
              </a:defRPr>
            </a:pPr>
            <a:r>
              <a:t>Code Generation</a:t>
            </a:r>
          </a:p>
        </p:txBody>
      </p:sp>
      <p:sp>
        <p:nvSpPr>
          <p:cNvPr id="24" name="TextBox 23"/>
          <p:cNvSpPr txBox="1"/>
          <p:nvPr/>
        </p:nvSpPr>
        <p:spPr>
          <a:xfrm>
            <a:off x="457200" y="5212080"/>
            <a:ext cx="2377440" cy="914400"/>
          </a:xfrm>
          <a:prstGeom prst="rect">
            <a:avLst/>
          </a:prstGeom>
          <a:noFill/>
        </p:spPr>
        <p:txBody>
          <a:bodyPr wrap="square">
            <a:spAutoFit/>
          </a:bodyPr>
          <a:lstStyle/>
          <a:p>
            <a:pPr algn="l">
              <a:defRPr sz="1200" b="0">
                <a:solidFill>
                  <a:srgbClr val="CCCCCC"/>
                </a:solidFill>
              </a:defRPr>
            </a:pPr>
            <a:r>
              <a:t>Function synthesis, bug fixing, code explanation</a:t>
            </a:r>
          </a:p>
        </p:txBody>
      </p:sp>
      <p:sp>
        <p:nvSpPr>
          <p:cNvPr id="25" name="Rounded Rectangle 24"/>
          <p:cNvSpPr/>
          <p:nvPr/>
        </p:nvSpPr>
        <p:spPr>
          <a:xfrm>
            <a:off x="3200400" y="429768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3280" y="4434840"/>
            <a:ext cx="365760" cy="365760"/>
          </a:xfrm>
          <a:prstGeom prst="rect">
            <a:avLst/>
          </a:prstGeom>
          <a:noFill/>
        </p:spPr>
        <p:txBody>
          <a:bodyPr wrap="square">
            <a:spAutoFit/>
          </a:bodyPr>
          <a:lstStyle/>
          <a:p>
            <a:pPr algn="l">
              <a:defRPr sz="2000" b="1">
                <a:solidFill>
                  <a:srgbClr val="4CAF50"/>
                </a:solidFill>
              </a:defRPr>
            </a:pPr>
            <a:r>
              <a:t>6</a:t>
            </a:r>
          </a:p>
        </p:txBody>
      </p:sp>
      <p:sp>
        <p:nvSpPr>
          <p:cNvPr id="27" name="TextBox 26"/>
          <p:cNvSpPr txBox="1"/>
          <p:nvPr/>
        </p:nvSpPr>
        <p:spPr>
          <a:xfrm>
            <a:off x="3383280" y="4800600"/>
            <a:ext cx="2377440" cy="365760"/>
          </a:xfrm>
          <a:prstGeom prst="rect">
            <a:avLst/>
          </a:prstGeom>
          <a:noFill/>
        </p:spPr>
        <p:txBody>
          <a:bodyPr wrap="square">
            <a:spAutoFit/>
          </a:bodyPr>
          <a:lstStyle/>
          <a:p>
            <a:pPr algn="l">
              <a:defRPr sz="1600" b="1">
                <a:solidFill>
                  <a:srgbClr val="FFFFFF"/>
                </a:solidFill>
              </a:defRPr>
            </a:pPr>
            <a:r>
              <a:t>Reasoning</a:t>
            </a:r>
          </a:p>
        </p:txBody>
      </p:sp>
      <p:sp>
        <p:nvSpPr>
          <p:cNvPr id="28" name="TextBox 27"/>
          <p:cNvSpPr txBox="1"/>
          <p:nvPr/>
        </p:nvSpPr>
        <p:spPr>
          <a:xfrm>
            <a:off x="3383280" y="5212080"/>
            <a:ext cx="2377440" cy="914400"/>
          </a:xfrm>
          <a:prstGeom prst="rect">
            <a:avLst/>
          </a:prstGeom>
          <a:noFill/>
        </p:spPr>
        <p:txBody>
          <a:bodyPr wrap="square">
            <a:spAutoFit/>
          </a:bodyPr>
          <a:lstStyle/>
          <a:p>
            <a:pPr algn="l">
              <a:defRPr sz="1200" b="0">
                <a:solidFill>
                  <a:srgbClr val="CCCCCC"/>
                </a:solidFill>
              </a:defRPr>
            </a:pPr>
            <a:r>
              <a:t>Mathematical, logical, and commonsense reasoning</a:t>
            </a:r>
          </a:p>
        </p:txBody>
      </p:sp>
      <p:sp>
        <p:nvSpPr>
          <p:cNvPr id="29" name="Rounded Rectangle 28"/>
          <p:cNvSpPr/>
          <p:nvPr/>
        </p:nvSpPr>
        <p:spPr>
          <a:xfrm>
            <a:off x="6126480" y="4297680"/>
            <a:ext cx="274320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434840"/>
            <a:ext cx="365760" cy="365760"/>
          </a:xfrm>
          <a:prstGeom prst="rect">
            <a:avLst/>
          </a:prstGeom>
          <a:noFill/>
        </p:spPr>
        <p:txBody>
          <a:bodyPr wrap="square">
            <a:spAutoFit/>
          </a:bodyPr>
          <a:lstStyle/>
          <a:p>
            <a:pPr algn="l">
              <a:defRPr sz="2000" b="1">
                <a:solidFill>
                  <a:srgbClr val="4CAF50"/>
                </a:solidFill>
              </a:defRPr>
            </a:pPr>
            <a:r>
              <a:t>7</a:t>
            </a:r>
          </a:p>
        </p:txBody>
      </p:sp>
      <p:sp>
        <p:nvSpPr>
          <p:cNvPr id="31" name="TextBox 30"/>
          <p:cNvSpPr txBox="1"/>
          <p:nvPr/>
        </p:nvSpPr>
        <p:spPr>
          <a:xfrm>
            <a:off x="6309360" y="4800600"/>
            <a:ext cx="2377440" cy="365760"/>
          </a:xfrm>
          <a:prstGeom prst="rect">
            <a:avLst/>
          </a:prstGeom>
          <a:noFill/>
        </p:spPr>
        <p:txBody>
          <a:bodyPr wrap="square">
            <a:spAutoFit/>
          </a:bodyPr>
          <a:lstStyle/>
          <a:p>
            <a:pPr algn="l">
              <a:defRPr sz="1600" b="1">
                <a:solidFill>
                  <a:srgbClr val="FFFFFF"/>
                </a:solidFill>
              </a:defRPr>
            </a:pPr>
            <a:r>
              <a:t>Instruction Following</a:t>
            </a:r>
          </a:p>
        </p:txBody>
      </p:sp>
      <p:sp>
        <p:nvSpPr>
          <p:cNvPr id="32" name="TextBox 31"/>
          <p:cNvSpPr txBox="1"/>
          <p:nvPr/>
        </p:nvSpPr>
        <p:spPr>
          <a:xfrm>
            <a:off x="6309360" y="5212080"/>
            <a:ext cx="2377440" cy="914400"/>
          </a:xfrm>
          <a:prstGeom prst="rect">
            <a:avLst/>
          </a:prstGeom>
          <a:noFill/>
        </p:spPr>
        <p:txBody>
          <a:bodyPr wrap="square">
            <a:spAutoFit/>
          </a:bodyPr>
          <a:lstStyle/>
          <a:p>
            <a:pPr algn="l">
              <a:defRPr sz="1200" b="0">
                <a:solidFill>
                  <a:srgbClr val="CCCCCC"/>
                </a:solidFill>
              </a:defRPr>
            </a:pPr>
            <a:r>
              <a:t>Task completion from natural language instructions</a:t>
            </a:r>
          </a:p>
        </p:txBody>
      </p:sp>
      <p:sp>
        <p:nvSpPr>
          <p:cNvPr id="33" name="TextBox 32"/>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5/20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1.1</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LLM Limitations &amp; Mitigations</a:t>
            </a:r>
          </a:p>
        </p:txBody>
      </p:sp>
      <p:sp>
        <p:nvSpPr>
          <p:cNvPr id="5" name="TextBox 4"/>
          <p:cNvSpPr txBox="1"/>
          <p:nvPr/>
        </p:nvSpPr>
        <p:spPr>
          <a:xfrm>
            <a:off x="457200" y="1828800"/>
            <a:ext cx="2286000" cy="365760"/>
          </a:xfrm>
          <a:prstGeom prst="rect">
            <a:avLst/>
          </a:prstGeom>
          <a:noFill/>
        </p:spPr>
        <p:txBody>
          <a:bodyPr wrap="square">
            <a:spAutoFit/>
          </a:bodyPr>
          <a:lstStyle/>
          <a:p>
            <a:pPr algn="l">
              <a:defRPr sz="1600" b="1">
                <a:solidFill>
                  <a:srgbClr val="00BCD4"/>
                </a:solidFill>
              </a:defRPr>
            </a:pPr>
            <a:r>
              <a:t>Limitation</a:t>
            </a:r>
          </a:p>
        </p:txBody>
      </p:sp>
      <p:sp>
        <p:nvSpPr>
          <p:cNvPr id="6" name="TextBox 5"/>
          <p:cNvSpPr txBox="1"/>
          <p:nvPr/>
        </p:nvSpPr>
        <p:spPr>
          <a:xfrm>
            <a:off x="2743200" y="1828800"/>
            <a:ext cx="4114800" cy="365760"/>
          </a:xfrm>
          <a:prstGeom prst="rect">
            <a:avLst/>
          </a:prstGeom>
          <a:noFill/>
        </p:spPr>
        <p:txBody>
          <a:bodyPr wrap="square">
            <a:spAutoFit/>
          </a:bodyPr>
          <a:lstStyle/>
          <a:p>
            <a:pPr algn="l">
              <a:defRPr sz="1600" b="1">
                <a:solidFill>
                  <a:srgbClr val="00BCD4"/>
                </a:solidFill>
              </a:defRPr>
            </a:pPr>
            <a:r>
              <a:t>Description</a:t>
            </a:r>
          </a:p>
        </p:txBody>
      </p:sp>
      <p:sp>
        <p:nvSpPr>
          <p:cNvPr id="7" name="TextBox 6"/>
          <p:cNvSpPr txBox="1"/>
          <p:nvPr/>
        </p:nvSpPr>
        <p:spPr>
          <a:xfrm>
            <a:off x="6858000" y="1828800"/>
            <a:ext cx="4572000" cy="365760"/>
          </a:xfrm>
          <a:prstGeom prst="rect">
            <a:avLst/>
          </a:prstGeom>
          <a:noFill/>
        </p:spPr>
        <p:txBody>
          <a:bodyPr wrap="square">
            <a:spAutoFit/>
          </a:bodyPr>
          <a:lstStyle/>
          <a:p>
            <a:pPr algn="l">
              <a:defRPr sz="1600" b="1">
                <a:solidFill>
                  <a:srgbClr val="00BCD4"/>
                </a:solidFill>
              </a:defRPr>
            </a:pPr>
            <a:r>
              <a:t>Mitigation</a:t>
            </a:r>
          </a:p>
        </p:txBody>
      </p:sp>
      <p:sp>
        <p:nvSpPr>
          <p:cNvPr id="8" name="Rectangle 7"/>
          <p:cNvSpPr/>
          <p:nvPr/>
        </p:nvSpPr>
        <p:spPr>
          <a:xfrm>
            <a:off x="274320" y="2331720"/>
            <a:ext cx="73152" cy="320040"/>
          </a:xfrm>
          <a:prstGeom prst="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86000"/>
            <a:ext cx="2286000" cy="320040"/>
          </a:xfrm>
          <a:prstGeom prst="rect">
            <a:avLst/>
          </a:prstGeom>
          <a:noFill/>
        </p:spPr>
        <p:txBody>
          <a:bodyPr wrap="square">
            <a:spAutoFit/>
          </a:bodyPr>
          <a:lstStyle/>
          <a:p>
            <a:pPr algn="l">
              <a:defRPr sz="1400" b="1">
                <a:solidFill>
                  <a:srgbClr val="FFFFFF"/>
                </a:solidFill>
              </a:defRPr>
            </a:pPr>
            <a:r>
              <a:t>Hallucinations</a:t>
            </a:r>
          </a:p>
        </p:txBody>
      </p:sp>
      <p:sp>
        <p:nvSpPr>
          <p:cNvPr id="10" name="TextBox 9"/>
          <p:cNvSpPr txBox="1"/>
          <p:nvPr/>
        </p:nvSpPr>
        <p:spPr>
          <a:xfrm>
            <a:off x="2743200" y="2286000"/>
            <a:ext cx="4114800" cy="320040"/>
          </a:xfrm>
          <a:prstGeom prst="rect">
            <a:avLst/>
          </a:prstGeom>
          <a:noFill/>
        </p:spPr>
        <p:txBody>
          <a:bodyPr wrap="square">
            <a:spAutoFit/>
          </a:bodyPr>
          <a:lstStyle/>
          <a:p>
            <a:pPr algn="l">
              <a:defRPr sz="1300" b="0">
                <a:solidFill>
                  <a:srgbClr val="CCCCCC"/>
                </a:solidFill>
              </a:defRPr>
            </a:pPr>
            <a:r>
              <a:t>Plausible but incorrect information</a:t>
            </a:r>
          </a:p>
        </p:txBody>
      </p:sp>
      <p:sp>
        <p:nvSpPr>
          <p:cNvPr id="11" name="TextBox 10"/>
          <p:cNvSpPr txBox="1"/>
          <p:nvPr/>
        </p:nvSpPr>
        <p:spPr>
          <a:xfrm>
            <a:off x="6858000" y="2286000"/>
            <a:ext cx="4572000" cy="320040"/>
          </a:xfrm>
          <a:prstGeom prst="rect">
            <a:avLst/>
          </a:prstGeom>
          <a:noFill/>
        </p:spPr>
        <p:txBody>
          <a:bodyPr wrap="square">
            <a:spAutoFit/>
          </a:bodyPr>
          <a:lstStyle/>
          <a:p>
            <a:pPr algn="l">
              <a:defRPr sz="1300" b="0">
                <a:solidFill>
                  <a:srgbClr val="4CAF50"/>
                </a:solidFill>
              </a:defRPr>
            </a:pPr>
            <a:r>
              <a:t>RAG, verification, grounding</a:t>
            </a:r>
          </a:p>
        </p:txBody>
      </p:sp>
      <p:sp>
        <p:nvSpPr>
          <p:cNvPr id="12" name="Rectangle 11"/>
          <p:cNvSpPr/>
          <p:nvPr/>
        </p:nvSpPr>
        <p:spPr>
          <a:xfrm>
            <a:off x="274320" y="2926080"/>
            <a:ext cx="73152" cy="3200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880360"/>
            <a:ext cx="2286000" cy="320040"/>
          </a:xfrm>
          <a:prstGeom prst="rect">
            <a:avLst/>
          </a:prstGeom>
          <a:noFill/>
        </p:spPr>
        <p:txBody>
          <a:bodyPr wrap="square">
            <a:spAutoFit/>
          </a:bodyPr>
          <a:lstStyle/>
          <a:p>
            <a:pPr algn="l">
              <a:defRPr sz="1400" b="1">
                <a:solidFill>
                  <a:srgbClr val="FFFFFF"/>
                </a:solidFill>
              </a:defRPr>
            </a:pPr>
            <a:r>
              <a:t>Knowledge Cutoff</a:t>
            </a:r>
          </a:p>
        </p:txBody>
      </p:sp>
      <p:sp>
        <p:nvSpPr>
          <p:cNvPr id="14" name="TextBox 13"/>
          <p:cNvSpPr txBox="1"/>
          <p:nvPr/>
        </p:nvSpPr>
        <p:spPr>
          <a:xfrm>
            <a:off x="2743200" y="2880360"/>
            <a:ext cx="4114800" cy="320040"/>
          </a:xfrm>
          <a:prstGeom prst="rect">
            <a:avLst/>
          </a:prstGeom>
          <a:noFill/>
        </p:spPr>
        <p:txBody>
          <a:bodyPr wrap="square">
            <a:spAutoFit/>
          </a:bodyPr>
          <a:lstStyle/>
          <a:p>
            <a:pPr algn="l">
              <a:defRPr sz="1300" b="0">
                <a:solidFill>
                  <a:srgbClr val="CCCCCC"/>
                </a:solidFill>
              </a:defRPr>
            </a:pPr>
            <a:r>
              <a:t>Training data has a fixed date</a:t>
            </a:r>
          </a:p>
        </p:txBody>
      </p:sp>
      <p:sp>
        <p:nvSpPr>
          <p:cNvPr id="15" name="TextBox 14"/>
          <p:cNvSpPr txBox="1"/>
          <p:nvPr/>
        </p:nvSpPr>
        <p:spPr>
          <a:xfrm>
            <a:off x="6858000" y="2880360"/>
            <a:ext cx="4572000" cy="320040"/>
          </a:xfrm>
          <a:prstGeom prst="rect">
            <a:avLst/>
          </a:prstGeom>
          <a:noFill/>
        </p:spPr>
        <p:txBody>
          <a:bodyPr wrap="square">
            <a:spAutoFit/>
          </a:bodyPr>
          <a:lstStyle/>
          <a:p>
            <a:pPr algn="l">
              <a:defRPr sz="1300" b="0">
                <a:solidFill>
                  <a:srgbClr val="4CAF50"/>
                </a:solidFill>
              </a:defRPr>
            </a:pPr>
            <a:r>
              <a:t>Web search, fine-tuning, RAG</a:t>
            </a:r>
          </a:p>
        </p:txBody>
      </p:sp>
      <p:sp>
        <p:nvSpPr>
          <p:cNvPr id="16" name="Rectangle 15"/>
          <p:cNvSpPr/>
          <p:nvPr/>
        </p:nvSpPr>
        <p:spPr>
          <a:xfrm>
            <a:off x="274320" y="3520440"/>
            <a:ext cx="73152" cy="3200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474720"/>
            <a:ext cx="2286000" cy="320040"/>
          </a:xfrm>
          <a:prstGeom prst="rect">
            <a:avLst/>
          </a:prstGeom>
          <a:noFill/>
        </p:spPr>
        <p:txBody>
          <a:bodyPr wrap="square">
            <a:spAutoFit/>
          </a:bodyPr>
          <a:lstStyle/>
          <a:p>
            <a:pPr algn="l">
              <a:defRPr sz="1400" b="1">
                <a:solidFill>
                  <a:srgbClr val="FFFFFF"/>
                </a:solidFill>
              </a:defRPr>
            </a:pPr>
            <a:r>
              <a:t>Context Window</a:t>
            </a:r>
          </a:p>
        </p:txBody>
      </p:sp>
      <p:sp>
        <p:nvSpPr>
          <p:cNvPr id="18" name="TextBox 17"/>
          <p:cNvSpPr txBox="1"/>
          <p:nvPr/>
        </p:nvSpPr>
        <p:spPr>
          <a:xfrm>
            <a:off x="2743200" y="3474720"/>
            <a:ext cx="4114800" cy="320040"/>
          </a:xfrm>
          <a:prstGeom prst="rect">
            <a:avLst/>
          </a:prstGeom>
          <a:noFill/>
        </p:spPr>
        <p:txBody>
          <a:bodyPr wrap="square">
            <a:spAutoFit/>
          </a:bodyPr>
          <a:lstStyle/>
          <a:p>
            <a:pPr algn="l">
              <a:defRPr sz="1300" b="0">
                <a:solidFill>
                  <a:srgbClr val="CCCCCC"/>
                </a:solidFill>
              </a:defRPr>
            </a:pPr>
            <a:r>
              <a:t>Limited input/output token capacity</a:t>
            </a:r>
          </a:p>
        </p:txBody>
      </p:sp>
      <p:sp>
        <p:nvSpPr>
          <p:cNvPr id="19" name="TextBox 18"/>
          <p:cNvSpPr txBox="1"/>
          <p:nvPr/>
        </p:nvSpPr>
        <p:spPr>
          <a:xfrm>
            <a:off x="6858000" y="3474720"/>
            <a:ext cx="4572000" cy="320040"/>
          </a:xfrm>
          <a:prstGeom prst="rect">
            <a:avLst/>
          </a:prstGeom>
          <a:noFill/>
        </p:spPr>
        <p:txBody>
          <a:bodyPr wrap="square">
            <a:spAutoFit/>
          </a:bodyPr>
          <a:lstStyle/>
          <a:p>
            <a:pPr algn="l">
              <a:defRPr sz="1300" b="0">
                <a:solidFill>
                  <a:srgbClr val="4CAF50"/>
                </a:solidFill>
              </a:defRPr>
            </a:pPr>
            <a:r>
              <a:t>Chunking, summarization, sliding windows</a:t>
            </a:r>
          </a:p>
        </p:txBody>
      </p:sp>
      <p:sp>
        <p:nvSpPr>
          <p:cNvPr id="20" name="Rectangle 19"/>
          <p:cNvSpPr/>
          <p:nvPr/>
        </p:nvSpPr>
        <p:spPr>
          <a:xfrm>
            <a:off x="274320" y="4114800"/>
            <a:ext cx="73152" cy="320040"/>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069080"/>
            <a:ext cx="2286000" cy="320040"/>
          </a:xfrm>
          <a:prstGeom prst="rect">
            <a:avLst/>
          </a:prstGeom>
          <a:noFill/>
        </p:spPr>
        <p:txBody>
          <a:bodyPr wrap="square">
            <a:spAutoFit/>
          </a:bodyPr>
          <a:lstStyle/>
          <a:p>
            <a:pPr algn="l">
              <a:defRPr sz="1400" b="1">
                <a:solidFill>
                  <a:srgbClr val="FFFFFF"/>
                </a:solidFill>
              </a:defRPr>
            </a:pPr>
            <a:r>
              <a:t>Bias</a:t>
            </a:r>
          </a:p>
        </p:txBody>
      </p:sp>
      <p:sp>
        <p:nvSpPr>
          <p:cNvPr id="22" name="TextBox 21"/>
          <p:cNvSpPr txBox="1"/>
          <p:nvPr/>
        </p:nvSpPr>
        <p:spPr>
          <a:xfrm>
            <a:off x="2743200" y="4069080"/>
            <a:ext cx="4114800" cy="320040"/>
          </a:xfrm>
          <a:prstGeom prst="rect">
            <a:avLst/>
          </a:prstGeom>
          <a:noFill/>
        </p:spPr>
        <p:txBody>
          <a:bodyPr wrap="square">
            <a:spAutoFit/>
          </a:bodyPr>
          <a:lstStyle/>
          <a:p>
            <a:pPr algn="l">
              <a:defRPr sz="1300" b="0">
                <a:solidFill>
                  <a:srgbClr val="CCCCCC"/>
                </a:solidFill>
              </a:defRPr>
            </a:pPr>
            <a:r>
              <a:t>Reflects biases in training data</a:t>
            </a:r>
          </a:p>
        </p:txBody>
      </p:sp>
      <p:sp>
        <p:nvSpPr>
          <p:cNvPr id="23" name="TextBox 22"/>
          <p:cNvSpPr txBox="1"/>
          <p:nvPr/>
        </p:nvSpPr>
        <p:spPr>
          <a:xfrm>
            <a:off x="6858000" y="4069080"/>
            <a:ext cx="4572000" cy="320040"/>
          </a:xfrm>
          <a:prstGeom prst="rect">
            <a:avLst/>
          </a:prstGeom>
          <a:noFill/>
        </p:spPr>
        <p:txBody>
          <a:bodyPr wrap="square">
            <a:spAutoFit/>
          </a:bodyPr>
          <a:lstStyle/>
          <a:p>
            <a:pPr algn="l">
              <a:defRPr sz="1300" b="0">
                <a:solidFill>
                  <a:srgbClr val="4CAF50"/>
                </a:solidFill>
              </a:defRPr>
            </a:pPr>
            <a:r>
              <a:t>Filtering, diverse data, auditing</a:t>
            </a:r>
          </a:p>
        </p:txBody>
      </p:sp>
      <p:sp>
        <p:nvSpPr>
          <p:cNvPr id="24" name="Rectangle 23"/>
          <p:cNvSpPr/>
          <p:nvPr/>
        </p:nvSpPr>
        <p:spPr>
          <a:xfrm>
            <a:off x="274320" y="4709160"/>
            <a:ext cx="73152" cy="3200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63440"/>
            <a:ext cx="2286000" cy="320040"/>
          </a:xfrm>
          <a:prstGeom prst="rect">
            <a:avLst/>
          </a:prstGeom>
          <a:noFill/>
        </p:spPr>
        <p:txBody>
          <a:bodyPr wrap="square">
            <a:spAutoFit/>
          </a:bodyPr>
          <a:lstStyle/>
          <a:p>
            <a:pPr algn="l">
              <a:defRPr sz="1400" b="1">
                <a:solidFill>
                  <a:srgbClr val="FFFFFF"/>
                </a:solidFill>
              </a:defRPr>
            </a:pPr>
            <a:r>
              <a:t>Reasoning Errors</a:t>
            </a:r>
          </a:p>
        </p:txBody>
      </p:sp>
      <p:sp>
        <p:nvSpPr>
          <p:cNvPr id="26" name="TextBox 25"/>
          <p:cNvSpPr txBox="1"/>
          <p:nvPr/>
        </p:nvSpPr>
        <p:spPr>
          <a:xfrm>
            <a:off x="2743200" y="4663440"/>
            <a:ext cx="4114800" cy="320040"/>
          </a:xfrm>
          <a:prstGeom prst="rect">
            <a:avLst/>
          </a:prstGeom>
          <a:noFill/>
        </p:spPr>
        <p:txBody>
          <a:bodyPr wrap="square">
            <a:spAutoFit/>
          </a:bodyPr>
          <a:lstStyle/>
          <a:p>
            <a:pPr algn="l">
              <a:defRPr sz="1300" b="0">
                <a:solidFill>
                  <a:srgbClr val="CCCCCC"/>
                </a:solidFill>
              </a:defRPr>
            </a:pPr>
            <a:r>
              <a:t>Struggles with complex multi-step logic</a:t>
            </a:r>
          </a:p>
        </p:txBody>
      </p:sp>
      <p:sp>
        <p:nvSpPr>
          <p:cNvPr id="27" name="TextBox 26"/>
          <p:cNvSpPr txBox="1"/>
          <p:nvPr/>
        </p:nvSpPr>
        <p:spPr>
          <a:xfrm>
            <a:off x="6858000" y="4663440"/>
            <a:ext cx="4572000" cy="320040"/>
          </a:xfrm>
          <a:prstGeom prst="rect">
            <a:avLst/>
          </a:prstGeom>
          <a:noFill/>
        </p:spPr>
        <p:txBody>
          <a:bodyPr wrap="square">
            <a:spAutoFit/>
          </a:bodyPr>
          <a:lstStyle/>
          <a:p>
            <a:pPr algn="l">
              <a:defRPr sz="1300" b="0">
                <a:solidFill>
                  <a:srgbClr val="4CAF50"/>
                </a:solidFill>
              </a:defRPr>
            </a:pPr>
            <a:r>
              <a:t>Chain-of-thought, tool use, decomposition</a:t>
            </a:r>
          </a:p>
        </p:txBody>
      </p:sp>
      <p:sp>
        <p:nvSpPr>
          <p:cNvPr id="28" name="Rectangle 27"/>
          <p:cNvSpPr/>
          <p:nvPr/>
        </p:nvSpPr>
        <p:spPr>
          <a:xfrm>
            <a:off x="274320" y="5303520"/>
            <a:ext cx="73152" cy="3200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257800"/>
            <a:ext cx="2286000" cy="320040"/>
          </a:xfrm>
          <a:prstGeom prst="rect">
            <a:avLst/>
          </a:prstGeom>
          <a:noFill/>
        </p:spPr>
        <p:txBody>
          <a:bodyPr wrap="square">
            <a:spAutoFit/>
          </a:bodyPr>
          <a:lstStyle/>
          <a:p>
            <a:pPr algn="l">
              <a:defRPr sz="1400" b="1">
                <a:solidFill>
                  <a:srgbClr val="FFFFFF"/>
                </a:solidFill>
              </a:defRPr>
            </a:pPr>
            <a:r>
              <a:t>Non-Determinism</a:t>
            </a:r>
          </a:p>
        </p:txBody>
      </p:sp>
      <p:sp>
        <p:nvSpPr>
          <p:cNvPr id="30" name="TextBox 29"/>
          <p:cNvSpPr txBox="1"/>
          <p:nvPr/>
        </p:nvSpPr>
        <p:spPr>
          <a:xfrm>
            <a:off x="2743200" y="5257800"/>
            <a:ext cx="4114800" cy="320040"/>
          </a:xfrm>
          <a:prstGeom prst="rect">
            <a:avLst/>
          </a:prstGeom>
          <a:noFill/>
        </p:spPr>
        <p:txBody>
          <a:bodyPr wrap="square">
            <a:spAutoFit/>
          </a:bodyPr>
          <a:lstStyle/>
          <a:p>
            <a:pPr algn="l">
              <a:defRPr sz="1300" b="0">
                <a:solidFill>
                  <a:srgbClr val="CCCCCC"/>
                </a:solidFill>
              </a:defRPr>
            </a:pPr>
            <a:r>
              <a:t>Non-deterministic outputs (temperature)</a:t>
            </a:r>
          </a:p>
        </p:txBody>
      </p:sp>
      <p:sp>
        <p:nvSpPr>
          <p:cNvPr id="31" name="TextBox 30"/>
          <p:cNvSpPr txBox="1"/>
          <p:nvPr/>
        </p:nvSpPr>
        <p:spPr>
          <a:xfrm>
            <a:off x="6858000" y="5257800"/>
            <a:ext cx="4572000" cy="320040"/>
          </a:xfrm>
          <a:prstGeom prst="rect">
            <a:avLst/>
          </a:prstGeom>
          <a:noFill/>
        </p:spPr>
        <p:txBody>
          <a:bodyPr wrap="square">
            <a:spAutoFit/>
          </a:bodyPr>
          <a:lstStyle/>
          <a:p>
            <a:pPr algn="l">
              <a:defRPr sz="1300" b="0">
                <a:solidFill>
                  <a:srgbClr val="4CAF50"/>
                </a:solidFill>
              </a:defRPr>
            </a:pPr>
            <a:r>
              <a:t>Temperature=0, seed values, structured output</a:t>
            </a:r>
          </a:p>
        </p:txBody>
      </p:sp>
      <p:sp>
        <p:nvSpPr>
          <p:cNvPr id="32" name="Rectangle 31"/>
          <p:cNvSpPr/>
          <p:nvPr/>
        </p:nvSpPr>
        <p:spPr>
          <a:xfrm>
            <a:off x="274320" y="5897880"/>
            <a:ext cx="73152" cy="3200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852160"/>
            <a:ext cx="2286000" cy="320040"/>
          </a:xfrm>
          <a:prstGeom prst="rect">
            <a:avLst/>
          </a:prstGeom>
          <a:noFill/>
        </p:spPr>
        <p:txBody>
          <a:bodyPr wrap="square">
            <a:spAutoFit/>
          </a:bodyPr>
          <a:lstStyle/>
          <a:p>
            <a:pPr algn="l">
              <a:defRPr sz="1400" b="1">
                <a:solidFill>
                  <a:srgbClr val="FFFFFF"/>
                </a:solidFill>
              </a:defRPr>
            </a:pPr>
            <a:r>
              <a:t>Cost &amp; Latency</a:t>
            </a:r>
          </a:p>
        </p:txBody>
      </p:sp>
      <p:sp>
        <p:nvSpPr>
          <p:cNvPr id="34" name="TextBox 33"/>
          <p:cNvSpPr txBox="1"/>
          <p:nvPr/>
        </p:nvSpPr>
        <p:spPr>
          <a:xfrm>
            <a:off x="2743200" y="5852160"/>
            <a:ext cx="4114800" cy="320040"/>
          </a:xfrm>
          <a:prstGeom prst="rect">
            <a:avLst/>
          </a:prstGeom>
          <a:noFill/>
        </p:spPr>
        <p:txBody>
          <a:bodyPr wrap="square">
            <a:spAutoFit/>
          </a:bodyPr>
          <a:lstStyle/>
          <a:p>
            <a:pPr algn="l">
              <a:defRPr sz="1300" b="0">
                <a:solidFill>
                  <a:srgbClr val="CCCCCC"/>
                </a:solidFill>
              </a:defRPr>
            </a:pPr>
            <a:r>
              <a:t>API calls can be expensive and slow</a:t>
            </a:r>
          </a:p>
        </p:txBody>
      </p:sp>
      <p:sp>
        <p:nvSpPr>
          <p:cNvPr id="35" name="TextBox 34"/>
          <p:cNvSpPr txBox="1"/>
          <p:nvPr/>
        </p:nvSpPr>
        <p:spPr>
          <a:xfrm>
            <a:off x="6858000" y="5852160"/>
            <a:ext cx="4572000" cy="320040"/>
          </a:xfrm>
          <a:prstGeom prst="rect">
            <a:avLst/>
          </a:prstGeom>
          <a:noFill/>
        </p:spPr>
        <p:txBody>
          <a:bodyPr wrap="square">
            <a:spAutoFit/>
          </a:bodyPr>
          <a:lstStyle/>
          <a:p>
            <a:pPr algn="l">
              <a:defRPr sz="1300" b="0">
                <a:solidFill>
                  <a:srgbClr val="4CAF50"/>
                </a:solidFill>
              </a:defRPr>
            </a:pPr>
            <a:r>
              <a:t>Caching, smaller models, batching</a:t>
            </a:r>
          </a:p>
        </p:txBody>
      </p:sp>
      <p:sp>
        <p:nvSpPr>
          <p:cNvPr id="36" name="TextBox 35"/>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6/20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1695" cy="548640"/>
          </a:xfrm>
          <a:prstGeom prst="rect">
            <a:avLst/>
          </a:prstGeom>
          <a:noFill/>
        </p:spPr>
        <p:txBody>
          <a:bodyPr wrap="square">
            <a:spAutoFit/>
          </a:bodyPr>
          <a:lstStyle/>
          <a:p>
            <a:pPr algn="ctr">
              <a:defRPr sz="2000" b="0">
                <a:solidFill>
                  <a:srgbClr val="00BCD4"/>
                </a:solidFill>
              </a:defRPr>
            </a:pPr>
            <a:r>
              <a:t>Section 1.2</a:t>
            </a:r>
          </a:p>
        </p:txBody>
      </p:sp>
      <p:sp>
        <p:nvSpPr>
          <p:cNvPr id="4" name="TextBox 3"/>
          <p:cNvSpPr txBox="1"/>
          <p:nvPr/>
        </p:nvSpPr>
        <p:spPr>
          <a:xfrm>
            <a:off x="0" y="2834640"/>
            <a:ext cx="12191695" cy="914400"/>
          </a:xfrm>
          <a:prstGeom prst="rect">
            <a:avLst/>
          </a:prstGeom>
          <a:noFill/>
        </p:spPr>
        <p:txBody>
          <a:bodyPr wrap="square">
            <a:spAutoFit/>
          </a:bodyPr>
          <a:lstStyle/>
          <a:p>
            <a:pPr algn="ctr">
              <a:defRPr sz="4800" b="1">
                <a:solidFill>
                  <a:srgbClr val="FFFFFF"/>
                </a:solidFill>
              </a:defRPr>
            </a:pPr>
            <a:r>
              <a:t>Prompt Engineering</a:t>
            </a:r>
          </a:p>
        </p:txBody>
      </p:sp>
      <p:sp>
        <p:nvSpPr>
          <p:cNvPr id="5" name="TextBox 4"/>
          <p:cNvSpPr txBox="1"/>
          <p:nvPr/>
        </p:nvSpPr>
        <p:spPr>
          <a:xfrm>
            <a:off x="0" y="3840480"/>
            <a:ext cx="12191695" cy="548640"/>
          </a:xfrm>
          <a:prstGeom prst="rect">
            <a:avLst/>
          </a:prstGeom>
          <a:noFill/>
        </p:spPr>
        <p:txBody>
          <a:bodyPr wrap="square">
            <a:spAutoFit/>
          </a:bodyPr>
          <a:lstStyle/>
          <a:p>
            <a:pPr algn="ctr">
              <a:defRPr sz="1800" b="0">
                <a:solidFill>
                  <a:srgbClr val="CCCCCC"/>
                </a:solidFill>
              </a:defRPr>
            </a:pPr>
            <a:r>
              <a:t>The art and science of guiding LLMs toward desired outputs</a:t>
            </a:r>
          </a:p>
        </p:txBody>
      </p:sp>
      <p:sp>
        <p:nvSpPr>
          <p:cNvPr id="6" name="TextBox 5"/>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7/20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1.2</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Core Principles of Prompt Engineering</a:t>
            </a:r>
          </a:p>
        </p:txBody>
      </p:sp>
      <p:sp>
        <p:nvSpPr>
          <p:cNvPr id="5" name="Oval 4"/>
          <p:cNvSpPr/>
          <p:nvPr/>
        </p:nvSpPr>
        <p:spPr>
          <a:xfrm>
            <a:off x="731520" y="1965960"/>
            <a:ext cx="502920" cy="502920"/>
          </a:xfrm>
          <a:prstGeom prst="ellipse">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6" name="TextBox 5"/>
          <p:cNvSpPr txBox="1"/>
          <p:nvPr/>
        </p:nvSpPr>
        <p:spPr>
          <a:xfrm>
            <a:off x="1463040" y="1920240"/>
            <a:ext cx="2743200" cy="365760"/>
          </a:xfrm>
          <a:prstGeom prst="rect">
            <a:avLst/>
          </a:prstGeom>
          <a:noFill/>
        </p:spPr>
        <p:txBody>
          <a:bodyPr wrap="square">
            <a:spAutoFit/>
          </a:bodyPr>
          <a:lstStyle/>
          <a:p>
            <a:pPr algn="l">
              <a:defRPr sz="2000" b="1">
                <a:solidFill>
                  <a:srgbClr val="FFFFFF"/>
                </a:solidFill>
              </a:defRPr>
            </a:pPr>
            <a:r>
              <a:t>Be Specific</a:t>
            </a:r>
          </a:p>
        </p:txBody>
      </p:sp>
      <p:sp>
        <p:nvSpPr>
          <p:cNvPr id="7" name="TextBox 6"/>
          <p:cNvSpPr txBox="1"/>
          <p:nvPr/>
        </p:nvSpPr>
        <p:spPr>
          <a:xfrm>
            <a:off x="1463040" y="2240280"/>
            <a:ext cx="9144000" cy="320040"/>
          </a:xfrm>
          <a:prstGeom prst="rect">
            <a:avLst/>
          </a:prstGeom>
          <a:noFill/>
        </p:spPr>
        <p:txBody>
          <a:bodyPr wrap="square">
            <a:spAutoFit/>
          </a:bodyPr>
          <a:lstStyle/>
          <a:p>
            <a:pPr algn="l">
              <a:defRPr sz="1400" b="0">
                <a:solidFill>
                  <a:srgbClr val="CCCCCC"/>
                </a:solidFill>
              </a:defRPr>
            </a:pPr>
            <a:r>
              <a:t>Clear, unambiguous instructions produce better results</a:t>
            </a:r>
          </a:p>
        </p:txBody>
      </p:sp>
      <p:sp>
        <p:nvSpPr>
          <p:cNvPr id="8" name="Oval 7"/>
          <p:cNvSpPr/>
          <p:nvPr/>
        </p:nvSpPr>
        <p:spPr>
          <a:xfrm>
            <a:off x="731520" y="2880360"/>
            <a:ext cx="502920" cy="50292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9" name="TextBox 8"/>
          <p:cNvSpPr txBox="1"/>
          <p:nvPr/>
        </p:nvSpPr>
        <p:spPr>
          <a:xfrm>
            <a:off x="1463040" y="2834640"/>
            <a:ext cx="2743200" cy="365760"/>
          </a:xfrm>
          <a:prstGeom prst="rect">
            <a:avLst/>
          </a:prstGeom>
          <a:noFill/>
        </p:spPr>
        <p:txBody>
          <a:bodyPr wrap="square">
            <a:spAutoFit/>
          </a:bodyPr>
          <a:lstStyle/>
          <a:p>
            <a:pPr algn="l">
              <a:defRPr sz="2000" b="1">
                <a:solidFill>
                  <a:srgbClr val="FFFFFF"/>
                </a:solidFill>
              </a:defRPr>
            </a:pPr>
            <a:r>
              <a:t>Provide Context</a:t>
            </a:r>
          </a:p>
        </p:txBody>
      </p:sp>
      <p:sp>
        <p:nvSpPr>
          <p:cNvPr id="10" name="TextBox 9"/>
          <p:cNvSpPr txBox="1"/>
          <p:nvPr/>
        </p:nvSpPr>
        <p:spPr>
          <a:xfrm>
            <a:off x="1463040" y="3154680"/>
            <a:ext cx="9144000" cy="320040"/>
          </a:xfrm>
          <a:prstGeom prst="rect">
            <a:avLst/>
          </a:prstGeom>
          <a:noFill/>
        </p:spPr>
        <p:txBody>
          <a:bodyPr wrap="square">
            <a:spAutoFit/>
          </a:bodyPr>
          <a:lstStyle/>
          <a:p>
            <a:pPr algn="l">
              <a:defRPr sz="1400" b="0">
                <a:solidFill>
                  <a:srgbClr val="CCCCCC"/>
                </a:solidFill>
              </a:defRPr>
            </a:pPr>
            <a:r>
              <a:t>Background information improves relevance and accuracy</a:t>
            </a:r>
          </a:p>
        </p:txBody>
      </p:sp>
      <p:sp>
        <p:nvSpPr>
          <p:cNvPr id="11" name="Oval 10"/>
          <p:cNvSpPr/>
          <p:nvPr/>
        </p:nvSpPr>
        <p:spPr>
          <a:xfrm>
            <a:off x="731520" y="3794760"/>
            <a:ext cx="502920" cy="50292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2" name="TextBox 11"/>
          <p:cNvSpPr txBox="1"/>
          <p:nvPr/>
        </p:nvSpPr>
        <p:spPr>
          <a:xfrm>
            <a:off x="1463040" y="3749040"/>
            <a:ext cx="2743200" cy="365760"/>
          </a:xfrm>
          <a:prstGeom prst="rect">
            <a:avLst/>
          </a:prstGeom>
          <a:noFill/>
        </p:spPr>
        <p:txBody>
          <a:bodyPr wrap="square">
            <a:spAutoFit/>
          </a:bodyPr>
          <a:lstStyle/>
          <a:p>
            <a:pPr algn="l">
              <a:defRPr sz="2000" b="1">
                <a:solidFill>
                  <a:srgbClr val="FFFFFF"/>
                </a:solidFill>
              </a:defRPr>
            </a:pPr>
            <a:r>
              <a:t>Use Examples</a:t>
            </a:r>
          </a:p>
        </p:txBody>
      </p:sp>
      <p:sp>
        <p:nvSpPr>
          <p:cNvPr id="13" name="TextBox 12"/>
          <p:cNvSpPr txBox="1"/>
          <p:nvPr/>
        </p:nvSpPr>
        <p:spPr>
          <a:xfrm>
            <a:off x="1463040" y="4069080"/>
            <a:ext cx="9144000" cy="320040"/>
          </a:xfrm>
          <a:prstGeom prst="rect">
            <a:avLst/>
          </a:prstGeom>
          <a:noFill/>
        </p:spPr>
        <p:txBody>
          <a:bodyPr wrap="square">
            <a:spAutoFit/>
          </a:bodyPr>
          <a:lstStyle/>
          <a:p>
            <a:pPr algn="l">
              <a:defRPr sz="1400" b="0">
                <a:solidFill>
                  <a:srgbClr val="CCCCCC"/>
                </a:solidFill>
              </a:defRPr>
            </a:pPr>
            <a:r>
              <a:t>Demonstrations guide the model's output format and style</a:t>
            </a:r>
          </a:p>
        </p:txBody>
      </p:sp>
      <p:sp>
        <p:nvSpPr>
          <p:cNvPr id="14" name="Oval 13"/>
          <p:cNvSpPr/>
          <p:nvPr/>
        </p:nvSpPr>
        <p:spPr>
          <a:xfrm>
            <a:off x="731520" y="4709160"/>
            <a:ext cx="502920" cy="50292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5" name="TextBox 14"/>
          <p:cNvSpPr txBox="1"/>
          <p:nvPr/>
        </p:nvSpPr>
        <p:spPr>
          <a:xfrm>
            <a:off x="1463040" y="4663440"/>
            <a:ext cx="2743200" cy="365760"/>
          </a:xfrm>
          <a:prstGeom prst="rect">
            <a:avLst/>
          </a:prstGeom>
          <a:noFill/>
        </p:spPr>
        <p:txBody>
          <a:bodyPr wrap="square">
            <a:spAutoFit/>
          </a:bodyPr>
          <a:lstStyle/>
          <a:p>
            <a:pPr algn="l">
              <a:defRPr sz="2000" b="1">
                <a:solidFill>
                  <a:srgbClr val="FFFFFF"/>
                </a:solidFill>
              </a:defRPr>
            </a:pPr>
            <a:r>
              <a:t>Structure Prompts</a:t>
            </a:r>
          </a:p>
        </p:txBody>
      </p:sp>
      <p:sp>
        <p:nvSpPr>
          <p:cNvPr id="16" name="TextBox 15"/>
          <p:cNvSpPr txBox="1"/>
          <p:nvPr/>
        </p:nvSpPr>
        <p:spPr>
          <a:xfrm>
            <a:off x="1463040" y="4983480"/>
            <a:ext cx="9144000" cy="320040"/>
          </a:xfrm>
          <a:prstGeom prst="rect">
            <a:avLst/>
          </a:prstGeom>
          <a:noFill/>
        </p:spPr>
        <p:txBody>
          <a:bodyPr wrap="square">
            <a:spAutoFit/>
          </a:bodyPr>
          <a:lstStyle/>
          <a:p>
            <a:pPr algn="l">
              <a:defRPr sz="1400" b="0">
                <a:solidFill>
                  <a:srgbClr val="CCCCCC"/>
                </a:solidFill>
              </a:defRPr>
            </a:pPr>
            <a:r>
              <a:t>Use delimiters, sections, and formatting for clarity</a:t>
            </a:r>
          </a:p>
        </p:txBody>
      </p:sp>
      <p:sp>
        <p:nvSpPr>
          <p:cNvPr id="17" name="Oval 16"/>
          <p:cNvSpPr/>
          <p:nvPr/>
        </p:nvSpPr>
        <p:spPr>
          <a:xfrm>
            <a:off x="731520" y="5623560"/>
            <a:ext cx="502920" cy="502920"/>
          </a:xfrm>
          <a:prstGeom prst="ellipse">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18" name="TextBox 17"/>
          <p:cNvSpPr txBox="1"/>
          <p:nvPr/>
        </p:nvSpPr>
        <p:spPr>
          <a:xfrm>
            <a:off x="1463040" y="5577840"/>
            <a:ext cx="2743200" cy="365760"/>
          </a:xfrm>
          <a:prstGeom prst="rect">
            <a:avLst/>
          </a:prstGeom>
          <a:noFill/>
        </p:spPr>
        <p:txBody>
          <a:bodyPr wrap="square">
            <a:spAutoFit/>
          </a:bodyPr>
          <a:lstStyle/>
          <a:p>
            <a:pPr algn="l">
              <a:defRPr sz="2000" b="1">
                <a:solidFill>
                  <a:srgbClr val="FFFFFF"/>
                </a:solidFill>
              </a:defRPr>
            </a:pPr>
            <a:r>
              <a:t>Iterate &amp; Test</a:t>
            </a:r>
          </a:p>
        </p:txBody>
      </p:sp>
      <p:sp>
        <p:nvSpPr>
          <p:cNvPr id="19" name="TextBox 18"/>
          <p:cNvSpPr txBox="1"/>
          <p:nvPr/>
        </p:nvSpPr>
        <p:spPr>
          <a:xfrm>
            <a:off x="1463040" y="5897880"/>
            <a:ext cx="9144000" cy="320040"/>
          </a:xfrm>
          <a:prstGeom prst="rect">
            <a:avLst/>
          </a:prstGeom>
          <a:noFill/>
        </p:spPr>
        <p:txBody>
          <a:bodyPr wrap="square">
            <a:spAutoFit/>
          </a:bodyPr>
          <a:lstStyle/>
          <a:p>
            <a:pPr algn="l">
              <a:defRPr sz="1400" b="0">
                <a:solidFill>
                  <a:srgbClr val="CCCCCC"/>
                </a:solidFill>
              </a:defRPr>
            </a:pPr>
            <a:r>
              <a:t>Test and refine prompts systematically with A/B testing</a:t>
            </a:r>
          </a:p>
        </p:txBody>
      </p:sp>
      <p:sp>
        <p:nvSpPr>
          <p:cNvPr id="20" name="TextBox 19"/>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8/20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1.2</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Prompting Techniques</a:t>
            </a:r>
          </a:p>
        </p:txBody>
      </p:sp>
      <p:sp>
        <p:nvSpPr>
          <p:cNvPr id="5" name="Rounded Rectangle 4"/>
          <p:cNvSpPr/>
          <p:nvPr/>
        </p:nvSpPr>
        <p:spPr>
          <a:xfrm>
            <a:off x="274320" y="1920240"/>
            <a:ext cx="2788920" cy="4389120"/>
          </a:xfrm>
          <a:prstGeom prst="roundRect">
            <a:avLst/>
          </a:prstGeom>
          <a:solidFill>
            <a:srgbClr val="2A2A45"/>
          </a:solidFill>
          <a:ln w="254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2788920" cy="45720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Zero-Shot</a:t>
            </a:r>
          </a:p>
        </p:txBody>
      </p:sp>
      <p:sp>
        <p:nvSpPr>
          <p:cNvPr id="7" name="TextBox 6"/>
          <p:cNvSpPr txBox="1"/>
          <p:nvPr/>
        </p:nvSpPr>
        <p:spPr>
          <a:xfrm>
            <a:off x="411480" y="2514600"/>
            <a:ext cx="2514600" cy="3657600"/>
          </a:xfrm>
          <a:prstGeom prst="rect">
            <a:avLst/>
          </a:prstGeom>
          <a:noFill/>
        </p:spPr>
        <p:txBody>
          <a:bodyPr wrap="square">
            <a:spAutoFit/>
          </a:bodyPr>
          <a:lstStyle/>
          <a:p>
            <a:pPr algn="l">
              <a:defRPr sz="1200" b="0">
                <a:solidFill>
                  <a:srgbClr val="CCCCCC"/>
                </a:solidFill>
              </a:defRPr>
            </a:pPr>
            <a:r>
              <a:t>No examples provided. Model relies on pre-trained knowledge.</a:t>
            </a:r>
            <a:br/>
            <a:br/>
            <a:r>
              <a:t>Classify sentiment: 'The service was terrible.'</a:t>
            </a:r>
            <a:br/>
            <a:r>
              <a:t>Sentiment:</a:t>
            </a:r>
          </a:p>
        </p:txBody>
      </p:sp>
      <p:sp>
        <p:nvSpPr>
          <p:cNvPr id="8" name="Rounded Rectangle 7"/>
          <p:cNvSpPr/>
          <p:nvPr/>
        </p:nvSpPr>
        <p:spPr>
          <a:xfrm>
            <a:off x="3246120" y="1920240"/>
            <a:ext cx="2788920" cy="4389120"/>
          </a:xfrm>
          <a:prstGeom prst="roundRect">
            <a:avLst/>
          </a:prstGeom>
          <a:solidFill>
            <a:srgbClr val="2A2A45"/>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46120" y="1920240"/>
            <a:ext cx="2788920" cy="45720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Few-Shot</a:t>
            </a:r>
          </a:p>
        </p:txBody>
      </p:sp>
      <p:sp>
        <p:nvSpPr>
          <p:cNvPr id="10" name="TextBox 9"/>
          <p:cNvSpPr txBox="1"/>
          <p:nvPr/>
        </p:nvSpPr>
        <p:spPr>
          <a:xfrm>
            <a:off x="3383280" y="2514600"/>
            <a:ext cx="2514600" cy="3657600"/>
          </a:xfrm>
          <a:prstGeom prst="rect">
            <a:avLst/>
          </a:prstGeom>
          <a:noFill/>
        </p:spPr>
        <p:txBody>
          <a:bodyPr wrap="square">
            <a:spAutoFit/>
          </a:bodyPr>
          <a:lstStyle/>
          <a:p>
            <a:pPr algn="l">
              <a:defRPr sz="1200" b="0">
                <a:solidFill>
                  <a:srgbClr val="CCCCCC"/>
                </a:solidFill>
              </a:defRPr>
            </a:pPr>
            <a:r>
              <a:t>2-5 examples demonstrate expected format.</a:t>
            </a:r>
            <a:br/>
            <a:br/>
            <a:r>
              <a:t>'Great!' → Positive</a:t>
            </a:r>
            <a:br/>
            <a:r>
              <a:t>'Terrible' → Negative</a:t>
            </a:r>
            <a:br/>
            <a:r>
              <a:t>'Okay' → Neutral</a:t>
            </a:r>
            <a:br/>
            <a:r>
              <a:t>'Late delivery' →</a:t>
            </a:r>
          </a:p>
        </p:txBody>
      </p:sp>
      <p:sp>
        <p:nvSpPr>
          <p:cNvPr id="11" name="Rounded Rectangle 10"/>
          <p:cNvSpPr/>
          <p:nvPr/>
        </p:nvSpPr>
        <p:spPr>
          <a:xfrm>
            <a:off x="6217920" y="1920240"/>
            <a:ext cx="2788920" cy="4389120"/>
          </a:xfrm>
          <a:prstGeom prst="roundRect">
            <a:avLst/>
          </a:prstGeom>
          <a:solidFill>
            <a:srgbClr val="2A2A45"/>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920240"/>
            <a:ext cx="2788920" cy="4572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Chain-of-Thought</a:t>
            </a:r>
          </a:p>
        </p:txBody>
      </p:sp>
      <p:sp>
        <p:nvSpPr>
          <p:cNvPr id="13" name="TextBox 12"/>
          <p:cNvSpPr txBox="1"/>
          <p:nvPr/>
        </p:nvSpPr>
        <p:spPr>
          <a:xfrm>
            <a:off x="6355080" y="2514600"/>
            <a:ext cx="2514600" cy="3657600"/>
          </a:xfrm>
          <a:prstGeom prst="rect">
            <a:avLst/>
          </a:prstGeom>
          <a:noFill/>
        </p:spPr>
        <p:txBody>
          <a:bodyPr wrap="square">
            <a:spAutoFit/>
          </a:bodyPr>
          <a:lstStyle/>
          <a:p>
            <a:pPr algn="l">
              <a:defRPr sz="1200" b="0">
                <a:solidFill>
                  <a:srgbClr val="CCCCCC"/>
                </a:solidFill>
              </a:defRPr>
            </a:pPr>
            <a:r>
              <a:t>Step-by-step reasoning before final answer.</a:t>
            </a:r>
            <a:br/>
            <a:br/>
            <a:r>
              <a:t>'Sell 1/4 of 120, then 1/3 of remaining.</a:t>
            </a:r>
            <a:br/>
            <a:r>
              <a:t>Step 1: 120 × 1/4 = 30 sold...</a:t>
            </a:r>
            <a:br/>
            <a:r>
              <a:t>Step 2: 90 × 1/3 = 30 sold...</a:t>
            </a:r>
            <a:br/>
            <a:r>
              <a:t>Answer: 60'</a:t>
            </a:r>
          </a:p>
        </p:txBody>
      </p:sp>
      <p:sp>
        <p:nvSpPr>
          <p:cNvPr id="14" name="Rounded Rectangle 13"/>
          <p:cNvSpPr/>
          <p:nvPr/>
        </p:nvSpPr>
        <p:spPr>
          <a:xfrm>
            <a:off x="9189720" y="1920240"/>
            <a:ext cx="2788920" cy="4389120"/>
          </a:xfrm>
          <a:prstGeom prst="roundRect">
            <a:avLst/>
          </a:prstGeom>
          <a:solidFill>
            <a:srgbClr val="2A2A45"/>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89720" y="1920240"/>
            <a:ext cx="2788920"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Role-Based</a:t>
            </a:r>
          </a:p>
        </p:txBody>
      </p:sp>
      <p:sp>
        <p:nvSpPr>
          <p:cNvPr id="16" name="TextBox 15"/>
          <p:cNvSpPr txBox="1"/>
          <p:nvPr/>
        </p:nvSpPr>
        <p:spPr>
          <a:xfrm>
            <a:off x="9326880" y="2514600"/>
            <a:ext cx="2514600" cy="3657600"/>
          </a:xfrm>
          <a:prstGeom prst="rect">
            <a:avLst/>
          </a:prstGeom>
          <a:noFill/>
        </p:spPr>
        <p:txBody>
          <a:bodyPr wrap="square">
            <a:spAutoFit/>
          </a:bodyPr>
          <a:lstStyle/>
          <a:p>
            <a:pPr algn="l">
              <a:defRPr sz="1200" b="0">
                <a:solidFill>
                  <a:srgbClr val="CCCCCC"/>
                </a:solidFill>
              </a:defRPr>
            </a:pPr>
            <a:r>
              <a:t>Assign persona to guide behavior.</a:t>
            </a:r>
            <a:br/>
            <a:br/>
            <a:r>
              <a:t>'You are a senior security engineer.</a:t>
            </a:r>
            <a:br/>
            <a:r>
              <a:t>Review this code for vulnerabilities...'</a:t>
            </a:r>
          </a:p>
        </p:txBody>
      </p:sp>
      <p:sp>
        <p:nvSpPr>
          <p:cNvPr id="17" name="TextBox 16"/>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9/20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1.2</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Advanced Prompt Patterns</a:t>
            </a:r>
          </a:p>
        </p:txBody>
      </p:sp>
      <p:sp>
        <p:nvSpPr>
          <p:cNvPr id="5" name="Rounded Rectangle 4"/>
          <p:cNvSpPr/>
          <p:nvPr/>
        </p:nvSpPr>
        <p:spPr>
          <a:xfrm>
            <a:off x="274320" y="1828800"/>
            <a:ext cx="3657600" cy="438912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3291840" cy="365760"/>
          </a:xfrm>
          <a:prstGeom prst="rect">
            <a:avLst/>
          </a:prstGeom>
          <a:noFill/>
        </p:spPr>
        <p:txBody>
          <a:bodyPr wrap="square">
            <a:spAutoFit/>
          </a:bodyPr>
          <a:lstStyle/>
          <a:p>
            <a:pPr>
              <a:defRPr sz="1600" b="1">
                <a:solidFill>
                  <a:srgbClr val="007ACC"/>
                </a:solidFill>
              </a:defRPr>
            </a:pPr>
            <a:r>
              <a:t>ReAct (Reasoning + Acting)</a:t>
            </a:r>
          </a:p>
        </p:txBody>
      </p:sp>
      <p:sp>
        <p:nvSpPr>
          <p:cNvPr id="7" name="TextBox 6"/>
          <p:cNvSpPr txBox="1"/>
          <p:nvPr/>
        </p:nvSpPr>
        <p:spPr>
          <a:xfrm>
            <a:off x="457200" y="2331720"/>
            <a:ext cx="3291840" cy="3749040"/>
          </a:xfrm>
          <a:prstGeom prst="rect">
            <a:avLst/>
          </a:prstGeom>
          <a:noFill/>
        </p:spPr>
        <p:txBody>
          <a:bodyPr wrap="square">
            <a:spAutoFit/>
          </a:bodyPr>
          <a:lstStyle/>
          <a:p>
            <a:pPr>
              <a:spcAft>
                <a:spcPts val="400"/>
              </a:spcAft>
              <a:defRPr sz="1300">
                <a:solidFill>
                  <a:srgbClr val="CCCCCC"/>
                </a:solidFill>
              </a:defRPr>
            </a:pPr>
            <a:r>
              <a:t>• Alternates between Thought, Action, Observation</a:t>
            </a:r>
          </a:p>
          <a:p>
            <a:pPr>
              <a:spcAft>
                <a:spcPts val="400"/>
              </a:spcAft>
              <a:defRPr sz="1300">
                <a:solidFill>
                  <a:srgbClr val="CCCCCC"/>
                </a:solidFill>
              </a:defRPr>
            </a:pPr>
            <a:r>
              <a:t>• Integrates tool use (search, calculator, DB)</a:t>
            </a:r>
          </a:p>
          <a:p>
            <a:pPr>
              <a:spcAft>
                <a:spcPts val="400"/>
              </a:spcAft>
              <a:defRPr sz="1300">
                <a:solidFill>
                  <a:srgbClr val="CCCCCC"/>
                </a:solidFill>
              </a:defRPr>
            </a:pPr>
            <a:r>
              <a:t>• Handles tasks requiring external knowledge</a:t>
            </a:r>
          </a:p>
          <a:p>
            <a:pPr>
              <a:spcAft>
                <a:spcPts val="400"/>
              </a:spcAft>
              <a:defRPr sz="1300">
                <a:solidFill>
                  <a:srgbClr val="CCCCCC"/>
                </a:solidFill>
              </a:defRPr>
            </a:pPr>
            <a:r>
              <a:t>• Foundation for agentic AI systems</a:t>
            </a:r>
          </a:p>
          <a:p>
            <a:pPr>
              <a:spcAft>
                <a:spcPts val="400"/>
              </a:spcAft>
              <a:defRPr sz="1300">
                <a:solidFill>
                  <a:srgbClr val="CCCCCC"/>
                </a:solidFill>
              </a:defRPr>
            </a:pPr>
            <a:r>
              <a:t>• Example: Thought → search() → observe → answer</a:t>
            </a:r>
          </a:p>
        </p:txBody>
      </p:sp>
      <p:sp>
        <p:nvSpPr>
          <p:cNvPr id="8" name="Rounded Rectangle 7"/>
          <p:cNvSpPr/>
          <p:nvPr/>
        </p:nvSpPr>
        <p:spPr>
          <a:xfrm>
            <a:off x="4206240" y="1828800"/>
            <a:ext cx="3657600" cy="438912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965960"/>
            <a:ext cx="3291840" cy="365760"/>
          </a:xfrm>
          <a:prstGeom prst="rect">
            <a:avLst/>
          </a:prstGeom>
          <a:noFill/>
        </p:spPr>
        <p:txBody>
          <a:bodyPr wrap="square">
            <a:spAutoFit/>
          </a:bodyPr>
          <a:lstStyle/>
          <a:p>
            <a:pPr>
              <a:defRPr sz="1600" b="1">
                <a:solidFill>
                  <a:srgbClr val="4CAF50"/>
                </a:solidFill>
              </a:defRPr>
            </a:pPr>
            <a:r>
              <a:t>Tree of Thoughts (ToT)</a:t>
            </a:r>
          </a:p>
        </p:txBody>
      </p:sp>
      <p:sp>
        <p:nvSpPr>
          <p:cNvPr id="10" name="TextBox 9"/>
          <p:cNvSpPr txBox="1"/>
          <p:nvPr/>
        </p:nvSpPr>
        <p:spPr>
          <a:xfrm>
            <a:off x="4389120" y="2331720"/>
            <a:ext cx="3291840" cy="3749040"/>
          </a:xfrm>
          <a:prstGeom prst="rect">
            <a:avLst/>
          </a:prstGeom>
          <a:noFill/>
        </p:spPr>
        <p:txBody>
          <a:bodyPr wrap="square">
            <a:spAutoFit/>
          </a:bodyPr>
          <a:lstStyle/>
          <a:p>
            <a:pPr>
              <a:spcAft>
                <a:spcPts val="400"/>
              </a:spcAft>
              <a:defRPr sz="1300">
                <a:solidFill>
                  <a:srgbClr val="CCCCCC"/>
                </a:solidFill>
              </a:defRPr>
            </a:pPr>
            <a:r>
              <a:t>• Explores multiple reasoning paths simultaneously</a:t>
            </a:r>
          </a:p>
          <a:p>
            <a:pPr>
              <a:spcAft>
                <a:spcPts val="400"/>
              </a:spcAft>
              <a:defRPr sz="1300">
                <a:solidFill>
                  <a:srgbClr val="CCCCCC"/>
                </a:solidFill>
              </a:defRPr>
            </a:pPr>
            <a:r>
              <a:t>• Evaluates and selects the best path</a:t>
            </a:r>
          </a:p>
          <a:p>
            <a:pPr>
              <a:spcAft>
                <a:spcPts val="400"/>
              </a:spcAft>
              <a:defRPr sz="1300">
                <a:solidFill>
                  <a:srgbClr val="CCCCCC"/>
                </a:solidFill>
              </a:defRPr>
            </a:pPr>
            <a:r>
              <a:t>• Uses BFS/DFS/beam search strategies</a:t>
            </a:r>
          </a:p>
          <a:p>
            <a:pPr>
              <a:spcAft>
                <a:spcPts val="400"/>
              </a:spcAft>
              <a:defRPr sz="1300">
                <a:solidFill>
                  <a:srgbClr val="CCCCCC"/>
                </a:solidFill>
              </a:defRPr>
            </a:pPr>
            <a:r>
              <a:t>• Ideal for complex planning and design tasks</a:t>
            </a:r>
          </a:p>
          <a:p>
            <a:pPr>
              <a:spcAft>
                <a:spcPts val="400"/>
              </a:spcAft>
              <a:defRPr sz="1300">
                <a:solidFill>
                  <a:srgbClr val="CCCCCC"/>
                </a:solidFill>
              </a:defRPr>
            </a:pPr>
            <a:r>
              <a:t>• Example: 3 approaches → evaluate pros/cons → pick best</a:t>
            </a:r>
          </a:p>
        </p:txBody>
      </p:sp>
      <p:sp>
        <p:nvSpPr>
          <p:cNvPr id="11" name="Rounded Rectangle 10"/>
          <p:cNvSpPr/>
          <p:nvPr/>
        </p:nvSpPr>
        <p:spPr>
          <a:xfrm>
            <a:off x="8138160" y="1828800"/>
            <a:ext cx="3657600" cy="438912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965960"/>
            <a:ext cx="3291840" cy="365760"/>
          </a:xfrm>
          <a:prstGeom prst="rect">
            <a:avLst/>
          </a:prstGeom>
          <a:noFill/>
        </p:spPr>
        <p:txBody>
          <a:bodyPr wrap="square">
            <a:spAutoFit/>
          </a:bodyPr>
          <a:lstStyle/>
          <a:p>
            <a:pPr>
              <a:defRPr sz="1600" b="1">
                <a:solidFill>
                  <a:srgbClr val="FF9800"/>
                </a:solidFill>
              </a:defRPr>
            </a:pPr>
            <a:r>
              <a:t>Self-Consistency &amp; Chaining</a:t>
            </a:r>
          </a:p>
        </p:txBody>
      </p:sp>
      <p:sp>
        <p:nvSpPr>
          <p:cNvPr id="13" name="TextBox 12"/>
          <p:cNvSpPr txBox="1"/>
          <p:nvPr/>
        </p:nvSpPr>
        <p:spPr>
          <a:xfrm>
            <a:off x="8321040" y="2331720"/>
            <a:ext cx="3291840" cy="3749040"/>
          </a:xfrm>
          <a:prstGeom prst="rect">
            <a:avLst/>
          </a:prstGeom>
          <a:noFill/>
        </p:spPr>
        <p:txBody>
          <a:bodyPr wrap="square">
            <a:spAutoFit/>
          </a:bodyPr>
          <a:lstStyle/>
          <a:p>
            <a:pPr>
              <a:spcAft>
                <a:spcPts val="400"/>
              </a:spcAft>
              <a:defRPr sz="1300">
                <a:solidFill>
                  <a:srgbClr val="CCCCCC"/>
                </a:solidFill>
              </a:defRPr>
            </a:pPr>
            <a:r>
              <a:t>• Self-Consistency: generate N answers, majority vote</a:t>
            </a:r>
          </a:p>
          <a:p>
            <a:pPr>
              <a:spcAft>
                <a:spcPts val="400"/>
              </a:spcAft>
              <a:defRPr sz="1300">
                <a:solidFill>
                  <a:srgbClr val="CCCCCC"/>
                </a:solidFill>
              </a:defRPr>
            </a:pPr>
            <a:r>
              <a:t>• Improves reliability for reasoning tasks</a:t>
            </a:r>
          </a:p>
          <a:p>
            <a:pPr>
              <a:spcAft>
                <a:spcPts val="400"/>
              </a:spcAft>
              <a:defRPr sz="1300">
                <a:solidFill>
                  <a:srgbClr val="CCCCCC"/>
                </a:solidFill>
              </a:defRPr>
            </a:pPr>
            <a:r>
              <a:t>• Prompt Chaining: sequential multi-step prompts</a:t>
            </a:r>
          </a:p>
          <a:p>
            <a:pPr>
              <a:spcAft>
                <a:spcPts val="400"/>
              </a:spcAft>
              <a:defRPr sz="1300">
                <a:solidFill>
                  <a:srgbClr val="CCCCCC"/>
                </a:solidFill>
              </a:defRPr>
            </a:pPr>
            <a:r>
              <a:t>• Each step's output feeds into the next</a:t>
            </a:r>
          </a:p>
          <a:p>
            <a:pPr>
              <a:spcAft>
                <a:spcPts val="400"/>
              </a:spcAft>
              <a:defRPr sz="1300">
                <a:solidFill>
                  <a:srgbClr val="CCCCCC"/>
                </a:solidFill>
              </a:defRPr>
            </a:pPr>
            <a:r>
              <a:t>• Example: extract → summarize → analyze</a:t>
            </a:r>
          </a:p>
        </p:txBody>
      </p:sp>
      <p:sp>
        <p:nvSpPr>
          <p:cNvPr id="14" name="TextBox 13"/>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10/20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1.2</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Prompt Best Practices</a:t>
            </a:r>
          </a:p>
        </p:txBody>
      </p:sp>
      <p:sp>
        <p:nvSpPr>
          <p:cNvPr id="5" name="Rounded Rectangle 4"/>
          <p:cNvSpPr/>
          <p:nvPr/>
        </p:nvSpPr>
        <p:spPr>
          <a:xfrm>
            <a:off x="274320" y="192024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103120"/>
            <a:ext cx="2423160" cy="365760"/>
          </a:xfrm>
          <a:prstGeom prst="rect">
            <a:avLst/>
          </a:prstGeom>
          <a:noFill/>
        </p:spPr>
        <p:txBody>
          <a:bodyPr wrap="square">
            <a:spAutoFit/>
          </a:bodyPr>
          <a:lstStyle/>
          <a:p>
            <a:pPr algn="l">
              <a:defRPr sz="1600" b="1">
                <a:solidFill>
                  <a:srgbClr val="00BCD4"/>
                </a:solidFill>
              </a:defRPr>
            </a:pPr>
            <a:r>
              <a:t>Use Delimiters</a:t>
            </a:r>
          </a:p>
        </p:txBody>
      </p:sp>
      <p:sp>
        <p:nvSpPr>
          <p:cNvPr id="7" name="TextBox 6"/>
          <p:cNvSpPr txBox="1"/>
          <p:nvPr/>
        </p:nvSpPr>
        <p:spPr>
          <a:xfrm>
            <a:off x="457200" y="2560320"/>
            <a:ext cx="2423160" cy="1097280"/>
          </a:xfrm>
          <a:prstGeom prst="rect">
            <a:avLst/>
          </a:prstGeom>
          <a:noFill/>
        </p:spPr>
        <p:txBody>
          <a:bodyPr wrap="square">
            <a:spAutoFit/>
          </a:bodyPr>
          <a:lstStyle/>
          <a:p>
            <a:pPr algn="l">
              <a:defRPr sz="1300" b="0">
                <a:solidFill>
                  <a:srgbClr val="CCCCCC"/>
                </a:solidFill>
              </a:defRPr>
            </a:pPr>
            <a:r>
              <a:t>Separate instructions from data using """, ---, ###</a:t>
            </a:r>
          </a:p>
        </p:txBody>
      </p:sp>
      <p:sp>
        <p:nvSpPr>
          <p:cNvPr id="8" name="Rounded Rectangle 7"/>
          <p:cNvSpPr/>
          <p:nvPr/>
        </p:nvSpPr>
        <p:spPr>
          <a:xfrm>
            <a:off x="3246120" y="192024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2103120"/>
            <a:ext cx="2423160" cy="365760"/>
          </a:xfrm>
          <a:prstGeom prst="rect">
            <a:avLst/>
          </a:prstGeom>
          <a:noFill/>
        </p:spPr>
        <p:txBody>
          <a:bodyPr wrap="square">
            <a:spAutoFit/>
          </a:bodyPr>
          <a:lstStyle/>
          <a:p>
            <a:pPr algn="l">
              <a:defRPr sz="1600" b="1">
                <a:solidFill>
                  <a:srgbClr val="00BCD4"/>
                </a:solidFill>
              </a:defRPr>
            </a:pPr>
            <a:r>
              <a:t>Specify Format</a:t>
            </a:r>
          </a:p>
        </p:txBody>
      </p:sp>
      <p:sp>
        <p:nvSpPr>
          <p:cNvPr id="10" name="TextBox 9"/>
          <p:cNvSpPr txBox="1"/>
          <p:nvPr/>
        </p:nvSpPr>
        <p:spPr>
          <a:xfrm>
            <a:off x="3429000" y="2560320"/>
            <a:ext cx="2423160" cy="1097280"/>
          </a:xfrm>
          <a:prstGeom prst="rect">
            <a:avLst/>
          </a:prstGeom>
          <a:noFill/>
        </p:spPr>
        <p:txBody>
          <a:bodyPr wrap="square">
            <a:spAutoFit/>
          </a:bodyPr>
          <a:lstStyle/>
          <a:p>
            <a:pPr algn="l">
              <a:defRPr sz="1300" b="0">
                <a:solidFill>
                  <a:srgbClr val="CCCCCC"/>
                </a:solidFill>
              </a:defRPr>
            </a:pPr>
            <a:r>
              <a:t>Define expected output structure (JSON, XML, markdown)</a:t>
            </a:r>
          </a:p>
        </p:txBody>
      </p:sp>
      <p:sp>
        <p:nvSpPr>
          <p:cNvPr id="11" name="Rounded Rectangle 10"/>
          <p:cNvSpPr/>
          <p:nvPr/>
        </p:nvSpPr>
        <p:spPr>
          <a:xfrm>
            <a:off x="6217920" y="192024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103120"/>
            <a:ext cx="2423160" cy="365760"/>
          </a:xfrm>
          <a:prstGeom prst="rect">
            <a:avLst/>
          </a:prstGeom>
          <a:noFill/>
        </p:spPr>
        <p:txBody>
          <a:bodyPr wrap="square">
            <a:spAutoFit/>
          </a:bodyPr>
          <a:lstStyle/>
          <a:p>
            <a:pPr algn="l">
              <a:defRPr sz="1600" b="1">
                <a:solidFill>
                  <a:srgbClr val="00BCD4"/>
                </a:solidFill>
              </a:defRPr>
            </a:pPr>
            <a:r>
              <a:t>Set Constraints</a:t>
            </a:r>
          </a:p>
        </p:txBody>
      </p:sp>
      <p:sp>
        <p:nvSpPr>
          <p:cNvPr id="13" name="TextBox 12"/>
          <p:cNvSpPr txBox="1"/>
          <p:nvPr/>
        </p:nvSpPr>
        <p:spPr>
          <a:xfrm>
            <a:off x="6400800" y="2560320"/>
            <a:ext cx="2423160" cy="1097280"/>
          </a:xfrm>
          <a:prstGeom prst="rect">
            <a:avLst/>
          </a:prstGeom>
          <a:noFill/>
        </p:spPr>
        <p:txBody>
          <a:bodyPr wrap="square">
            <a:spAutoFit/>
          </a:bodyPr>
          <a:lstStyle/>
          <a:p>
            <a:pPr algn="l">
              <a:defRPr sz="1300" b="0">
                <a:solidFill>
                  <a:srgbClr val="CCCCCC"/>
                </a:solidFill>
              </a:defRPr>
            </a:pPr>
            <a:r>
              <a:t>Limit output scope: 'In 3 bullet points...'</a:t>
            </a:r>
          </a:p>
        </p:txBody>
      </p:sp>
      <p:sp>
        <p:nvSpPr>
          <p:cNvPr id="14" name="Rounded Rectangle 13"/>
          <p:cNvSpPr/>
          <p:nvPr/>
        </p:nvSpPr>
        <p:spPr>
          <a:xfrm>
            <a:off x="9189720" y="192024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2103120"/>
            <a:ext cx="2423160" cy="365760"/>
          </a:xfrm>
          <a:prstGeom prst="rect">
            <a:avLst/>
          </a:prstGeom>
          <a:noFill/>
        </p:spPr>
        <p:txBody>
          <a:bodyPr wrap="square">
            <a:spAutoFit/>
          </a:bodyPr>
          <a:lstStyle/>
          <a:p>
            <a:pPr algn="l">
              <a:defRPr sz="1600" b="1">
                <a:solidFill>
                  <a:srgbClr val="00BCD4"/>
                </a:solidFill>
              </a:defRPr>
            </a:pPr>
            <a:r>
              <a:t>Provide Context</a:t>
            </a:r>
          </a:p>
        </p:txBody>
      </p:sp>
      <p:sp>
        <p:nvSpPr>
          <p:cNvPr id="16" name="TextBox 15"/>
          <p:cNvSpPr txBox="1"/>
          <p:nvPr/>
        </p:nvSpPr>
        <p:spPr>
          <a:xfrm>
            <a:off x="9372600" y="2560320"/>
            <a:ext cx="2423160" cy="1097280"/>
          </a:xfrm>
          <a:prstGeom prst="rect">
            <a:avLst/>
          </a:prstGeom>
          <a:noFill/>
        </p:spPr>
        <p:txBody>
          <a:bodyPr wrap="square">
            <a:spAutoFit/>
          </a:bodyPr>
          <a:lstStyle/>
          <a:p>
            <a:pPr algn="l">
              <a:defRPr sz="1300" b="0">
                <a:solidFill>
                  <a:srgbClr val="CCCCCC"/>
                </a:solidFill>
              </a:defRPr>
            </a:pPr>
            <a:r>
              <a:t>Give background: 'Analyzing Q3 financial data...'</a:t>
            </a:r>
          </a:p>
        </p:txBody>
      </p:sp>
      <p:sp>
        <p:nvSpPr>
          <p:cNvPr id="17" name="Rounded Rectangle 16"/>
          <p:cNvSpPr/>
          <p:nvPr/>
        </p:nvSpPr>
        <p:spPr>
          <a:xfrm>
            <a:off x="274320" y="429768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480560"/>
            <a:ext cx="2423160" cy="365760"/>
          </a:xfrm>
          <a:prstGeom prst="rect">
            <a:avLst/>
          </a:prstGeom>
          <a:noFill/>
        </p:spPr>
        <p:txBody>
          <a:bodyPr wrap="square">
            <a:spAutoFit/>
          </a:bodyPr>
          <a:lstStyle/>
          <a:p>
            <a:pPr algn="l">
              <a:defRPr sz="1600" b="1">
                <a:solidFill>
                  <a:srgbClr val="00BCD4"/>
                </a:solidFill>
              </a:defRPr>
            </a:pPr>
            <a:r>
              <a:t>Use Examples</a:t>
            </a:r>
          </a:p>
        </p:txBody>
      </p:sp>
      <p:sp>
        <p:nvSpPr>
          <p:cNvPr id="19" name="TextBox 18"/>
          <p:cNvSpPr txBox="1"/>
          <p:nvPr/>
        </p:nvSpPr>
        <p:spPr>
          <a:xfrm>
            <a:off x="457200" y="4937760"/>
            <a:ext cx="2423160" cy="1097280"/>
          </a:xfrm>
          <a:prstGeom prst="rect">
            <a:avLst/>
          </a:prstGeom>
          <a:noFill/>
        </p:spPr>
        <p:txBody>
          <a:bodyPr wrap="square">
            <a:spAutoFit/>
          </a:bodyPr>
          <a:lstStyle/>
          <a:p>
            <a:pPr algn="l">
              <a:defRPr sz="1300" b="0">
                <a:solidFill>
                  <a:srgbClr val="CCCCCC"/>
                </a:solidFill>
              </a:defRPr>
            </a:pPr>
            <a:r>
              <a:t>Show input-output pairs for few-shot learning</a:t>
            </a:r>
          </a:p>
        </p:txBody>
      </p:sp>
      <p:sp>
        <p:nvSpPr>
          <p:cNvPr id="20" name="Rounded Rectangle 19"/>
          <p:cNvSpPr/>
          <p:nvPr/>
        </p:nvSpPr>
        <p:spPr>
          <a:xfrm>
            <a:off x="3246120" y="429768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29000" y="4480560"/>
            <a:ext cx="2423160" cy="365760"/>
          </a:xfrm>
          <a:prstGeom prst="rect">
            <a:avLst/>
          </a:prstGeom>
          <a:noFill/>
        </p:spPr>
        <p:txBody>
          <a:bodyPr wrap="square">
            <a:spAutoFit/>
          </a:bodyPr>
          <a:lstStyle/>
          <a:p>
            <a:pPr algn="l">
              <a:defRPr sz="1600" b="1">
                <a:solidFill>
                  <a:srgbClr val="00BCD4"/>
                </a:solidFill>
              </a:defRPr>
            </a:pPr>
            <a:r>
              <a:t>Iterative Refinement</a:t>
            </a:r>
          </a:p>
        </p:txBody>
      </p:sp>
      <p:sp>
        <p:nvSpPr>
          <p:cNvPr id="22" name="TextBox 21"/>
          <p:cNvSpPr txBox="1"/>
          <p:nvPr/>
        </p:nvSpPr>
        <p:spPr>
          <a:xfrm>
            <a:off x="3429000" y="4937760"/>
            <a:ext cx="2423160" cy="1097280"/>
          </a:xfrm>
          <a:prstGeom prst="rect">
            <a:avLst/>
          </a:prstGeom>
          <a:noFill/>
        </p:spPr>
        <p:txBody>
          <a:bodyPr wrap="square">
            <a:spAutoFit/>
          </a:bodyPr>
          <a:lstStyle/>
          <a:p>
            <a:pPr algn="l">
              <a:defRPr sz="1300" b="0">
                <a:solidFill>
                  <a:srgbClr val="CCCCCC"/>
                </a:solidFill>
              </a:defRPr>
            </a:pPr>
            <a:r>
              <a:t>A/B test prompt variants systematically</a:t>
            </a:r>
          </a:p>
        </p:txBody>
      </p:sp>
      <p:sp>
        <p:nvSpPr>
          <p:cNvPr id="23" name="Rounded Rectangle 22"/>
          <p:cNvSpPr/>
          <p:nvPr/>
        </p:nvSpPr>
        <p:spPr>
          <a:xfrm>
            <a:off x="6217920" y="429768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480560"/>
            <a:ext cx="2423160" cy="365760"/>
          </a:xfrm>
          <a:prstGeom prst="rect">
            <a:avLst/>
          </a:prstGeom>
          <a:noFill/>
        </p:spPr>
        <p:txBody>
          <a:bodyPr wrap="square">
            <a:spAutoFit/>
          </a:bodyPr>
          <a:lstStyle/>
          <a:p>
            <a:pPr algn="l">
              <a:defRPr sz="1600" b="1">
                <a:solidFill>
                  <a:srgbClr val="00BCD4"/>
                </a:solidFill>
              </a:defRPr>
            </a:pPr>
            <a:r>
              <a:t>Handle Edge Cases</a:t>
            </a:r>
          </a:p>
        </p:txBody>
      </p:sp>
      <p:sp>
        <p:nvSpPr>
          <p:cNvPr id="25" name="TextBox 24"/>
          <p:cNvSpPr txBox="1"/>
          <p:nvPr/>
        </p:nvSpPr>
        <p:spPr>
          <a:xfrm>
            <a:off x="6400800" y="4937760"/>
            <a:ext cx="2423160" cy="1097280"/>
          </a:xfrm>
          <a:prstGeom prst="rect">
            <a:avLst/>
          </a:prstGeom>
          <a:noFill/>
        </p:spPr>
        <p:txBody>
          <a:bodyPr wrap="square">
            <a:spAutoFit/>
          </a:bodyPr>
          <a:lstStyle/>
          <a:p>
            <a:pPr algn="l">
              <a:defRPr sz="1300" b="0">
                <a:solidFill>
                  <a:srgbClr val="CCCCCC"/>
                </a:solidFill>
              </a:defRPr>
            </a:pPr>
            <a:r>
              <a:t>Specify behavior for uncertain/missing inputs</a:t>
            </a:r>
          </a:p>
        </p:txBody>
      </p:sp>
      <p:sp>
        <p:nvSpPr>
          <p:cNvPr id="26" name="Rounded Rectangle 25"/>
          <p:cNvSpPr/>
          <p:nvPr/>
        </p:nvSpPr>
        <p:spPr>
          <a:xfrm>
            <a:off x="9189720" y="4297680"/>
            <a:ext cx="2788920" cy="2011680"/>
          </a:xfrm>
          <a:prstGeom prst="roundRect">
            <a:avLst/>
          </a:prstGeom>
          <a:solidFill>
            <a:srgbClr val="2A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600" y="4480560"/>
            <a:ext cx="2423160" cy="365760"/>
          </a:xfrm>
          <a:prstGeom prst="rect">
            <a:avLst/>
          </a:prstGeom>
          <a:noFill/>
        </p:spPr>
        <p:txBody>
          <a:bodyPr wrap="square">
            <a:spAutoFit/>
          </a:bodyPr>
          <a:lstStyle/>
          <a:p>
            <a:pPr algn="l">
              <a:defRPr sz="1600" b="1">
                <a:solidFill>
                  <a:srgbClr val="00BCD4"/>
                </a:solidFill>
              </a:defRPr>
            </a:pPr>
            <a:r>
              <a:t>Structured Output</a:t>
            </a:r>
          </a:p>
        </p:txBody>
      </p:sp>
      <p:sp>
        <p:nvSpPr>
          <p:cNvPr id="28" name="TextBox 27"/>
          <p:cNvSpPr txBox="1"/>
          <p:nvPr/>
        </p:nvSpPr>
        <p:spPr>
          <a:xfrm>
            <a:off x="9372600" y="4937760"/>
            <a:ext cx="2423160" cy="1097280"/>
          </a:xfrm>
          <a:prstGeom prst="rect">
            <a:avLst/>
          </a:prstGeom>
          <a:noFill/>
        </p:spPr>
        <p:txBody>
          <a:bodyPr wrap="square">
            <a:spAutoFit/>
          </a:bodyPr>
          <a:lstStyle/>
          <a:p>
            <a:pPr algn="l">
              <a:defRPr sz="1300" b="0">
                <a:solidFill>
                  <a:srgbClr val="CCCCCC"/>
                </a:solidFill>
              </a:defRPr>
            </a:pPr>
            <a:r>
              <a:t>Use response_format for programmatic integration</a:t>
            </a:r>
          </a:p>
        </p:txBody>
      </p:sp>
      <p:sp>
        <p:nvSpPr>
          <p:cNvPr id="29" name="TextBox 28"/>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11/20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1695" cy="548640"/>
          </a:xfrm>
          <a:prstGeom prst="rect">
            <a:avLst/>
          </a:prstGeom>
          <a:noFill/>
        </p:spPr>
        <p:txBody>
          <a:bodyPr wrap="square">
            <a:spAutoFit/>
          </a:bodyPr>
          <a:lstStyle/>
          <a:p>
            <a:pPr algn="ctr">
              <a:defRPr sz="2000" b="0">
                <a:solidFill>
                  <a:srgbClr val="4CAF50"/>
                </a:solidFill>
              </a:defRPr>
            </a:pPr>
            <a:r>
              <a:t>Section 1.3</a:t>
            </a:r>
          </a:p>
        </p:txBody>
      </p:sp>
      <p:sp>
        <p:nvSpPr>
          <p:cNvPr id="4" name="TextBox 3"/>
          <p:cNvSpPr txBox="1"/>
          <p:nvPr/>
        </p:nvSpPr>
        <p:spPr>
          <a:xfrm>
            <a:off x="0" y="2834640"/>
            <a:ext cx="12191695" cy="914400"/>
          </a:xfrm>
          <a:prstGeom prst="rect">
            <a:avLst/>
          </a:prstGeom>
          <a:noFill/>
        </p:spPr>
        <p:txBody>
          <a:bodyPr wrap="square">
            <a:spAutoFit/>
          </a:bodyPr>
          <a:lstStyle/>
          <a:p>
            <a:pPr algn="ctr">
              <a:defRPr sz="4800" b="1">
                <a:solidFill>
                  <a:srgbClr val="FFFFFF"/>
                </a:solidFill>
              </a:defRPr>
            </a:pPr>
            <a:r>
              <a:t>Data Analysis with LLMs</a:t>
            </a:r>
          </a:p>
        </p:txBody>
      </p:sp>
      <p:sp>
        <p:nvSpPr>
          <p:cNvPr id="5" name="TextBox 4"/>
          <p:cNvSpPr txBox="1"/>
          <p:nvPr/>
        </p:nvSpPr>
        <p:spPr>
          <a:xfrm>
            <a:off x="0" y="3840480"/>
            <a:ext cx="12191695" cy="548640"/>
          </a:xfrm>
          <a:prstGeom prst="rect">
            <a:avLst/>
          </a:prstGeom>
          <a:noFill/>
        </p:spPr>
        <p:txBody>
          <a:bodyPr wrap="square">
            <a:spAutoFit/>
          </a:bodyPr>
          <a:lstStyle/>
          <a:p>
            <a:pPr algn="ctr">
              <a:defRPr sz="1800" b="0">
                <a:solidFill>
                  <a:srgbClr val="CCCCCC"/>
                </a:solidFill>
              </a:defRPr>
            </a:pPr>
            <a:r>
              <a:t>Transforming raw data into actionable insights with AI assistance</a:t>
            </a:r>
          </a:p>
        </p:txBody>
      </p:sp>
      <p:sp>
        <p:nvSpPr>
          <p:cNvPr id="6" name="TextBox 5"/>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12/20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1.3</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Data Analysis Use Cases with LLMs</a:t>
            </a:r>
          </a:p>
        </p:txBody>
      </p:sp>
      <p:sp>
        <p:nvSpPr>
          <p:cNvPr id="5" name="Rounded Rectangle 4"/>
          <p:cNvSpPr/>
          <p:nvPr/>
        </p:nvSpPr>
        <p:spPr>
          <a:xfrm>
            <a:off x="457200" y="1920240"/>
            <a:ext cx="3566160" cy="1920240"/>
          </a:xfrm>
          <a:prstGeom prst="roundRect">
            <a:avLst/>
          </a:prstGeom>
          <a:solidFill>
            <a:srgbClr val="2A2A45"/>
          </a:solidFill>
          <a:ln w="254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73152" cy="192024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03120"/>
            <a:ext cx="3108960" cy="365760"/>
          </a:xfrm>
          <a:prstGeom prst="rect">
            <a:avLst/>
          </a:prstGeom>
          <a:noFill/>
        </p:spPr>
        <p:txBody>
          <a:bodyPr wrap="square">
            <a:spAutoFit/>
          </a:bodyPr>
          <a:lstStyle/>
          <a:p>
            <a:pPr algn="l">
              <a:defRPr sz="1800" b="1">
                <a:solidFill>
                  <a:srgbClr val="007ACC"/>
                </a:solidFill>
              </a:defRPr>
            </a:pPr>
            <a:r>
              <a:t>Data Cleaning</a:t>
            </a:r>
          </a:p>
        </p:txBody>
      </p:sp>
      <p:sp>
        <p:nvSpPr>
          <p:cNvPr id="8" name="TextBox 7"/>
          <p:cNvSpPr txBox="1"/>
          <p:nvPr/>
        </p:nvSpPr>
        <p:spPr>
          <a:xfrm>
            <a:off x="685800" y="2560320"/>
            <a:ext cx="3108960" cy="1097280"/>
          </a:xfrm>
          <a:prstGeom prst="rect">
            <a:avLst/>
          </a:prstGeom>
          <a:noFill/>
        </p:spPr>
        <p:txBody>
          <a:bodyPr wrap="square">
            <a:spAutoFit/>
          </a:bodyPr>
          <a:lstStyle/>
          <a:p>
            <a:pPr algn="l">
              <a:defRPr sz="1300" b="0">
                <a:solidFill>
                  <a:srgbClr val="CCCCCC"/>
                </a:solidFill>
              </a:defRPr>
            </a:pPr>
            <a:r>
              <a:t>Identify missing values, outliers, inconsistencies. Generate pandas cleaning code.</a:t>
            </a:r>
          </a:p>
        </p:txBody>
      </p:sp>
      <p:sp>
        <p:nvSpPr>
          <p:cNvPr id="9" name="Rounded Rectangle 8"/>
          <p:cNvSpPr/>
          <p:nvPr/>
        </p:nvSpPr>
        <p:spPr>
          <a:xfrm>
            <a:off x="4297680" y="1920240"/>
            <a:ext cx="3566160" cy="1920240"/>
          </a:xfrm>
          <a:prstGeom prst="roundRect">
            <a:avLst/>
          </a:prstGeom>
          <a:solidFill>
            <a:srgbClr val="2A2A45"/>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920240"/>
            <a:ext cx="73152" cy="1920240"/>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2103120"/>
            <a:ext cx="3108960" cy="365760"/>
          </a:xfrm>
          <a:prstGeom prst="rect">
            <a:avLst/>
          </a:prstGeom>
          <a:noFill/>
        </p:spPr>
        <p:txBody>
          <a:bodyPr wrap="square">
            <a:spAutoFit/>
          </a:bodyPr>
          <a:lstStyle/>
          <a:p>
            <a:pPr algn="l">
              <a:defRPr sz="1800" b="1">
                <a:solidFill>
                  <a:srgbClr val="00BCD4"/>
                </a:solidFill>
              </a:defRPr>
            </a:pPr>
            <a:r>
              <a:t>SQL Generation</a:t>
            </a:r>
          </a:p>
        </p:txBody>
      </p:sp>
      <p:sp>
        <p:nvSpPr>
          <p:cNvPr id="12" name="TextBox 11"/>
          <p:cNvSpPr txBox="1"/>
          <p:nvPr/>
        </p:nvSpPr>
        <p:spPr>
          <a:xfrm>
            <a:off x="4526280" y="2560320"/>
            <a:ext cx="3108960" cy="1097280"/>
          </a:xfrm>
          <a:prstGeom prst="rect">
            <a:avLst/>
          </a:prstGeom>
          <a:noFill/>
        </p:spPr>
        <p:txBody>
          <a:bodyPr wrap="square">
            <a:spAutoFit/>
          </a:bodyPr>
          <a:lstStyle/>
          <a:p>
            <a:pPr algn="l">
              <a:defRPr sz="1300" b="0">
                <a:solidFill>
                  <a:srgbClr val="CCCCCC"/>
                </a:solidFill>
              </a:defRPr>
            </a:pPr>
            <a:r>
              <a:t>Convert natural language questions into SQL queries. Schema-aware query building.</a:t>
            </a:r>
          </a:p>
        </p:txBody>
      </p:sp>
      <p:sp>
        <p:nvSpPr>
          <p:cNvPr id="13" name="Rounded Rectangle 12"/>
          <p:cNvSpPr/>
          <p:nvPr/>
        </p:nvSpPr>
        <p:spPr>
          <a:xfrm>
            <a:off x="8138160" y="1920240"/>
            <a:ext cx="3566160" cy="1920240"/>
          </a:xfrm>
          <a:prstGeom prst="roundRect">
            <a:avLst/>
          </a:prstGeom>
          <a:solidFill>
            <a:srgbClr val="2A2A45"/>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8160" y="1920240"/>
            <a:ext cx="73152" cy="19202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2103120"/>
            <a:ext cx="3108960" cy="365760"/>
          </a:xfrm>
          <a:prstGeom prst="rect">
            <a:avLst/>
          </a:prstGeom>
          <a:noFill/>
        </p:spPr>
        <p:txBody>
          <a:bodyPr wrap="square">
            <a:spAutoFit/>
          </a:bodyPr>
          <a:lstStyle/>
          <a:p>
            <a:pPr algn="l">
              <a:defRPr sz="1800" b="1">
                <a:solidFill>
                  <a:srgbClr val="4CAF50"/>
                </a:solidFill>
              </a:defRPr>
            </a:pPr>
            <a:r>
              <a:t>Visualization</a:t>
            </a:r>
          </a:p>
        </p:txBody>
      </p:sp>
      <p:sp>
        <p:nvSpPr>
          <p:cNvPr id="16" name="TextBox 15"/>
          <p:cNvSpPr txBox="1"/>
          <p:nvPr/>
        </p:nvSpPr>
        <p:spPr>
          <a:xfrm>
            <a:off x="8366760" y="2560320"/>
            <a:ext cx="3108960" cy="1097280"/>
          </a:xfrm>
          <a:prstGeom prst="rect">
            <a:avLst/>
          </a:prstGeom>
          <a:noFill/>
        </p:spPr>
        <p:txBody>
          <a:bodyPr wrap="square">
            <a:spAutoFit/>
          </a:bodyPr>
          <a:lstStyle/>
          <a:p>
            <a:pPr algn="l">
              <a:defRPr sz="1300" b="0">
                <a:solidFill>
                  <a:srgbClr val="CCCCCC"/>
                </a:solidFill>
              </a:defRPr>
            </a:pPr>
            <a:r>
              <a:t>Generate matplotlib/seaborn/plotly code for charts and dashboards.</a:t>
            </a:r>
          </a:p>
        </p:txBody>
      </p:sp>
      <p:sp>
        <p:nvSpPr>
          <p:cNvPr id="17" name="Rounded Rectangle 16"/>
          <p:cNvSpPr/>
          <p:nvPr/>
        </p:nvSpPr>
        <p:spPr>
          <a:xfrm>
            <a:off x="457200" y="4206240"/>
            <a:ext cx="3566160" cy="1920240"/>
          </a:xfrm>
          <a:prstGeom prst="roundRect">
            <a:avLst/>
          </a:prstGeom>
          <a:solidFill>
            <a:srgbClr val="2A2A45"/>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06240"/>
            <a:ext cx="73152" cy="19202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89120"/>
            <a:ext cx="3108960" cy="365760"/>
          </a:xfrm>
          <a:prstGeom prst="rect">
            <a:avLst/>
          </a:prstGeom>
          <a:noFill/>
        </p:spPr>
        <p:txBody>
          <a:bodyPr wrap="square">
            <a:spAutoFit/>
          </a:bodyPr>
          <a:lstStyle/>
          <a:p>
            <a:pPr algn="l">
              <a:defRPr sz="1800" b="1">
                <a:solidFill>
                  <a:srgbClr val="FF9800"/>
                </a:solidFill>
              </a:defRPr>
            </a:pPr>
            <a:r>
              <a:t>Statistical Analysis</a:t>
            </a:r>
          </a:p>
        </p:txBody>
      </p:sp>
      <p:sp>
        <p:nvSpPr>
          <p:cNvPr id="20" name="TextBox 19"/>
          <p:cNvSpPr txBox="1"/>
          <p:nvPr/>
        </p:nvSpPr>
        <p:spPr>
          <a:xfrm>
            <a:off x="685800" y="4846320"/>
            <a:ext cx="3108960" cy="1097280"/>
          </a:xfrm>
          <a:prstGeom prst="rect">
            <a:avLst/>
          </a:prstGeom>
          <a:noFill/>
        </p:spPr>
        <p:txBody>
          <a:bodyPr wrap="square">
            <a:spAutoFit/>
          </a:bodyPr>
          <a:lstStyle/>
          <a:p>
            <a:pPr algn="l">
              <a:defRPr sz="1300" b="0">
                <a:solidFill>
                  <a:srgbClr val="CCCCCC"/>
                </a:solidFill>
              </a:defRPr>
            </a:pPr>
            <a:r>
              <a:t>Suggest tests, compute correlations, recommend modeling approaches.</a:t>
            </a:r>
          </a:p>
        </p:txBody>
      </p:sp>
      <p:sp>
        <p:nvSpPr>
          <p:cNvPr id="21" name="Rounded Rectangle 20"/>
          <p:cNvSpPr/>
          <p:nvPr/>
        </p:nvSpPr>
        <p:spPr>
          <a:xfrm>
            <a:off x="4297680" y="4206240"/>
            <a:ext cx="3566160" cy="1920240"/>
          </a:xfrm>
          <a:prstGeom prst="roundRect">
            <a:avLst/>
          </a:prstGeom>
          <a:solidFill>
            <a:srgbClr val="2A2A45"/>
          </a:solidFill>
          <a:ln w="2540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4206240"/>
            <a:ext cx="73152" cy="1920240"/>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6280" y="4389120"/>
            <a:ext cx="3108960" cy="365760"/>
          </a:xfrm>
          <a:prstGeom prst="rect">
            <a:avLst/>
          </a:prstGeom>
          <a:noFill/>
        </p:spPr>
        <p:txBody>
          <a:bodyPr wrap="square">
            <a:spAutoFit/>
          </a:bodyPr>
          <a:lstStyle/>
          <a:p>
            <a:pPr algn="l">
              <a:defRPr sz="1800" b="1">
                <a:solidFill>
                  <a:srgbClr val="9C27B0"/>
                </a:solidFill>
              </a:defRPr>
            </a:pPr>
            <a:r>
              <a:t>Report Writing</a:t>
            </a:r>
          </a:p>
        </p:txBody>
      </p:sp>
      <p:sp>
        <p:nvSpPr>
          <p:cNvPr id="24" name="TextBox 23"/>
          <p:cNvSpPr txBox="1"/>
          <p:nvPr/>
        </p:nvSpPr>
        <p:spPr>
          <a:xfrm>
            <a:off x="4526280" y="4846320"/>
            <a:ext cx="3108960" cy="1097280"/>
          </a:xfrm>
          <a:prstGeom prst="rect">
            <a:avLst/>
          </a:prstGeom>
          <a:noFill/>
        </p:spPr>
        <p:txBody>
          <a:bodyPr wrap="square">
            <a:spAutoFit/>
          </a:bodyPr>
          <a:lstStyle/>
          <a:p>
            <a:pPr algn="l">
              <a:defRPr sz="1300" b="0">
                <a:solidFill>
                  <a:srgbClr val="CCCCCC"/>
                </a:solidFill>
              </a:defRPr>
            </a:pPr>
            <a:r>
              <a:t>Create narrative summaries of analysis findings and trends.</a:t>
            </a:r>
          </a:p>
        </p:txBody>
      </p:sp>
      <p:sp>
        <p:nvSpPr>
          <p:cNvPr id="25" name="Rounded Rectangle 24"/>
          <p:cNvSpPr/>
          <p:nvPr/>
        </p:nvSpPr>
        <p:spPr>
          <a:xfrm>
            <a:off x="8138160" y="4206240"/>
            <a:ext cx="3566160" cy="1920240"/>
          </a:xfrm>
          <a:prstGeom prst="roundRect">
            <a:avLst/>
          </a:prstGeom>
          <a:solidFill>
            <a:srgbClr val="2A2A45"/>
          </a:solidFill>
          <a:ln w="254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4206240"/>
            <a:ext cx="73152" cy="1920240"/>
          </a:xfrm>
          <a:prstGeom prst="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4389120"/>
            <a:ext cx="3108960" cy="365760"/>
          </a:xfrm>
          <a:prstGeom prst="rect">
            <a:avLst/>
          </a:prstGeom>
          <a:noFill/>
        </p:spPr>
        <p:txBody>
          <a:bodyPr wrap="square">
            <a:spAutoFit/>
          </a:bodyPr>
          <a:lstStyle/>
          <a:p>
            <a:pPr algn="l">
              <a:defRPr sz="1800" b="1">
                <a:solidFill>
                  <a:srgbClr val="F44336"/>
                </a:solidFill>
              </a:defRPr>
            </a:pPr>
            <a:r>
              <a:t>Data Transformation</a:t>
            </a:r>
          </a:p>
        </p:txBody>
      </p:sp>
      <p:sp>
        <p:nvSpPr>
          <p:cNvPr id="28" name="TextBox 27"/>
          <p:cNvSpPr txBox="1"/>
          <p:nvPr/>
        </p:nvSpPr>
        <p:spPr>
          <a:xfrm>
            <a:off x="8366760" y="4846320"/>
            <a:ext cx="3108960" cy="1097280"/>
          </a:xfrm>
          <a:prstGeom prst="rect">
            <a:avLst/>
          </a:prstGeom>
          <a:noFill/>
        </p:spPr>
        <p:txBody>
          <a:bodyPr wrap="square">
            <a:spAutoFit/>
          </a:bodyPr>
          <a:lstStyle/>
          <a:p>
            <a:pPr algn="l">
              <a:defRPr sz="1300" b="0">
                <a:solidFill>
                  <a:srgbClr val="CCCCCC"/>
                </a:solidFill>
              </a:defRPr>
            </a:pPr>
            <a:r>
              <a:t>Generate code for reshaping, aggregating, merging datasets.</a:t>
            </a:r>
          </a:p>
        </p:txBody>
      </p:sp>
      <p:sp>
        <p:nvSpPr>
          <p:cNvPr id="29" name="TextBox 28"/>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13/20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286000"/>
            <a:ext cx="12191695" cy="548640"/>
          </a:xfrm>
          <a:prstGeom prst="rect">
            <a:avLst/>
          </a:prstGeom>
          <a:noFill/>
        </p:spPr>
        <p:txBody>
          <a:bodyPr wrap="square">
            <a:spAutoFit/>
          </a:bodyPr>
          <a:lstStyle/>
          <a:p>
            <a:pPr algn="ctr">
              <a:defRPr sz="2000" b="0">
                <a:solidFill>
                  <a:srgbClr val="9C27B0"/>
                </a:solidFill>
              </a:defRPr>
            </a:pPr>
            <a:r>
              <a:t>Section 1.4</a:t>
            </a:r>
          </a:p>
        </p:txBody>
      </p:sp>
      <p:sp>
        <p:nvSpPr>
          <p:cNvPr id="4" name="TextBox 3"/>
          <p:cNvSpPr txBox="1"/>
          <p:nvPr/>
        </p:nvSpPr>
        <p:spPr>
          <a:xfrm>
            <a:off x="0" y="2834640"/>
            <a:ext cx="12191695" cy="914400"/>
          </a:xfrm>
          <a:prstGeom prst="rect">
            <a:avLst/>
          </a:prstGeom>
          <a:noFill/>
        </p:spPr>
        <p:txBody>
          <a:bodyPr wrap="square">
            <a:spAutoFit/>
          </a:bodyPr>
          <a:lstStyle/>
          <a:p>
            <a:pPr algn="ctr">
              <a:defRPr sz="4800" b="1">
                <a:solidFill>
                  <a:srgbClr val="FFFFFF"/>
                </a:solidFill>
              </a:defRPr>
            </a:pPr>
            <a:r>
              <a:t>Ethics, Considerations &amp; the Future</a:t>
            </a:r>
          </a:p>
        </p:txBody>
      </p:sp>
      <p:sp>
        <p:nvSpPr>
          <p:cNvPr id="5" name="TextBox 4"/>
          <p:cNvSpPr txBox="1"/>
          <p:nvPr/>
        </p:nvSpPr>
        <p:spPr>
          <a:xfrm>
            <a:off x="0" y="3840480"/>
            <a:ext cx="12191695" cy="548640"/>
          </a:xfrm>
          <a:prstGeom prst="rect">
            <a:avLst/>
          </a:prstGeom>
          <a:noFill/>
        </p:spPr>
        <p:txBody>
          <a:bodyPr wrap="square">
            <a:spAutoFit/>
          </a:bodyPr>
          <a:lstStyle/>
          <a:p>
            <a:pPr algn="ctr">
              <a:defRPr sz="1800" b="0">
                <a:solidFill>
                  <a:srgbClr val="CCCCCC"/>
                </a:solidFill>
              </a:defRPr>
            </a:pPr>
            <a:r>
              <a:t>Building responsible AI systems for a better future</a:t>
            </a:r>
          </a:p>
        </p:txBody>
      </p:sp>
      <p:sp>
        <p:nvSpPr>
          <p:cNvPr id="6" name="TextBox 5"/>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14/20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1.4</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Bias, Fairness &amp; Responsible AI</a:t>
            </a:r>
          </a:p>
        </p:txBody>
      </p:sp>
      <p:sp>
        <p:nvSpPr>
          <p:cNvPr id="5" name="Rounded Rectangle 4"/>
          <p:cNvSpPr/>
          <p:nvPr/>
        </p:nvSpPr>
        <p:spPr>
          <a:xfrm>
            <a:off x="457200" y="1828800"/>
            <a:ext cx="2148840" cy="1645920"/>
          </a:xfrm>
          <a:prstGeom prst="roundRect">
            <a:avLst/>
          </a:prstGeom>
          <a:solidFill>
            <a:srgbClr val="2A2A45"/>
          </a:solidFill>
          <a:ln w="127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65960"/>
            <a:ext cx="1874519" cy="320040"/>
          </a:xfrm>
          <a:prstGeom prst="rect">
            <a:avLst/>
          </a:prstGeom>
          <a:noFill/>
        </p:spPr>
        <p:txBody>
          <a:bodyPr wrap="square">
            <a:spAutoFit/>
          </a:bodyPr>
          <a:lstStyle/>
          <a:p>
            <a:pPr algn="l">
              <a:defRPr sz="1400" b="1">
                <a:solidFill>
                  <a:srgbClr val="F44336"/>
                </a:solidFill>
              </a:defRPr>
            </a:pPr>
            <a:r>
              <a:t>Representation</a:t>
            </a:r>
          </a:p>
        </p:txBody>
      </p:sp>
      <p:sp>
        <p:nvSpPr>
          <p:cNvPr id="7" name="TextBox 6"/>
          <p:cNvSpPr txBox="1"/>
          <p:nvPr/>
        </p:nvSpPr>
        <p:spPr>
          <a:xfrm>
            <a:off x="594360" y="2377440"/>
            <a:ext cx="1874519" cy="914400"/>
          </a:xfrm>
          <a:prstGeom prst="rect">
            <a:avLst/>
          </a:prstGeom>
          <a:noFill/>
        </p:spPr>
        <p:txBody>
          <a:bodyPr wrap="square">
            <a:spAutoFit/>
          </a:bodyPr>
          <a:lstStyle/>
          <a:p>
            <a:pPr algn="l">
              <a:defRPr sz="1200" b="0">
                <a:solidFill>
                  <a:srgbClr val="CCCCCC"/>
                </a:solidFill>
              </a:defRPr>
            </a:pPr>
            <a:r>
              <a:t>Under/over-representation of groups</a:t>
            </a:r>
          </a:p>
        </p:txBody>
      </p:sp>
      <p:sp>
        <p:nvSpPr>
          <p:cNvPr id="8" name="Rounded Rectangle 7"/>
          <p:cNvSpPr/>
          <p:nvPr/>
        </p:nvSpPr>
        <p:spPr>
          <a:xfrm>
            <a:off x="2788920" y="1828800"/>
            <a:ext cx="2148840" cy="1645920"/>
          </a:xfrm>
          <a:prstGeom prst="roundRect">
            <a:avLst/>
          </a:prstGeom>
          <a:solidFill>
            <a:srgbClr val="2A2A45"/>
          </a:solidFill>
          <a:ln w="127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1965960"/>
            <a:ext cx="1874519" cy="320040"/>
          </a:xfrm>
          <a:prstGeom prst="rect">
            <a:avLst/>
          </a:prstGeom>
          <a:noFill/>
        </p:spPr>
        <p:txBody>
          <a:bodyPr wrap="square">
            <a:spAutoFit/>
          </a:bodyPr>
          <a:lstStyle/>
          <a:p>
            <a:pPr algn="l">
              <a:defRPr sz="1400" b="1">
                <a:solidFill>
                  <a:srgbClr val="F44336"/>
                </a:solidFill>
              </a:defRPr>
            </a:pPr>
            <a:r>
              <a:t>Historical</a:t>
            </a:r>
          </a:p>
        </p:txBody>
      </p:sp>
      <p:sp>
        <p:nvSpPr>
          <p:cNvPr id="10" name="TextBox 9"/>
          <p:cNvSpPr txBox="1"/>
          <p:nvPr/>
        </p:nvSpPr>
        <p:spPr>
          <a:xfrm>
            <a:off x="2926080" y="2377440"/>
            <a:ext cx="1874519" cy="914400"/>
          </a:xfrm>
          <a:prstGeom prst="rect">
            <a:avLst/>
          </a:prstGeom>
          <a:noFill/>
        </p:spPr>
        <p:txBody>
          <a:bodyPr wrap="square">
            <a:spAutoFit/>
          </a:bodyPr>
          <a:lstStyle/>
          <a:p>
            <a:pPr algn="l">
              <a:defRPr sz="1200" b="0">
                <a:solidFill>
                  <a:srgbClr val="CCCCCC"/>
                </a:solidFill>
              </a:defRPr>
            </a:pPr>
            <a:r>
              <a:t>Past societal inequalities reflected</a:t>
            </a:r>
          </a:p>
        </p:txBody>
      </p:sp>
      <p:sp>
        <p:nvSpPr>
          <p:cNvPr id="11" name="Rounded Rectangle 10"/>
          <p:cNvSpPr/>
          <p:nvPr/>
        </p:nvSpPr>
        <p:spPr>
          <a:xfrm>
            <a:off x="5120640" y="1828800"/>
            <a:ext cx="2148840" cy="1645920"/>
          </a:xfrm>
          <a:prstGeom prst="roundRect">
            <a:avLst/>
          </a:prstGeom>
          <a:solidFill>
            <a:srgbClr val="2A2A45"/>
          </a:solidFill>
          <a:ln w="127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57800" y="1965960"/>
            <a:ext cx="1874519" cy="320040"/>
          </a:xfrm>
          <a:prstGeom prst="rect">
            <a:avLst/>
          </a:prstGeom>
          <a:noFill/>
        </p:spPr>
        <p:txBody>
          <a:bodyPr wrap="square">
            <a:spAutoFit/>
          </a:bodyPr>
          <a:lstStyle/>
          <a:p>
            <a:pPr algn="l">
              <a:defRPr sz="1400" b="1">
                <a:solidFill>
                  <a:srgbClr val="F44336"/>
                </a:solidFill>
              </a:defRPr>
            </a:pPr>
            <a:r>
              <a:t>Measurement</a:t>
            </a:r>
          </a:p>
        </p:txBody>
      </p:sp>
      <p:sp>
        <p:nvSpPr>
          <p:cNvPr id="13" name="TextBox 12"/>
          <p:cNvSpPr txBox="1"/>
          <p:nvPr/>
        </p:nvSpPr>
        <p:spPr>
          <a:xfrm>
            <a:off x="5257800" y="2377440"/>
            <a:ext cx="1874519" cy="914400"/>
          </a:xfrm>
          <a:prstGeom prst="rect">
            <a:avLst/>
          </a:prstGeom>
          <a:noFill/>
        </p:spPr>
        <p:txBody>
          <a:bodyPr wrap="square">
            <a:spAutoFit/>
          </a:bodyPr>
          <a:lstStyle/>
          <a:p>
            <a:pPr algn="l">
              <a:defRPr sz="1200" b="0">
                <a:solidFill>
                  <a:srgbClr val="CCCCCC"/>
                </a:solidFill>
              </a:defRPr>
            </a:pPr>
            <a:r>
              <a:t>Flawed feature selection / proxies</a:t>
            </a:r>
          </a:p>
        </p:txBody>
      </p:sp>
      <p:sp>
        <p:nvSpPr>
          <p:cNvPr id="14" name="Rounded Rectangle 13"/>
          <p:cNvSpPr/>
          <p:nvPr/>
        </p:nvSpPr>
        <p:spPr>
          <a:xfrm>
            <a:off x="7452359" y="1828800"/>
            <a:ext cx="2148840" cy="1645920"/>
          </a:xfrm>
          <a:prstGeom prst="roundRect">
            <a:avLst/>
          </a:prstGeom>
          <a:solidFill>
            <a:srgbClr val="2A2A45"/>
          </a:solidFill>
          <a:ln w="127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19" y="1965960"/>
            <a:ext cx="1874519" cy="320040"/>
          </a:xfrm>
          <a:prstGeom prst="rect">
            <a:avLst/>
          </a:prstGeom>
          <a:noFill/>
        </p:spPr>
        <p:txBody>
          <a:bodyPr wrap="square">
            <a:spAutoFit/>
          </a:bodyPr>
          <a:lstStyle/>
          <a:p>
            <a:pPr algn="l">
              <a:defRPr sz="1400" b="1">
                <a:solidFill>
                  <a:srgbClr val="F44336"/>
                </a:solidFill>
              </a:defRPr>
            </a:pPr>
            <a:r>
              <a:t>Aggregation</a:t>
            </a:r>
          </a:p>
        </p:txBody>
      </p:sp>
      <p:sp>
        <p:nvSpPr>
          <p:cNvPr id="16" name="TextBox 15"/>
          <p:cNvSpPr txBox="1"/>
          <p:nvPr/>
        </p:nvSpPr>
        <p:spPr>
          <a:xfrm>
            <a:off x="7589519" y="2377440"/>
            <a:ext cx="1874519" cy="914400"/>
          </a:xfrm>
          <a:prstGeom prst="rect">
            <a:avLst/>
          </a:prstGeom>
          <a:noFill/>
        </p:spPr>
        <p:txBody>
          <a:bodyPr wrap="square">
            <a:spAutoFit/>
          </a:bodyPr>
          <a:lstStyle/>
          <a:p>
            <a:pPr algn="l">
              <a:defRPr sz="1200" b="0">
                <a:solidFill>
                  <a:srgbClr val="CCCCCC"/>
                </a:solidFill>
              </a:defRPr>
            </a:pPr>
            <a:r>
              <a:t>One-size-fits-all models</a:t>
            </a:r>
          </a:p>
        </p:txBody>
      </p:sp>
      <p:sp>
        <p:nvSpPr>
          <p:cNvPr id="17" name="Rounded Rectangle 16"/>
          <p:cNvSpPr/>
          <p:nvPr/>
        </p:nvSpPr>
        <p:spPr>
          <a:xfrm>
            <a:off x="9784080" y="1828800"/>
            <a:ext cx="2148840" cy="1645920"/>
          </a:xfrm>
          <a:prstGeom prst="roundRect">
            <a:avLst/>
          </a:prstGeom>
          <a:solidFill>
            <a:srgbClr val="2A2A45"/>
          </a:solidFill>
          <a:ln w="127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21240" y="1965960"/>
            <a:ext cx="1874519" cy="320040"/>
          </a:xfrm>
          <a:prstGeom prst="rect">
            <a:avLst/>
          </a:prstGeom>
          <a:noFill/>
        </p:spPr>
        <p:txBody>
          <a:bodyPr wrap="square">
            <a:spAutoFit/>
          </a:bodyPr>
          <a:lstStyle/>
          <a:p>
            <a:pPr algn="l">
              <a:defRPr sz="1400" b="1">
                <a:solidFill>
                  <a:srgbClr val="F44336"/>
                </a:solidFill>
              </a:defRPr>
            </a:pPr>
            <a:r>
              <a:t>Evaluation</a:t>
            </a:r>
          </a:p>
        </p:txBody>
      </p:sp>
      <p:sp>
        <p:nvSpPr>
          <p:cNvPr id="19" name="TextBox 18"/>
          <p:cNvSpPr txBox="1"/>
          <p:nvPr/>
        </p:nvSpPr>
        <p:spPr>
          <a:xfrm>
            <a:off x="9921240" y="2377440"/>
            <a:ext cx="1874519" cy="914400"/>
          </a:xfrm>
          <a:prstGeom prst="rect">
            <a:avLst/>
          </a:prstGeom>
          <a:noFill/>
        </p:spPr>
        <p:txBody>
          <a:bodyPr wrap="square">
            <a:spAutoFit/>
          </a:bodyPr>
          <a:lstStyle/>
          <a:p>
            <a:pPr algn="l">
              <a:defRPr sz="1200" b="0">
                <a:solidFill>
                  <a:srgbClr val="CCCCCC"/>
                </a:solidFill>
              </a:defRPr>
            </a:pPr>
            <a:r>
              <a:t>Biased benchmark datasets</a:t>
            </a:r>
          </a:p>
        </p:txBody>
      </p:sp>
      <p:sp>
        <p:nvSpPr>
          <p:cNvPr id="20" name="TextBox 19"/>
          <p:cNvSpPr txBox="1"/>
          <p:nvPr/>
        </p:nvSpPr>
        <p:spPr>
          <a:xfrm>
            <a:off x="457200" y="3749039"/>
            <a:ext cx="10972800" cy="457200"/>
          </a:xfrm>
          <a:prstGeom prst="rect">
            <a:avLst/>
          </a:prstGeom>
          <a:noFill/>
        </p:spPr>
        <p:txBody>
          <a:bodyPr wrap="square">
            <a:spAutoFit/>
          </a:bodyPr>
          <a:lstStyle/>
          <a:p>
            <a:pPr algn="l">
              <a:defRPr sz="2000" b="1">
                <a:solidFill>
                  <a:srgbClr val="FFFFFF"/>
                </a:solidFill>
              </a:defRPr>
            </a:pPr>
            <a:r>
              <a:t>Responsible AI Framework</a:t>
            </a:r>
          </a:p>
        </p:txBody>
      </p:sp>
      <p:sp>
        <p:nvSpPr>
          <p:cNvPr id="21" name="Rounded Rectangle 20"/>
          <p:cNvSpPr/>
          <p:nvPr/>
        </p:nvSpPr>
        <p:spPr>
          <a:xfrm>
            <a:off x="457200" y="4297680"/>
            <a:ext cx="214884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Fairness</a:t>
            </a:r>
          </a:p>
        </p:txBody>
      </p:sp>
      <p:sp>
        <p:nvSpPr>
          <p:cNvPr id="22" name="Rounded Rectangle 21"/>
          <p:cNvSpPr/>
          <p:nvPr/>
        </p:nvSpPr>
        <p:spPr>
          <a:xfrm>
            <a:off x="2788920" y="4297680"/>
            <a:ext cx="2148840" cy="50292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Transparency</a:t>
            </a:r>
          </a:p>
        </p:txBody>
      </p:sp>
      <p:sp>
        <p:nvSpPr>
          <p:cNvPr id="23" name="Rounded Rectangle 22"/>
          <p:cNvSpPr/>
          <p:nvPr/>
        </p:nvSpPr>
        <p:spPr>
          <a:xfrm>
            <a:off x="5120640" y="4297680"/>
            <a:ext cx="2148840" cy="50292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Accountability</a:t>
            </a:r>
          </a:p>
        </p:txBody>
      </p:sp>
      <p:sp>
        <p:nvSpPr>
          <p:cNvPr id="24" name="Rounded Rectangle 23"/>
          <p:cNvSpPr/>
          <p:nvPr/>
        </p:nvSpPr>
        <p:spPr>
          <a:xfrm>
            <a:off x="7452359" y="4297680"/>
            <a:ext cx="2148840" cy="50292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Privacy</a:t>
            </a:r>
          </a:p>
        </p:txBody>
      </p:sp>
      <p:sp>
        <p:nvSpPr>
          <p:cNvPr id="25" name="Rounded Rectangle 24"/>
          <p:cNvSpPr/>
          <p:nvPr/>
        </p:nvSpPr>
        <p:spPr>
          <a:xfrm>
            <a:off x="9784080" y="4297680"/>
            <a:ext cx="2148840" cy="50292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Safety</a:t>
            </a:r>
          </a:p>
        </p:txBody>
      </p:sp>
      <p:sp>
        <p:nvSpPr>
          <p:cNvPr id="26" name="TextBox 25"/>
          <p:cNvSpPr txBox="1"/>
          <p:nvPr/>
        </p:nvSpPr>
        <p:spPr>
          <a:xfrm>
            <a:off x="457200" y="5029200"/>
            <a:ext cx="10972800" cy="1097280"/>
          </a:xfrm>
          <a:prstGeom prst="rect">
            <a:avLst/>
          </a:prstGeom>
          <a:noFill/>
        </p:spPr>
        <p:txBody>
          <a:bodyPr wrap="square">
            <a:spAutoFit/>
          </a:bodyPr>
          <a:lstStyle/>
          <a:p>
            <a:pPr algn="l">
              <a:defRPr sz="1300" b="0">
                <a:solidFill>
                  <a:srgbClr val="CCCCCC"/>
                </a:solidFill>
              </a:defRPr>
            </a:pPr>
            <a:r>
              <a:t>Bias detection &amp; mitigation  ·  Model documentation &amp; explainability  ·  Human oversight  ·  Data minimization &amp; consent  ·  Content filtering &amp; monitoring</a:t>
            </a:r>
          </a:p>
        </p:txBody>
      </p:sp>
      <p:sp>
        <p:nvSpPr>
          <p:cNvPr id="27" name="TextBox 26"/>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15/20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SECTION 1.4</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Regulatory Landscape &amp; Future Trends</a:t>
            </a:r>
          </a:p>
        </p:txBody>
      </p:sp>
      <p:sp>
        <p:nvSpPr>
          <p:cNvPr id="5" name="TextBox 4"/>
          <p:cNvSpPr txBox="1"/>
          <p:nvPr/>
        </p:nvSpPr>
        <p:spPr>
          <a:xfrm>
            <a:off x="457200" y="1737360"/>
            <a:ext cx="4572000" cy="365760"/>
          </a:xfrm>
          <a:prstGeom prst="rect">
            <a:avLst/>
          </a:prstGeom>
          <a:noFill/>
        </p:spPr>
        <p:txBody>
          <a:bodyPr wrap="square">
            <a:spAutoFit/>
          </a:bodyPr>
          <a:lstStyle/>
          <a:p>
            <a:pPr algn="l">
              <a:defRPr sz="1800" b="1">
                <a:solidFill>
                  <a:srgbClr val="FFFFFF"/>
                </a:solidFill>
              </a:defRPr>
            </a:pPr>
            <a:r>
              <a:t>Key Regulations</a:t>
            </a:r>
          </a:p>
        </p:txBody>
      </p:sp>
      <p:sp>
        <p:nvSpPr>
          <p:cNvPr id="6" name="TextBox 5"/>
          <p:cNvSpPr txBox="1"/>
          <p:nvPr/>
        </p:nvSpPr>
        <p:spPr>
          <a:xfrm>
            <a:off x="457200" y="2194560"/>
            <a:ext cx="2743200" cy="320040"/>
          </a:xfrm>
          <a:prstGeom prst="rect">
            <a:avLst/>
          </a:prstGeom>
          <a:noFill/>
        </p:spPr>
        <p:txBody>
          <a:bodyPr wrap="square">
            <a:spAutoFit/>
          </a:bodyPr>
          <a:lstStyle/>
          <a:p>
            <a:pPr algn="l">
              <a:defRPr sz="1300" b="1">
                <a:solidFill>
                  <a:srgbClr val="FF9800"/>
                </a:solidFill>
              </a:defRPr>
            </a:pPr>
            <a:r>
              <a:t>EU AI Act (EU)</a:t>
            </a:r>
          </a:p>
        </p:txBody>
      </p:sp>
      <p:sp>
        <p:nvSpPr>
          <p:cNvPr id="7" name="TextBox 6"/>
          <p:cNvSpPr txBox="1"/>
          <p:nvPr/>
        </p:nvSpPr>
        <p:spPr>
          <a:xfrm>
            <a:off x="3200400" y="2194560"/>
            <a:ext cx="2743200" cy="320040"/>
          </a:xfrm>
          <a:prstGeom prst="rect">
            <a:avLst/>
          </a:prstGeom>
          <a:noFill/>
        </p:spPr>
        <p:txBody>
          <a:bodyPr wrap="square">
            <a:spAutoFit/>
          </a:bodyPr>
          <a:lstStyle/>
          <a:p>
            <a:pPr algn="l">
              <a:defRPr sz="1300" b="0">
                <a:solidFill>
                  <a:srgbClr val="CCCCCC"/>
                </a:solidFill>
              </a:defRPr>
            </a:pPr>
            <a:r>
              <a:t>Risk-based classification, transparency</a:t>
            </a:r>
          </a:p>
        </p:txBody>
      </p:sp>
      <p:sp>
        <p:nvSpPr>
          <p:cNvPr id="8" name="TextBox 7"/>
          <p:cNvSpPr txBox="1"/>
          <p:nvPr/>
        </p:nvSpPr>
        <p:spPr>
          <a:xfrm>
            <a:off x="457200" y="2697480"/>
            <a:ext cx="2743200" cy="320040"/>
          </a:xfrm>
          <a:prstGeom prst="rect">
            <a:avLst/>
          </a:prstGeom>
          <a:noFill/>
        </p:spPr>
        <p:txBody>
          <a:bodyPr wrap="square">
            <a:spAutoFit/>
          </a:bodyPr>
          <a:lstStyle/>
          <a:p>
            <a:pPr algn="l">
              <a:defRPr sz="1300" b="1">
                <a:solidFill>
                  <a:srgbClr val="FF9800"/>
                </a:solidFill>
              </a:defRPr>
            </a:pPr>
            <a:r>
              <a:t>NIST AI RMF (US)</a:t>
            </a:r>
          </a:p>
        </p:txBody>
      </p:sp>
      <p:sp>
        <p:nvSpPr>
          <p:cNvPr id="9" name="TextBox 8"/>
          <p:cNvSpPr txBox="1"/>
          <p:nvPr/>
        </p:nvSpPr>
        <p:spPr>
          <a:xfrm>
            <a:off x="3200400" y="2697480"/>
            <a:ext cx="2743200" cy="320040"/>
          </a:xfrm>
          <a:prstGeom prst="rect">
            <a:avLst/>
          </a:prstGeom>
          <a:noFill/>
        </p:spPr>
        <p:txBody>
          <a:bodyPr wrap="square">
            <a:spAutoFit/>
          </a:bodyPr>
          <a:lstStyle/>
          <a:p>
            <a:pPr algn="l">
              <a:defRPr sz="1300" b="0">
                <a:solidFill>
                  <a:srgbClr val="CCCCCC"/>
                </a:solidFill>
              </a:defRPr>
            </a:pPr>
            <a:r>
              <a:t>Voluntary risk management framework</a:t>
            </a:r>
          </a:p>
        </p:txBody>
      </p:sp>
      <p:sp>
        <p:nvSpPr>
          <p:cNvPr id="10" name="TextBox 9"/>
          <p:cNvSpPr txBox="1"/>
          <p:nvPr/>
        </p:nvSpPr>
        <p:spPr>
          <a:xfrm>
            <a:off x="457200" y="3200400"/>
            <a:ext cx="2743200" cy="320040"/>
          </a:xfrm>
          <a:prstGeom prst="rect">
            <a:avLst/>
          </a:prstGeom>
          <a:noFill/>
        </p:spPr>
        <p:txBody>
          <a:bodyPr wrap="square">
            <a:spAutoFit/>
          </a:bodyPr>
          <a:lstStyle/>
          <a:p>
            <a:pPr algn="l">
              <a:defRPr sz="1300" b="1">
                <a:solidFill>
                  <a:srgbClr val="FF9800"/>
                </a:solidFill>
              </a:defRPr>
            </a:pPr>
            <a:r>
              <a:t>China AI Regs (China)</a:t>
            </a:r>
          </a:p>
        </p:txBody>
      </p:sp>
      <p:sp>
        <p:nvSpPr>
          <p:cNvPr id="11" name="TextBox 10"/>
          <p:cNvSpPr txBox="1"/>
          <p:nvPr/>
        </p:nvSpPr>
        <p:spPr>
          <a:xfrm>
            <a:off x="3200400" y="3200400"/>
            <a:ext cx="2743200" cy="320040"/>
          </a:xfrm>
          <a:prstGeom prst="rect">
            <a:avLst/>
          </a:prstGeom>
          <a:noFill/>
        </p:spPr>
        <p:txBody>
          <a:bodyPr wrap="square">
            <a:spAutoFit/>
          </a:bodyPr>
          <a:lstStyle/>
          <a:p>
            <a:pPr algn="l">
              <a:defRPr sz="1300" b="0">
                <a:solidFill>
                  <a:srgbClr val="CCCCCC"/>
                </a:solidFill>
              </a:defRPr>
            </a:pPr>
            <a:r>
              <a:t>Algorithm registration, content controls</a:t>
            </a:r>
          </a:p>
        </p:txBody>
      </p:sp>
      <p:sp>
        <p:nvSpPr>
          <p:cNvPr id="12" name="TextBox 11"/>
          <p:cNvSpPr txBox="1"/>
          <p:nvPr/>
        </p:nvSpPr>
        <p:spPr>
          <a:xfrm>
            <a:off x="457200" y="3703320"/>
            <a:ext cx="2743200" cy="320040"/>
          </a:xfrm>
          <a:prstGeom prst="rect">
            <a:avLst/>
          </a:prstGeom>
          <a:noFill/>
        </p:spPr>
        <p:txBody>
          <a:bodyPr wrap="square">
            <a:spAutoFit/>
          </a:bodyPr>
          <a:lstStyle/>
          <a:p>
            <a:pPr algn="l">
              <a:defRPr sz="1300" b="1">
                <a:solidFill>
                  <a:srgbClr val="FF9800"/>
                </a:solidFill>
              </a:defRPr>
            </a:pPr>
            <a:r>
              <a:t>UK AI Safety (UK)</a:t>
            </a:r>
          </a:p>
        </p:txBody>
      </p:sp>
      <p:sp>
        <p:nvSpPr>
          <p:cNvPr id="13" name="TextBox 12"/>
          <p:cNvSpPr txBox="1"/>
          <p:nvPr/>
        </p:nvSpPr>
        <p:spPr>
          <a:xfrm>
            <a:off x="3200400" y="3703320"/>
            <a:ext cx="2743200" cy="320040"/>
          </a:xfrm>
          <a:prstGeom prst="rect">
            <a:avLst/>
          </a:prstGeom>
          <a:noFill/>
        </p:spPr>
        <p:txBody>
          <a:bodyPr wrap="square">
            <a:spAutoFit/>
          </a:bodyPr>
          <a:lstStyle/>
          <a:p>
            <a:pPr algn="l">
              <a:defRPr sz="1300" b="0">
                <a:solidFill>
                  <a:srgbClr val="CCCCCC"/>
                </a:solidFill>
              </a:defRPr>
            </a:pPr>
            <a:r>
              <a:t>Pro-innovation, sector-specific</a:t>
            </a:r>
          </a:p>
        </p:txBody>
      </p:sp>
      <p:sp>
        <p:nvSpPr>
          <p:cNvPr id="14" name="TextBox 13"/>
          <p:cNvSpPr txBox="1"/>
          <p:nvPr/>
        </p:nvSpPr>
        <p:spPr>
          <a:xfrm>
            <a:off x="457200" y="4206240"/>
            <a:ext cx="2743200" cy="320040"/>
          </a:xfrm>
          <a:prstGeom prst="rect">
            <a:avLst/>
          </a:prstGeom>
          <a:noFill/>
        </p:spPr>
        <p:txBody>
          <a:bodyPr wrap="square">
            <a:spAutoFit/>
          </a:bodyPr>
          <a:lstStyle/>
          <a:p>
            <a:pPr algn="l">
              <a:defRPr sz="1300" b="1">
                <a:solidFill>
                  <a:srgbClr val="FF9800"/>
                </a:solidFill>
              </a:defRPr>
            </a:pPr>
            <a:r>
              <a:t>Canada AIDA (Canada)</a:t>
            </a:r>
          </a:p>
        </p:txBody>
      </p:sp>
      <p:sp>
        <p:nvSpPr>
          <p:cNvPr id="15" name="TextBox 14"/>
          <p:cNvSpPr txBox="1"/>
          <p:nvPr/>
        </p:nvSpPr>
        <p:spPr>
          <a:xfrm>
            <a:off x="3200400" y="4206240"/>
            <a:ext cx="2743200" cy="320040"/>
          </a:xfrm>
          <a:prstGeom prst="rect">
            <a:avLst/>
          </a:prstGeom>
          <a:noFill/>
        </p:spPr>
        <p:txBody>
          <a:bodyPr wrap="square">
            <a:spAutoFit/>
          </a:bodyPr>
          <a:lstStyle/>
          <a:p>
            <a:pPr algn="l">
              <a:defRPr sz="1300" b="0">
                <a:solidFill>
                  <a:srgbClr val="CCCCCC"/>
                </a:solidFill>
              </a:defRPr>
            </a:pPr>
            <a:r>
              <a:t>Risk management, accountability</a:t>
            </a:r>
          </a:p>
        </p:txBody>
      </p:sp>
      <p:sp>
        <p:nvSpPr>
          <p:cNvPr id="16" name="TextBox 15"/>
          <p:cNvSpPr txBox="1"/>
          <p:nvPr/>
        </p:nvSpPr>
        <p:spPr>
          <a:xfrm>
            <a:off x="6400800" y="1737360"/>
            <a:ext cx="4572000" cy="365760"/>
          </a:xfrm>
          <a:prstGeom prst="rect">
            <a:avLst/>
          </a:prstGeom>
          <a:noFill/>
        </p:spPr>
        <p:txBody>
          <a:bodyPr wrap="square">
            <a:spAutoFit/>
          </a:bodyPr>
          <a:lstStyle/>
          <a:p>
            <a:pPr algn="l">
              <a:defRPr sz="1800" b="1">
                <a:solidFill>
                  <a:srgbClr val="FFFFFF"/>
                </a:solidFill>
              </a:defRPr>
            </a:pPr>
            <a:r>
              <a:t>Emerging Trends</a:t>
            </a:r>
          </a:p>
        </p:txBody>
      </p:sp>
      <p:sp>
        <p:nvSpPr>
          <p:cNvPr id="17" name="TextBox 16"/>
          <p:cNvSpPr txBox="1"/>
          <p:nvPr/>
        </p:nvSpPr>
        <p:spPr>
          <a:xfrm>
            <a:off x="6400800" y="2194560"/>
            <a:ext cx="2743200" cy="320040"/>
          </a:xfrm>
          <a:prstGeom prst="rect">
            <a:avLst/>
          </a:prstGeom>
          <a:noFill/>
        </p:spPr>
        <p:txBody>
          <a:bodyPr wrap="square">
            <a:spAutoFit/>
          </a:bodyPr>
          <a:lstStyle/>
          <a:p>
            <a:pPr algn="l">
              <a:defRPr sz="1300" b="1">
                <a:solidFill>
                  <a:srgbClr val="00BCD4"/>
                </a:solidFill>
              </a:defRPr>
            </a:pPr>
            <a:r>
              <a:t>Multimodal Models</a:t>
            </a:r>
          </a:p>
        </p:txBody>
      </p:sp>
      <p:sp>
        <p:nvSpPr>
          <p:cNvPr id="18" name="TextBox 17"/>
          <p:cNvSpPr txBox="1"/>
          <p:nvPr/>
        </p:nvSpPr>
        <p:spPr>
          <a:xfrm>
            <a:off x="9144000" y="2194560"/>
            <a:ext cx="2743200" cy="320040"/>
          </a:xfrm>
          <a:prstGeom prst="rect">
            <a:avLst/>
          </a:prstGeom>
          <a:noFill/>
        </p:spPr>
        <p:txBody>
          <a:bodyPr wrap="square">
            <a:spAutoFit/>
          </a:bodyPr>
          <a:lstStyle/>
          <a:p>
            <a:pPr algn="l">
              <a:defRPr sz="1300" b="0">
                <a:solidFill>
                  <a:srgbClr val="CCCCCC"/>
                </a:solidFill>
              </a:defRPr>
            </a:pPr>
            <a:r>
              <a:t>Unified text, image, audio, video</a:t>
            </a:r>
          </a:p>
        </p:txBody>
      </p:sp>
      <p:sp>
        <p:nvSpPr>
          <p:cNvPr id="19" name="TextBox 18"/>
          <p:cNvSpPr txBox="1"/>
          <p:nvPr/>
        </p:nvSpPr>
        <p:spPr>
          <a:xfrm>
            <a:off x="6400800" y="2697480"/>
            <a:ext cx="2743200" cy="320040"/>
          </a:xfrm>
          <a:prstGeom prst="rect">
            <a:avLst/>
          </a:prstGeom>
          <a:noFill/>
        </p:spPr>
        <p:txBody>
          <a:bodyPr wrap="square">
            <a:spAutoFit/>
          </a:bodyPr>
          <a:lstStyle/>
          <a:p>
            <a:pPr algn="l">
              <a:defRPr sz="1300" b="1">
                <a:solidFill>
                  <a:srgbClr val="00BCD4"/>
                </a:solidFill>
              </a:defRPr>
            </a:pPr>
            <a:r>
              <a:t>Agentic AI</a:t>
            </a:r>
          </a:p>
        </p:txBody>
      </p:sp>
      <p:sp>
        <p:nvSpPr>
          <p:cNvPr id="20" name="TextBox 19"/>
          <p:cNvSpPr txBox="1"/>
          <p:nvPr/>
        </p:nvSpPr>
        <p:spPr>
          <a:xfrm>
            <a:off x="9144000" y="2697480"/>
            <a:ext cx="2743200" cy="320040"/>
          </a:xfrm>
          <a:prstGeom prst="rect">
            <a:avLst/>
          </a:prstGeom>
          <a:noFill/>
        </p:spPr>
        <p:txBody>
          <a:bodyPr wrap="square">
            <a:spAutoFit/>
          </a:bodyPr>
          <a:lstStyle/>
          <a:p>
            <a:pPr algn="l">
              <a:defRPr sz="1300" b="0">
                <a:solidFill>
                  <a:srgbClr val="CCCCCC"/>
                </a:solidFill>
              </a:defRPr>
            </a:pPr>
            <a:r>
              <a:t>Autonomous planning &amp; execution</a:t>
            </a:r>
          </a:p>
        </p:txBody>
      </p:sp>
      <p:sp>
        <p:nvSpPr>
          <p:cNvPr id="21" name="TextBox 20"/>
          <p:cNvSpPr txBox="1"/>
          <p:nvPr/>
        </p:nvSpPr>
        <p:spPr>
          <a:xfrm>
            <a:off x="6400800" y="3200400"/>
            <a:ext cx="2743200" cy="320040"/>
          </a:xfrm>
          <a:prstGeom prst="rect">
            <a:avLst/>
          </a:prstGeom>
          <a:noFill/>
        </p:spPr>
        <p:txBody>
          <a:bodyPr wrap="square">
            <a:spAutoFit/>
          </a:bodyPr>
          <a:lstStyle/>
          <a:p>
            <a:pPr algn="l">
              <a:defRPr sz="1300" b="1">
                <a:solidFill>
                  <a:srgbClr val="00BCD4"/>
                </a:solidFill>
              </a:defRPr>
            </a:pPr>
            <a:r>
              <a:t>Small Language Models</a:t>
            </a:r>
          </a:p>
        </p:txBody>
      </p:sp>
      <p:sp>
        <p:nvSpPr>
          <p:cNvPr id="22" name="TextBox 21"/>
          <p:cNvSpPr txBox="1"/>
          <p:nvPr/>
        </p:nvSpPr>
        <p:spPr>
          <a:xfrm>
            <a:off x="9144000" y="3200400"/>
            <a:ext cx="2743200" cy="320040"/>
          </a:xfrm>
          <a:prstGeom prst="rect">
            <a:avLst/>
          </a:prstGeom>
          <a:noFill/>
        </p:spPr>
        <p:txBody>
          <a:bodyPr wrap="square">
            <a:spAutoFit/>
          </a:bodyPr>
          <a:lstStyle/>
          <a:p>
            <a:pPr algn="l">
              <a:defRPr sz="1300" b="0">
                <a:solidFill>
                  <a:srgbClr val="CCCCCC"/>
                </a:solidFill>
              </a:defRPr>
            </a:pPr>
            <a:r>
              <a:t>Efficient, domain-specific, edge</a:t>
            </a:r>
          </a:p>
        </p:txBody>
      </p:sp>
      <p:sp>
        <p:nvSpPr>
          <p:cNvPr id="23" name="TextBox 22"/>
          <p:cNvSpPr txBox="1"/>
          <p:nvPr/>
        </p:nvSpPr>
        <p:spPr>
          <a:xfrm>
            <a:off x="6400800" y="3703320"/>
            <a:ext cx="2743200" cy="320040"/>
          </a:xfrm>
          <a:prstGeom prst="rect">
            <a:avLst/>
          </a:prstGeom>
          <a:noFill/>
        </p:spPr>
        <p:txBody>
          <a:bodyPr wrap="square">
            <a:spAutoFit/>
          </a:bodyPr>
          <a:lstStyle/>
          <a:p>
            <a:pPr algn="l">
              <a:defRPr sz="1300" b="1">
                <a:solidFill>
                  <a:srgbClr val="00BCD4"/>
                </a:solidFill>
              </a:defRPr>
            </a:pPr>
            <a:r>
              <a:t>Neuro-Symbolic AI</a:t>
            </a:r>
          </a:p>
        </p:txBody>
      </p:sp>
      <p:sp>
        <p:nvSpPr>
          <p:cNvPr id="24" name="TextBox 23"/>
          <p:cNvSpPr txBox="1"/>
          <p:nvPr/>
        </p:nvSpPr>
        <p:spPr>
          <a:xfrm>
            <a:off x="9144000" y="3703320"/>
            <a:ext cx="2743200" cy="320040"/>
          </a:xfrm>
          <a:prstGeom prst="rect">
            <a:avLst/>
          </a:prstGeom>
          <a:noFill/>
        </p:spPr>
        <p:txBody>
          <a:bodyPr wrap="square">
            <a:spAutoFit/>
          </a:bodyPr>
          <a:lstStyle/>
          <a:p>
            <a:pPr algn="l">
              <a:defRPr sz="1300" b="0">
                <a:solidFill>
                  <a:srgbClr val="CCCCCC"/>
                </a:solidFill>
              </a:defRPr>
            </a:pPr>
            <a:r>
              <a:t>Neural + symbolic reasoning</a:t>
            </a:r>
          </a:p>
        </p:txBody>
      </p:sp>
      <p:sp>
        <p:nvSpPr>
          <p:cNvPr id="25" name="TextBox 24"/>
          <p:cNvSpPr txBox="1"/>
          <p:nvPr/>
        </p:nvSpPr>
        <p:spPr>
          <a:xfrm>
            <a:off x="6400800" y="4206240"/>
            <a:ext cx="2743200" cy="320040"/>
          </a:xfrm>
          <a:prstGeom prst="rect">
            <a:avLst/>
          </a:prstGeom>
          <a:noFill/>
        </p:spPr>
        <p:txBody>
          <a:bodyPr wrap="square">
            <a:spAutoFit/>
          </a:bodyPr>
          <a:lstStyle/>
          <a:p>
            <a:pPr algn="l">
              <a:defRPr sz="1300" b="1">
                <a:solidFill>
                  <a:srgbClr val="00BCD4"/>
                </a:solidFill>
              </a:defRPr>
            </a:pPr>
            <a:r>
              <a:t>AI Alignment</a:t>
            </a:r>
          </a:p>
        </p:txBody>
      </p:sp>
      <p:sp>
        <p:nvSpPr>
          <p:cNvPr id="26" name="TextBox 25"/>
          <p:cNvSpPr txBox="1"/>
          <p:nvPr/>
        </p:nvSpPr>
        <p:spPr>
          <a:xfrm>
            <a:off x="9144000" y="4206240"/>
            <a:ext cx="2743200" cy="320040"/>
          </a:xfrm>
          <a:prstGeom prst="rect">
            <a:avLst/>
          </a:prstGeom>
          <a:noFill/>
        </p:spPr>
        <p:txBody>
          <a:bodyPr wrap="square">
            <a:spAutoFit/>
          </a:bodyPr>
          <a:lstStyle/>
          <a:p>
            <a:pPr algn="l">
              <a:defRPr sz="1300" b="0">
                <a:solidFill>
                  <a:srgbClr val="CCCCCC"/>
                </a:solidFill>
              </a:defRPr>
            </a:pPr>
            <a:r>
              <a:t>Systems following human intent</a:t>
            </a:r>
          </a:p>
        </p:txBody>
      </p:sp>
      <p:sp>
        <p:nvSpPr>
          <p:cNvPr id="27" name="TextBox 26"/>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16/20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011680"/>
            <a:ext cx="12191695" cy="548640"/>
          </a:xfrm>
          <a:prstGeom prst="rect">
            <a:avLst/>
          </a:prstGeom>
          <a:noFill/>
        </p:spPr>
        <p:txBody>
          <a:bodyPr wrap="square">
            <a:spAutoFit/>
          </a:bodyPr>
          <a:lstStyle/>
          <a:p>
            <a:pPr algn="ctr">
              <a:defRPr sz="2000" b="0">
                <a:solidFill>
                  <a:srgbClr val="FFFFFF"/>
                </a:solidFill>
              </a:defRPr>
            </a:pPr>
            <a:r>
              <a:t>Enterprise Scenario</a:t>
            </a:r>
          </a:p>
        </p:txBody>
      </p:sp>
      <p:sp>
        <p:nvSpPr>
          <p:cNvPr id="4" name="TextBox 3"/>
          <p:cNvSpPr txBox="1"/>
          <p:nvPr/>
        </p:nvSpPr>
        <p:spPr>
          <a:xfrm>
            <a:off x="0" y="2560320"/>
            <a:ext cx="12191695" cy="914400"/>
          </a:xfrm>
          <a:prstGeom prst="rect">
            <a:avLst/>
          </a:prstGeom>
          <a:noFill/>
        </p:spPr>
        <p:txBody>
          <a:bodyPr wrap="square">
            <a:spAutoFit/>
          </a:bodyPr>
          <a:lstStyle/>
          <a:p>
            <a:pPr algn="ctr">
              <a:defRPr sz="4800" b="1">
                <a:solidFill>
                  <a:srgbClr val="FFFFFF"/>
                </a:solidFill>
              </a:defRPr>
            </a:pPr>
            <a:r>
              <a:t>AI-Powered Customer Support</a:t>
            </a:r>
          </a:p>
        </p:txBody>
      </p:sp>
      <p:sp>
        <p:nvSpPr>
          <p:cNvPr id="5" name="TextBox 4"/>
          <p:cNvSpPr txBox="1"/>
          <p:nvPr/>
        </p:nvSpPr>
        <p:spPr>
          <a:xfrm>
            <a:off x="0" y="3657600"/>
            <a:ext cx="12191695" cy="548640"/>
          </a:xfrm>
          <a:prstGeom prst="rect">
            <a:avLst/>
          </a:prstGeom>
          <a:noFill/>
        </p:spPr>
        <p:txBody>
          <a:bodyPr wrap="square">
            <a:spAutoFit/>
          </a:bodyPr>
          <a:lstStyle/>
          <a:p>
            <a:pPr algn="ctr">
              <a:defRPr sz="1800" b="0">
                <a:solidFill>
                  <a:srgbClr val="FFCC80"/>
                </a:solidFill>
              </a:defRPr>
            </a:pPr>
            <a:r>
              <a:t>Enterprise Insurance Corp — Automating 70% of Tier-1 Support Tickets</a:t>
            </a:r>
          </a:p>
        </p:txBody>
      </p:sp>
      <p:sp>
        <p:nvSpPr>
          <p:cNvPr id="6" name="TextBox 5"/>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17/20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ENTERPRISE SCENARIO</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400" b="1">
                <a:solidFill>
                  <a:srgbClr val="FFFFFF"/>
                </a:solidFill>
              </a:defRPr>
            </a:pPr>
            <a:r>
              <a:t>Enterprise Insurance Corp — Production Architecture</a:t>
            </a:r>
          </a:p>
        </p:txBody>
      </p:sp>
      <p:sp>
        <p:nvSpPr>
          <p:cNvPr id="5" name="Rounded Rectangle 4"/>
          <p:cNvSpPr/>
          <p:nvPr/>
        </p:nvSpPr>
        <p:spPr>
          <a:xfrm>
            <a:off x="274320" y="1828800"/>
            <a:ext cx="3657600" cy="201168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3291840" cy="365760"/>
          </a:xfrm>
          <a:prstGeom prst="rect">
            <a:avLst/>
          </a:prstGeom>
          <a:noFill/>
        </p:spPr>
        <p:txBody>
          <a:bodyPr wrap="square">
            <a:spAutoFit/>
          </a:bodyPr>
          <a:lstStyle/>
          <a:p>
            <a:pPr>
              <a:defRPr sz="1600" b="1">
                <a:solidFill>
                  <a:srgbClr val="F44336"/>
                </a:solidFill>
              </a:defRPr>
            </a:pPr>
            <a:r>
              <a:t>Business Problem</a:t>
            </a:r>
          </a:p>
        </p:txBody>
      </p:sp>
      <p:sp>
        <p:nvSpPr>
          <p:cNvPr id="7" name="TextBox 6"/>
          <p:cNvSpPr txBox="1"/>
          <p:nvPr/>
        </p:nvSpPr>
        <p:spPr>
          <a:xfrm>
            <a:off x="457200" y="2331720"/>
            <a:ext cx="3291840" cy="1371600"/>
          </a:xfrm>
          <a:prstGeom prst="rect">
            <a:avLst/>
          </a:prstGeom>
          <a:noFill/>
        </p:spPr>
        <p:txBody>
          <a:bodyPr wrap="square">
            <a:spAutoFit/>
          </a:bodyPr>
          <a:lstStyle/>
          <a:p>
            <a:pPr>
              <a:spcAft>
                <a:spcPts val="400"/>
              </a:spcAft>
              <a:defRPr sz="1300">
                <a:solidFill>
                  <a:srgbClr val="CCCCCC"/>
                </a:solidFill>
              </a:defRPr>
            </a:pPr>
            <a:r>
              <a:t>• 50,000+ support tickets/month</a:t>
            </a:r>
          </a:p>
          <a:p>
            <a:pPr>
              <a:spcAft>
                <a:spcPts val="400"/>
              </a:spcAft>
              <a:defRPr sz="1300">
                <a:solidFill>
                  <a:srgbClr val="CCCCCC"/>
                </a:solidFill>
              </a:defRPr>
            </a:pPr>
            <a:r>
              <a:t>• Average resolution: 4.2 hours</a:t>
            </a:r>
          </a:p>
          <a:p>
            <a:pPr>
              <a:spcAft>
                <a:spcPts val="400"/>
              </a:spcAft>
              <a:defRPr sz="1300">
                <a:solidFill>
                  <a:srgbClr val="CCCCCC"/>
                </a:solidFill>
              </a:defRPr>
            </a:pPr>
            <a:r>
              <a:t>• $2.8M annual support cost</a:t>
            </a:r>
          </a:p>
          <a:p>
            <a:pPr>
              <a:spcAft>
                <a:spcPts val="400"/>
              </a:spcAft>
              <a:defRPr sz="1300">
                <a:solidFill>
                  <a:srgbClr val="CCCCCC"/>
                </a:solidFill>
              </a:defRPr>
            </a:pPr>
            <a:r>
              <a:t>• Customer satisfaction: 62%</a:t>
            </a:r>
          </a:p>
        </p:txBody>
      </p:sp>
      <p:sp>
        <p:nvSpPr>
          <p:cNvPr id="8" name="Rounded Rectangle 7"/>
          <p:cNvSpPr/>
          <p:nvPr/>
        </p:nvSpPr>
        <p:spPr>
          <a:xfrm>
            <a:off x="4206240" y="1828800"/>
            <a:ext cx="3657600" cy="201168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965960"/>
            <a:ext cx="3291840" cy="365760"/>
          </a:xfrm>
          <a:prstGeom prst="rect">
            <a:avLst/>
          </a:prstGeom>
          <a:noFill/>
        </p:spPr>
        <p:txBody>
          <a:bodyPr wrap="square">
            <a:spAutoFit/>
          </a:bodyPr>
          <a:lstStyle/>
          <a:p>
            <a:pPr>
              <a:defRPr sz="1600" b="1">
                <a:solidFill>
                  <a:srgbClr val="00BCD4"/>
                </a:solidFill>
              </a:defRPr>
            </a:pPr>
            <a:r>
              <a:t>GenAI Solution</a:t>
            </a:r>
          </a:p>
        </p:txBody>
      </p:sp>
      <p:sp>
        <p:nvSpPr>
          <p:cNvPr id="10" name="TextBox 9"/>
          <p:cNvSpPr txBox="1"/>
          <p:nvPr/>
        </p:nvSpPr>
        <p:spPr>
          <a:xfrm>
            <a:off x="4389120" y="2331720"/>
            <a:ext cx="3291840" cy="1371600"/>
          </a:xfrm>
          <a:prstGeom prst="rect">
            <a:avLst/>
          </a:prstGeom>
          <a:noFill/>
        </p:spPr>
        <p:txBody>
          <a:bodyPr wrap="square">
            <a:spAutoFit/>
          </a:bodyPr>
          <a:lstStyle/>
          <a:p>
            <a:pPr>
              <a:spcAft>
                <a:spcPts val="400"/>
              </a:spcAft>
              <a:defRPr sz="1300">
                <a:solidFill>
                  <a:srgbClr val="CCCCCC"/>
                </a:solidFill>
              </a:defRPr>
            </a:pPr>
            <a:r>
              <a:t>• LLM-powered ticket classification</a:t>
            </a:r>
          </a:p>
          <a:p>
            <a:pPr>
              <a:spcAft>
                <a:spcPts val="400"/>
              </a:spcAft>
              <a:defRPr sz="1300">
                <a:solidFill>
                  <a:srgbClr val="CCCCCC"/>
                </a:solidFill>
              </a:defRPr>
            </a:pPr>
            <a:r>
              <a:t>• Automated response generation (RAG)</a:t>
            </a:r>
          </a:p>
          <a:p>
            <a:pPr>
              <a:spcAft>
                <a:spcPts val="400"/>
              </a:spcAft>
              <a:defRPr sz="1300">
                <a:solidFill>
                  <a:srgbClr val="CCCCCC"/>
                </a:solidFill>
              </a:defRPr>
            </a:pPr>
            <a:r>
              <a:t>• Intelligent routing to specialists</a:t>
            </a:r>
          </a:p>
          <a:p>
            <a:pPr>
              <a:spcAft>
                <a:spcPts val="400"/>
              </a:spcAft>
              <a:defRPr sz="1300">
                <a:solidFill>
                  <a:srgbClr val="CCCCCC"/>
                </a:solidFill>
              </a:defRPr>
            </a:pPr>
            <a:r>
              <a:t>• Real-time sentiment analysis</a:t>
            </a:r>
          </a:p>
        </p:txBody>
      </p:sp>
      <p:sp>
        <p:nvSpPr>
          <p:cNvPr id="11" name="Rounded Rectangle 10"/>
          <p:cNvSpPr/>
          <p:nvPr/>
        </p:nvSpPr>
        <p:spPr>
          <a:xfrm>
            <a:off x="8138160" y="1828800"/>
            <a:ext cx="3657600" cy="2011680"/>
          </a:xfrm>
          <a:prstGeom prst="roundRect">
            <a:avLst/>
          </a:prstGeom>
          <a:solidFill>
            <a:srgbClr val="2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965960"/>
            <a:ext cx="3291840" cy="365760"/>
          </a:xfrm>
          <a:prstGeom prst="rect">
            <a:avLst/>
          </a:prstGeom>
          <a:noFill/>
        </p:spPr>
        <p:txBody>
          <a:bodyPr wrap="square">
            <a:spAutoFit/>
          </a:bodyPr>
          <a:lstStyle/>
          <a:p>
            <a:pPr>
              <a:defRPr sz="1600" b="1">
                <a:solidFill>
                  <a:srgbClr val="4CAF50"/>
                </a:solidFill>
              </a:defRPr>
            </a:pPr>
            <a:r>
              <a:t>Techniques Applied</a:t>
            </a:r>
          </a:p>
        </p:txBody>
      </p:sp>
      <p:sp>
        <p:nvSpPr>
          <p:cNvPr id="13" name="TextBox 12"/>
          <p:cNvSpPr txBox="1"/>
          <p:nvPr/>
        </p:nvSpPr>
        <p:spPr>
          <a:xfrm>
            <a:off x="8321040" y="2331720"/>
            <a:ext cx="3291840" cy="1371600"/>
          </a:xfrm>
          <a:prstGeom prst="rect">
            <a:avLst/>
          </a:prstGeom>
          <a:noFill/>
        </p:spPr>
        <p:txBody>
          <a:bodyPr wrap="square">
            <a:spAutoFit/>
          </a:bodyPr>
          <a:lstStyle/>
          <a:p>
            <a:pPr>
              <a:spcAft>
                <a:spcPts val="400"/>
              </a:spcAft>
              <a:defRPr sz="1300">
                <a:solidFill>
                  <a:srgbClr val="CCCCCC"/>
                </a:solidFill>
              </a:defRPr>
            </a:pPr>
            <a:r>
              <a:t>• Few-shot prompting for classification</a:t>
            </a:r>
          </a:p>
          <a:p>
            <a:pPr>
              <a:spcAft>
                <a:spcPts val="400"/>
              </a:spcAft>
              <a:defRPr sz="1300">
                <a:solidFill>
                  <a:srgbClr val="CCCCCC"/>
                </a:solidFill>
              </a:defRPr>
            </a:pPr>
            <a:r>
              <a:t>• RAG for policy-specific answers</a:t>
            </a:r>
          </a:p>
          <a:p>
            <a:pPr>
              <a:spcAft>
                <a:spcPts val="400"/>
              </a:spcAft>
              <a:defRPr sz="1300">
                <a:solidFill>
                  <a:srgbClr val="CCCCCC"/>
                </a:solidFill>
              </a:defRPr>
            </a:pPr>
            <a:r>
              <a:t>• Chain-of-thought for claim assessment</a:t>
            </a:r>
          </a:p>
          <a:p>
            <a:pPr>
              <a:spcAft>
                <a:spcPts val="400"/>
              </a:spcAft>
              <a:defRPr sz="1300">
                <a:solidFill>
                  <a:srgbClr val="CCCCCC"/>
                </a:solidFill>
              </a:defRPr>
            </a:pPr>
            <a:r>
              <a:t>• Structured output for CRM integration</a:t>
            </a:r>
          </a:p>
        </p:txBody>
      </p:sp>
      <p:sp>
        <p:nvSpPr>
          <p:cNvPr id="14" name="TextBox 13"/>
          <p:cNvSpPr txBox="1"/>
          <p:nvPr/>
        </p:nvSpPr>
        <p:spPr>
          <a:xfrm>
            <a:off x="457200" y="4114800"/>
            <a:ext cx="10972800" cy="365760"/>
          </a:xfrm>
          <a:prstGeom prst="rect">
            <a:avLst/>
          </a:prstGeom>
          <a:noFill/>
        </p:spPr>
        <p:txBody>
          <a:bodyPr wrap="square">
            <a:spAutoFit/>
          </a:bodyPr>
          <a:lstStyle/>
          <a:p>
            <a:pPr algn="l">
              <a:defRPr sz="2000" b="1">
                <a:solidFill>
                  <a:srgbClr val="FFFFFF"/>
                </a:solidFill>
              </a:defRPr>
            </a:pPr>
            <a:r>
              <a:t>Production Results</a:t>
            </a:r>
          </a:p>
        </p:txBody>
      </p:sp>
      <p:sp>
        <p:nvSpPr>
          <p:cNvPr id="15" name="Rounded Rectangle 14"/>
          <p:cNvSpPr/>
          <p:nvPr/>
        </p:nvSpPr>
        <p:spPr>
          <a:xfrm>
            <a:off x="274320" y="4572000"/>
            <a:ext cx="2194560" cy="1645920"/>
          </a:xfrm>
          <a:prstGeom prst="roundRect">
            <a:avLst/>
          </a:prstGeom>
          <a:solidFill>
            <a:srgbClr val="2A2A45"/>
          </a:solidFill>
          <a:ln w="25400">
            <a:solidFill>
              <a:srgbClr val="007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4709160"/>
            <a:ext cx="2011680" cy="457200"/>
          </a:xfrm>
          <a:prstGeom prst="rect">
            <a:avLst/>
          </a:prstGeom>
          <a:noFill/>
        </p:spPr>
        <p:txBody>
          <a:bodyPr wrap="square">
            <a:spAutoFit/>
          </a:bodyPr>
          <a:lstStyle/>
          <a:p>
            <a:pPr algn="ctr">
              <a:defRPr sz="2800" b="1">
                <a:solidFill>
                  <a:srgbClr val="007ACC"/>
                </a:solidFill>
              </a:defRPr>
            </a:pPr>
            <a:r>
              <a:t>70%</a:t>
            </a:r>
          </a:p>
        </p:txBody>
      </p:sp>
      <p:sp>
        <p:nvSpPr>
          <p:cNvPr id="17" name="TextBox 16"/>
          <p:cNvSpPr txBox="1"/>
          <p:nvPr/>
        </p:nvSpPr>
        <p:spPr>
          <a:xfrm>
            <a:off x="365760" y="5303520"/>
            <a:ext cx="2011680" cy="731520"/>
          </a:xfrm>
          <a:prstGeom prst="rect">
            <a:avLst/>
          </a:prstGeom>
          <a:noFill/>
        </p:spPr>
        <p:txBody>
          <a:bodyPr wrap="square">
            <a:spAutoFit/>
          </a:bodyPr>
          <a:lstStyle/>
          <a:p>
            <a:pPr algn="ctr">
              <a:defRPr sz="1200" b="0">
                <a:solidFill>
                  <a:srgbClr val="CCCCCC"/>
                </a:solidFill>
              </a:defRPr>
            </a:pPr>
            <a:r>
              <a:t>Tickets</a:t>
            </a:r>
            <a:br/>
            <a:r>
              <a:t>Automated</a:t>
            </a:r>
          </a:p>
        </p:txBody>
      </p:sp>
      <p:sp>
        <p:nvSpPr>
          <p:cNvPr id="18" name="Rounded Rectangle 17"/>
          <p:cNvSpPr/>
          <p:nvPr/>
        </p:nvSpPr>
        <p:spPr>
          <a:xfrm>
            <a:off x="2651760" y="4572000"/>
            <a:ext cx="2194560" cy="1645920"/>
          </a:xfrm>
          <a:prstGeom prst="roundRect">
            <a:avLst/>
          </a:prstGeom>
          <a:solidFill>
            <a:srgbClr val="2A2A45"/>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0" y="4709160"/>
            <a:ext cx="2011680" cy="457200"/>
          </a:xfrm>
          <a:prstGeom prst="rect">
            <a:avLst/>
          </a:prstGeom>
          <a:noFill/>
        </p:spPr>
        <p:txBody>
          <a:bodyPr wrap="square">
            <a:spAutoFit/>
          </a:bodyPr>
          <a:lstStyle/>
          <a:p>
            <a:pPr algn="ctr">
              <a:defRPr sz="2800" b="1">
                <a:solidFill>
                  <a:srgbClr val="00BCD4"/>
                </a:solidFill>
              </a:defRPr>
            </a:pPr>
            <a:r>
              <a:t>1.2 hrs</a:t>
            </a:r>
          </a:p>
        </p:txBody>
      </p:sp>
      <p:sp>
        <p:nvSpPr>
          <p:cNvPr id="20" name="TextBox 19"/>
          <p:cNvSpPr txBox="1"/>
          <p:nvPr/>
        </p:nvSpPr>
        <p:spPr>
          <a:xfrm>
            <a:off x="2743200" y="5303520"/>
            <a:ext cx="2011680" cy="731520"/>
          </a:xfrm>
          <a:prstGeom prst="rect">
            <a:avLst/>
          </a:prstGeom>
          <a:noFill/>
        </p:spPr>
        <p:txBody>
          <a:bodyPr wrap="square">
            <a:spAutoFit/>
          </a:bodyPr>
          <a:lstStyle/>
          <a:p>
            <a:pPr algn="ctr">
              <a:defRPr sz="1200" b="0">
                <a:solidFill>
                  <a:srgbClr val="CCCCCC"/>
                </a:solidFill>
              </a:defRPr>
            </a:pPr>
            <a:r>
              <a:t>Avg Resolution</a:t>
            </a:r>
            <a:br/>
            <a:r>
              <a:t>(down from 4.2)</a:t>
            </a:r>
          </a:p>
        </p:txBody>
      </p:sp>
      <p:sp>
        <p:nvSpPr>
          <p:cNvPr id="21" name="Rounded Rectangle 20"/>
          <p:cNvSpPr/>
          <p:nvPr/>
        </p:nvSpPr>
        <p:spPr>
          <a:xfrm>
            <a:off x="5029200" y="4572000"/>
            <a:ext cx="2194560" cy="1645920"/>
          </a:xfrm>
          <a:prstGeom prst="roundRect">
            <a:avLst/>
          </a:prstGeom>
          <a:solidFill>
            <a:srgbClr val="2A2A45"/>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4709160"/>
            <a:ext cx="2011680" cy="457200"/>
          </a:xfrm>
          <a:prstGeom prst="rect">
            <a:avLst/>
          </a:prstGeom>
          <a:noFill/>
        </p:spPr>
        <p:txBody>
          <a:bodyPr wrap="square">
            <a:spAutoFit/>
          </a:bodyPr>
          <a:lstStyle/>
          <a:p>
            <a:pPr algn="ctr">
              <a:defRPr sz="2800" b="1">
                <a:solidFill>
                  <a:srgbClr val="4CAF50"/>
                </a:solidFill>
              </a:defRPr>
            </a:pPr>
            <a:r>
              <a:t>$1.8M</a:t>
            </a:r>
          </a:p>
        </p:txBody>
      </p:sp>
      <p:sp>
        <p:nvSpPr>
          <p:cNvPr id="23" name="TextBox 22"/>
          <p:cNvSpPr txBox="1"/>
          <p:nvPr/>
        </p:nvSpPr>
        <p:spPr>
          <a:xfrm>
            <a:off x="5120640" y="5303520"/>
            <a:ext cx="2011680" cy="731520"/>
          </a:xfrm>
          <a:prstGeom prst="rect">
            <a:avLst/>
          </a:prstGeom>
          <a:noFill/>
        </p:spPr>
        <p:txBody>
          <a:bodyPr wrap="square">
            <a:spAutoFit/>
          </a:bodyPr>
          <a:lstStyle/>
          <a:p>
            <a:pPr algn="ctr">
              <a:defRPr sz="1200" b="0">
                <a:solidFill>
                  <a:srgbClr val="CCCCCC"/>
                </a:solidFill>
              </a:defRPr>
            </a:pPr>
            <a:r>
              <a:t>Annual Savings</a:t>
            </a:r>
            <a:br/>
            <a:r>
              <a:t>(64% cost reduction)</a:t>
            </a:r>
          </a:p>
        </p:txBody>
      </p:sp>
      <p:sp>
        <p:nvSpPr>
          <p:cNvPr id="24" name="Rounded Rectangle 23"/>
          <p:cNvSpPr/>
          <p:nvPr/>
        </p:nvSpPr>
        <p:spPr>
          <a:xfrm>
            <a:off x="7406640" y="4572000"/>
            <a:ext cx="2194560" cy="1645920"/>
          </a:xfrm>
          <a:prstGeom prst="roundRect">
            <a:avLst/>
          </a:prstGeom>
          <a:solidFill>
            <a:srgbClr val="2A2A45"/>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0" y="4709160"/>
            <a:ext cx="2011680" cy="457200"/>
          </a:xfrm>
          <a:prstGeom prst="rect">
            <a:avLst/>
          </a:prstGeom>
          <a:noFill/>
        </p:spPr>
        <p:txBody>
          <a:bodyPr wrap="square">
            <a:spAutoFit/>
          </a:bodyPr>
          <a:lstStyle/>
          <a:p>
            <a:pPr algn="ctr">
              <a:defRPr sz="2800" b="1">
                <a:solidFill>
                  <a:srgbClr val="FF9800"/>
                </a:solidFill>
              </a:defRPr>
            </a:pPr>
            <a:r>
              <a:t>89%</a:t>
            </a:r>
          </a:p>
        </p:txBody>
      </p:sp>
      <p:sp>
        <p:nvSpPr>
          <p:cNvPr id="26" name="TextBox 25"/>
          <p:cNvSpPr txBox="1"/>
          <p:nvPr/>
        </p:nvSpPr>
        <p:spPr>
          <a:xfrm>
            <a:off x="7498080" y="5303520"/>
            <a:ext cx="2011680" cy="731520"/>
          </a:xfrm>
          <a:prstGeom prst="rect">
            <a:avLst/>
          </a:prstGeom>
          <a:noFill/>
        </p:spPr>
        <p:txBody>
          <a:bodyPr wrap="square">
            <a:spAutoFit/>
          </a:bodyPr>
          <a:lstStyle/>
          <a:p>
            <a:pPr algn="ctr">
              <a:defRPr sz="1200" b="0">
                <a:solidFill>
                  <a:srgbClr val="CCCCCC"/>
                </a:solidFill>
              </a:defRPr>
            </a:pPr>
            <a:r>
              <a:t>Customer</a:t>
            </a:r>
            <a:br/>
            <a:r>
              <a:t>Satisfaction</a:t>
            </a:r>
          </a:p>
        </p:txBody>
      </p:sp>
      <p:sp>
        <p:nvSpPr>
          <p:cNvPr id="27" name="Rounded Rectangle 26"/>
          <p:cNvSpPr/>
          <p:nvPr/>
        </p:nvSpPr>
        <p:spPr>
          <a:xfrm>
            <a:off x="9784080" y="4572000"/>
            <a:ext cx="2194560" cy="1645920"/>
          </a:xfrm>
          <a:prstGeom prst="roundRect">
            <a:avLst/>
          </a:prstGeom>
          <a:solidFill>
            <a:srgbClr val="2A2A45"/>
          </a:solidFill>
          <a:ln w="2540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0" y="4709160"/>
            <a:ext cx="2011680" cy="457200"/>
          </a:xfrm>
          <a:prstGeom prst="rect">
            <a:avLst/>
          </a:prstGeom>
          <a:noFill/>
        </p:spPr>
        <p:txBody>
          <a:bodyPr wrap="square">
            <a:spAutoFit/>
          </a:bodyPr>
          <a:lstStyle/>
          <a:p>
            <a:pPr algn="ctr">
              <a:defRPr sz="2800" b="1">
                <a:solidFill>
                  <a:srgbClr val="9C27B0"/>
                </a:solidFill>
              </a:defRPr>
            </a:pPr>
            <a:r>
              <a:t>99.7%</a:t>
            </a:r>
          </a:p>
        </p:txBody>
      </p:sp>
      <p:sp>
        <p:nvSpPr>
          <p:cNvPr id="29" name="TextBox 28"/>
          <p:cNvSpPr txBox="1"/>
          <p:nvPr/>
        </p:nvSpPr>
        <p:spPr>
          <a:xfrm>
            <a:off x="9875520" y="5303520"/>
            <a:ext cx="2011680" cy="731520"/>
          </a:xfrm>
          <a:prstGeom prst="rect">
            <a:avLst/>
          </a:prstGeom>
          <a:noFill/>
        </p:spPr>
        <p:txBody>
          <a:bodyPr wrap="square">
            <a:spAutoFit/>
          </a:bodyPr>
          <a:lstStyle/>
          <a:p>
            <a:pPr algn="ctr">
              <a:defRPr sz="1200" b="0">
                <a:solidFill>
                  <a:srgbClr val="CCCCCC"/>
                </a:solidFill>
              </a:defRPr>
            </a:pPr>
            <a:r>
              <a:t>System</a:t>
            </a:r>
            <a:br/>
            <a:r>
              <a:t>Uptime</a:t>
            </a:r>
          </a:p>
        </p:txBody>
      </p:sp>
      <p:sp>
        <p:nvSpPr>
          <p:cNvPr id="30" name="TextBox 29"/>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18/20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65760"/>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SUMMARY</a:t>
            </a:r>
          </a:p>
        </p:txBody>
      </p:sp>
      <p:sp>
        <p:nvSpPr>
          <p:cNvPr id="4" name="TextBox 3"/>
          <p:cNvSpPr txBox="1"/>
          <p:nvPr/>
        </p:nvSpPr>
        <p:spPr>
          <a:xfrm>
            <a:off x="457200" y="914400"/>
            <a:ext cx="10972800" cy="731520"/>
          </a:xfrm>
          <a:prstGeom prst="rect">
            <a:avLst/>
          </a:prstGeom>
          <a:noFill/>
        </p:spPr>
        <p:txBody>
          <a:bodyPr wrap="square">
            <a:spAutoFit/>
          </a:bodyPr>
          <a:lstStyle/>
          <a:p>
            <a:pPr algn="l">
              <a:defRPr sz="3600" b="1">
                <a:solidFill>
                  <a:srgbClr val="FFFFFF"/>
                </a:solidFill>
              </a:defRPr>
            </a:pPr>
            <a:r>
              <a:t>Key Takeaways</a:t>
            </a:r>
          </a:p>
        </p:txBody>
      </p:sp>
      <p:sp>
        <p:nvSpPr>
          <p:cNvPr id="5" name="Rounded Rectangle 4"/>
          <p:cNvSpPr/>
          <p:nvPr/>
        </p:nvSpPr>
        <p:spPr>
          <a:xfrm>
            <a:off x="457200" y="1828800"/>
            <a:ext cx="457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6" name="TextBox 5"/>
          <p:cNvSpPr txBox="1"/>
          <p:nvPr/>
        </p:nvSpPr>
        <p:spPr>
          <a:xfrm>
            <a:off x="1188720" y="1874520"/>
            <a:ext cx="10515600" cy="457200"/>
          </a:xfrm>
          <a:prstGeom prst="rect">
            <a:avLst/>
          </a:prstGeom>
          <a:noFill/>
        </p:spPr>
        <p:txBody>
          <a:bodyPr wrap="square">
            <a:spAutoFit/>
          </a:bodyPr>
          <a:lstStyle/>
          <a:p>
            <a:pPr algn="l">
              <a:defRPr sz="1600" b="0">
                <a:solidFill>
                  <a:srgbClr val="FFFFFF"/>
                </a:solidFill>
              </a:defRPr>
            </a:pPr>
            <a:r>
              <a:t>Generative AI creates novel content using learned data distributions; LLMs are transformer-based models with broad capabilities and important limitations</a:t>
            </a:r>
          </a:p>
        </p:txBody>
      </p:sp>
      <p:sp>
        <p:nvSpPr>
          <p:cNvPr id="7" name="Rounded Rectangle 6"/>
          <p:cNvSpPr/>
          <p:nvPr/>
        </p:nvSpPr>
        <p:spPr>
          <a:xfrm>
            <a:off x="457200" y="2788920"/>
            <a:ext cx="457200" cy="457200"/>
          </a:xfrm>
          <a:prstGeom prst="round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8" name="TextBox 7"/>
          <p:cNvSpPr txBox="1"/>
          <p:nvPr/>
        </p:nvSpPr>
        <p:spPr>
          <a:xfrm>
            <a:off x="1188720" y="2834640"/>
            <a:ext cx="10515600" cy="457200"/>
          </a:xfrm>
          <a:prstGeom prst="rect">
            <a:avLst/>
          </a:prstGeom>
          <a:noFill/>
        </p:spPr>
        <p:txBody>
          <a:bodyPr wrap="square">
            <a:spAutoFit/>
          </a:bodyPr>
          <a:lstStyle/>
          <a:p>
            <a:pPr algn="l">
              <a:defRPr sz="1600" b="0">
                <a:solidFill>
                  <a:srgbClr val="FFFFFF"/>
                </a:solidFill>
              </a:defRPr>
            </a:pPr>
            <a:r>
              <a:t>Prompt engineering is essential — master zero-shot, few-shot, chain-of-thought, ReAct, and structured output techniques</a:t>
            </a:r>
          </a:p>
        </p:txBody>
      </p:sp>
      <p:sp>
        <p:nvSpPr>
          <p:cNvPr id="9" name="Rounded Rectangle 8"/>
          <p:cNvSpPr/>
          <p:nvPr/>
        </p:nvSpPr>
        <p:spPr>
          <a:xfrm>
            <a:off x="457200" y="3749040"/>
            <a:ext cx="457200" cy="4572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0" name="TextBox 9"/>
          <p:cNvSpPr txBox="1"/>
          <p:nvPr/>
        </p:nvSpPr>
        <p:spPr>
          <a:xfrm>
            <a:off x="1188720" y="3794760"/>
            <a:ext cx="10515600" cy="457200"/>
          </a:xfrm>
          <a:prstGeom prst="rect">
            <a:avLst/>
          </a:prstGeom>
          <a:noFill/>
        </p:spPr>
        <p:txBody>
          <a:bodyPr wrap="square">
            <a:spAutoFit/>
          </a:bodyPr>
          <a:lstStyle/>
          <a:p>
            <a:pPr algn="l">
              <a:defRPr sz="1600" b="0">
                <a:solidFill>
                  <a:srgbClr val="FFFFFF"/>
                </a:solidFill>
              </a:defRPr>
            </a:pPr>
            <a:r>
              <a:t>LLMs accelerate data analysis through SQL generation, visualization code, and statistical assistance — but always validate outputs</a:t>
            </a:r>
          </a:p>
        </p:txBody>
      </p:sp>
      <p:sp>
        <p:nvSpPr>
          <p:cNvPr id="11" name="Rounded Rectangle 10"/>
          <p:cNvSpPr/>
          <p:nvPr/>
        </p:nvSpPr>
        <p:spPr>
          <a:xfrm>
            <a:off x="457200" y="4709160"/>
            <a:ext cx="457200" cy="457200"/>
          </a:xfrm>
          <a:prstGeom prst="round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12" name="TextBox 11"/>
          <p:cNvSpPr txBox="1"/>
          <p:nvPr/>
        </p:nvSpPr>
        <p:spPr>
          <a:xfrm>
            <a:off x="1188720" y="4754880"/>
            <a:ext cx="10515600" cy="457200"/>
          </a:xfrm>
          <a:prstGeom prst="rect">
            <a:avLst/>
          </a:prstGeom>
          <a:noFill/>
        </p:spPr>
        <p:txBody>
          <a:bodyPr wrap="square">
            <a:spAutoFit/>
          </a:bodyPr>
          <a:lstStyle/>
          <a:p>
            <a:pPr algn="l">
              <a:defRPr sz="1600" b="0">
                <a:solidFill>
                  <a:srgbClr val="FFFFFF"/>
                </a:solidFill>
              </a:defRPr>
            </a:pPr>
            <a:r>
              <a:t>Ethical AI requires addressing bias, ensuring transparency, protecting privacy, and complying with evolving regulations</a:t>
            </a:r>
          </a:p>
        </p:txBody>
      </p:sp>
      <p:sp>
        <p:nvSpPr>
          <p:cNvPr id="13" name="Rounded Rectangle 12"/>
          <p:cNvSpPr/>
          <p:nvPr/>
        </p:nvSpPr>
        <p:spPr>
          <a:xfrm>
            <a:off x="457200" y="5669280"/>
            <a:ext cx="457200" cy="45720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14" name="TextBox 13"/>
          <p:cNvSpPr txBox="1"/>
          <p:nvPr/>
        </p:nvSpPr>
        <p:spPr>
          <a:xfrm>
            <a:off x="1188720" y="5715000"/>
            <a:ext cx="10515600" cy="457200"/>
          </a:xfrm>
          <a:prstGeom prst="rect">
            <a:avLst/>
          </a:prstGeom>
          <a:noFill/>
        </p:spPr>
        <p:txBody>
          <a:bodyPr wrap="square">
            <a:spAutoFit/>
          </a:bodyPr>
          <a:lstStyle/>
          <a:p>
            <a:pPr algn="l">
              <a:defRPr sz="1600" b="0">
                <a:solidFill>
                  <a:srgbClr val="FFFFFF"/>
                </a:solidFill>
              </a:defRPr>
            </a:pPr>
            <a:r>
              <a:t>Production deployment demands reliability, monitoring, cost management, security, and human oversight for high-stakes decisions</a:t>
            </a:r>
          </a:p>
        </p:txBody>
      </p:sp>
      <p:sp>
        <p:nvSpPr>
          <p:cNvPr id="15" name="TextBox 14"/>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19/20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1828800" y="2286000"/>
            <a:ext cx="85340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914400"/>
          </a:xfrm>
          <a:prstGeom prst="rect">
            <a:avLst/>
          </a:prstGeom>
          <a:noFill/>
        </p:spPr>
        <p:txBody>
          <a:bodyPr wrap="square">
            <a:spAutoFit/>
          </a:bodyPr>
          <a:lstStyle/>
          <a:p>
            <a:pPr algn="ctr">
              <a:defRPr sz="4800" b="1">
                <a:solidFill>
                  <a:srgbClr val="FFFFFF"/>
                </a:solidFill>
              </a:defRPr>
            </a:pPr>
            <a:r>
              <a:t>Thank You</a:t>
            </a:r>
          </a:p>
        </p:txBody>
      </p:sp>
      <p:sp>
        <p:nvSpPr>
          <p:cNvPr id="4" name="TextBox 3"/>
          <p:cNvSpPr txBox="1"/>
          <p:nvPr/>
        </p:nvSpPr>
        <p:spPr>
          <a:xfrm>
            <a:off x="0" y="3474720"/>
            <a:ext cx="12191695" cy="548640"/>
          </a:xfrm>
          <a:prstGeom prst="rect">
            <a:avLst/>
          </a:prstGeom>
          <a:noFill/>
        </p:spPr>
        <p:txBody>
          <a:bodyPr wrap="square">
            <a:spAutoFit/>
          </a:bodyPr>
          <a:lstStyle/>
          <a:p>
            <a:pPr algn="ctr">
              <a:defRPr sz="2400" b="0">
                <a:solidFill>
                  <a:srgbClr val="00BCD4"/>
                </a:solidFill>
              </a:defRPr>
            </a:pPr>
            <a:r>
              <a:t>Questions &amp; Discussion</a:t>
            </a:r>
          </a:p>
        </p:txBody>
      </p:sp>
      <p:sp>
        <p:nvSpPr>
          <p:cNvPr id="5" name="Rectangle 4"/>
          <p:cNvSpPr/>
          <p:nvPr/>
        </p:nvSpPr>
        <p:spPr>
          <a:xfrm>
            <a:off x="1828800" y="4206240"/>
            <a:ext cx="8534095" cy="36576"/>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4572000"/>
            <a:ext cx="12191695" cy="457200"/>
          </a:xfrm>
          <a:prstGeom prst="rect">
            <a:avLst/>
          </a:prstGeom>
          <a:noFill/>
        </p:spPr>
        <p:txBody>
          <a:bodyPr wrap="square">
            <a:spAutoFit/>
          </a:bodyPr>
          <a:lstStyle/>
          <a:p>
            <a:pPr algn="ctr">
              <a:defRPr sz="1600" b="0">
                <a:solidFill>
                  <a:srgbClr val="CCCCCC"/>
                </a:solidFill>
              </a:defRPr>
            </a:pPr>
            <a:r>
              <a:t>Next: Module 2 — LangChain &amp; Building Blocks</a:t>
            </a:r>
          </a:p>
        </p:txBody>
      </p:sp>
      <p:sp>
        <p:nvSpPr>
          <p:cNvPr id="7" name="TextBox 6"/>
          <p:cNvSpPr txBox="1"/>
          <p:nvPr/>
        </p:nvSpPr>
        <p:spPr>
          <a:xfrm>
            <a:off x="0" y="5029200"/>
            <a:ext cx="12191695" cy="457200"/>
          </a:xfrm>
          <a:prstGeom prst="rect">
            <a:avLst/>
          </a:prstGeom>
          <a:noFill/>
        </p:spPr>
        <p:txBody>
          <a:bodyPr wrap="square">
            <a:spAutoFit/>
          </a:bodyPr>
          <a:lstStyle/>
          <a:p>
            <a:pPr algn="ctr">
              <a:defRPr sz="1400" b="0">
                <a:solidFill>
                  <a:srgbClr val="CCCCCC"/>
                </a:solidFill>
              </a:defRPr>
            </a:pPr>
            <a:r>
              <a:t>Applied AI Course  |  Part 1: Foundations</a:t>
            </a:r>
          </a:p>
        </p:txBody>
      </p:sp>
      <p:sp>
        <p:nvSpPr>
          <p:cNvPr id="8" name="TextBox 7"/>
          <p:cNvSpPr txBox="1"/>
          <p:nvPr/>
        </p:nvSpPr>
        <p:spPr>
          <a:xfrm>
            <a:off x="11155680" y="6400800"/>
            <a:ext cx="914400" cy="365760"/>
          </a:xfrm>
          <a:prstGeom prst="rect">
            <a:avLst/>
          </a:prstGeom>
          <a:noFill/>
        </p:spPr>
        <p:txBody>
          <a:bodyPr wrap="none">
            <a:spAutoFit/>
          </a:bodyPr>
          <a:lstStyle/>
          <a:p>
            <a:pPr algn="r">
              <a:defRPr sz="1000">
                <a:solidFill>
                  <a:srgbClr val="CCCCCC"/>
                </a:solidFill>
              </a:defRPr>
            </a:pPr>
            <a:r>
              <a:t>20/20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
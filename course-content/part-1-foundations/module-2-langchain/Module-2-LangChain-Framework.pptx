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2 of the Applied AI course. This module covers the LangChain framework — an open-source framework for building LLM-powered applications. We'll cover the architecture, building blocks (prompts, parsers, chains), chat models, memory systems, tools &amp; agents, best practices, and conclude with an enterprise scenario demonstrating production-grade LangChain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provides a modular architecture with four layers: Provider Layer (OpenAI, Anthropic, Google), Integration Layer (Models, Prompts, Memory, Tools, Vector Stores), Orchestration Layer (Chains, Agents, Graphs), and Application Layer (Chatbots, RAG Systems, Agents). It has 9 core components and uses LCEL (LangChain Expression Language) with the pipe operator for declarative composition. Over 100 integrations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LangChain's architecture has four layers. Bottom-up: Provider Layer wraps model APIs (OpenAI, Anthropic, Google, HuggingFace). Integration Layer provides core abstractions (Models, Prompts, Memory, Tools, Vector Stores, Output Parsers). Orchestration Layer handles workflow logic through Chains, Agents, and Graphs. Application Layer is the end-user interface — chatbots, RAG systems, autonomous agents. This layered design enables swapping any component without affecting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LCEL (LangChain Expression Language) is the modern way to compose chains. It uses the pipe operator (|) to connect components declaratively. Key benefits: built-in streaming for real-time output, async support with ainvoke()/astream(), parallel execution with RunnableParallel, fallbacks with .with_fallbacks(), and retries. This replaces the legacy LLMChain class. The syntax chain = prompt | model | parser reads left-to-right like a data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Templates are the input layer of every LangChain chain. PromptTemplate is for simple text completion with {variable} placeholders. ChatPromptTemplate uses message roles (system, human, AI) — this is the standard for modern chat models like GPT-4 and Claude. Few-shot prompting embeds examples directly in the template. Dynamic placeholders with .partial() let you pre-fill some variables and defer others to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parsers transform raw LLM text into structured formats. StrOutputParser is the simplest — just strips whitespace. JsonOutputParser extracts JSON and optionally validates against a Pydantic schema. PydanticOutputParser returns typed Pydantic model instances with full validation and IDE autocomplete. ListOutputParser handles comma-separated values. For production, always use PydanticOutputParser or with_structured_output() for reliable, type-safe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chains have evolved. Legacy classes (LLMChain, SequentialChain, ConversationChain) are deprecated. Modern LCEL provides: simple chains with the pipe operator, sequential chains using dict-based routing, parallel execution with RunnableParallel. LCEL chains have built-in streaming, async support, fallbacks, and retries. Always use LCEL for new projects — it's cleaner, more composable, and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models in LangChain use structured messages (System, Human, AI) instead of raw text. Streaming with .stream() enables real-time token-by-token output for responsive UIs. Async support with ainvoke()/astream() allows concurrent model calls using asyncio.gather(). Key parameters: temperature (0-1 creativity), max_tokens (output limit), top_p (nucleus sampling), seed (reproducibility), timeout, max_retries. Multi-model chains can route different tasks to different providers (OpenAI for factual, Anthropic for creative, Google for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critical capabilities that elevate LLM apps from simple text-in/text-out to intelligent systems. Memory provides conversation continuity. Tools give the LLM access to external functions. Agents combine reasoning with tool use to autonomously solve complex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types trade off between completeness and efficiency. ConversationBufferMemory stores everything — simple but expensive for long conversations. ConversationBufferWindowMemory keeps a sliding window of the last N turns. ConversationSummaryMemory uses an LLM to maintain a running summary, compressing history. ConversationSummaryBufferMemory combines both — summarizes old messages, keeps recent ones in full. VectorStoreRetrieverMemory uses semantic search to retrieve only relevant past exchanges. Choose based on your use case: window for short chats, summary for long conversations, vector for knowledge-heavy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functions decorated with @tool that agents can invoke. The docstring becomes the tool description the LLM sees, and type hints define the parameters. Agents use an LLM to decide which tools to call and in what order — the classic Thought → Action → Observation loop. AgentExecutor runs this loop with error handling. Agent types: Tool Calling Agent uses native function calling (modern LLMs), ReAct Agent for complex reasoning, Plan-and-Execute for strategic tasks, Self-Ask for multi-hop reasoning. Agents with memory maintain conversation state across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agent types in LangChain. Tool Calling Agent uses native function calling APIs (recommended for GPT-4, Claude). ReAct Agent implements the Thought-Action-Observation loop for complex reasoning. Plan-and-Execute creates a strategy before acting. Self-Ask decomposes questions into sub-questions. For production: start with Tool Calling Agent, add memory for conversation state, enable error handling with handle_parsing_errors=True, and use verbose=True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10 best practices for production LangChain applications: LCEL over legacy chains, error handling, fallbacks, retries, token optimization, structured output, callbacks, parallel execution, caching,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essential best practices. 1. Always use LCEL (pipe operator) instead of legacy LLMChain. 2. Wrap parsers in try/except for error handling. 3. Use .with_fallbacks() for model redundancy. 4. Implement retries with exponential backoff using tenacity. 5. Optimize tokens with chunking and summarization. 6. Use with_structured_output() for type-safe extraction. 7. Add callbacks for monitoring and logging. 8. Use RunnableParallel for concurrent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Never hardcode API keys — use os.getenv() or python-dotenv. Sanitize user inputs to prevent prompt injection. Validate all LLM outputs with Pydantic schemas before using them. Never execute unvalidated code from LLM outputs. Performance: Use caching (InMemoryCache for speed, SQLiteCache for persistence) — identical prompts return cached results. Run parallel chains with RunnableParallel for concurrent execution. Optimize tokens by chunking documents with RecursiveCharacterTextSplitter and summarizing conversation history instead of passing full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hands-on mini-projects progressively build skills. Project 1: Conversational chatbot with BufferMemory and personality system prompt. Project 2: Text summarizer using map-reduce pattern for long documents. Project 3: Document Q&amp;A system with FAISS vector store and retriever chain (proto-RAG). Project 4: Restaurant waiter bot with @tool decorator and AgentExecutor. Project 5: Travel planner with 4 custom tools (destination info, cost estimation, itinerary generation, travel tips). Each project reinforces specific LangChain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apply everything we've learned to a real enterprise scenario. Meridian Capital, a mid-size investment firm, needs to automate their quarterly earnings analysis workflow. Analysts spend 15+ hours per week reading 10-K/10-Q filings, extracting financial metrics, comparing across quarters, and writing summary reports. We'll build a LangChain-based system that handles document ingestion, structured extraction, cross-period comparison, and report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Capital's solution uses a LangChain pipeline: PyPDFLoader reads 10-K/10-Q filings, RecursiveCharacterTextSplitter chunks them, a PydanticOutputParser extracts structured financial metrics (revenue, EPS, margins, guidance), sequential chains compare across quarters, and a final chain generates the analyst report. Results: 85% time reduction (15hrs → 2hrs), 99.2% extraction accuracy, $420K annual savings, same-day turnaround. The system processes each filing in 2.3 seconds and runs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takeaways from Module 2. 1. LangChain's modular architecture enables swapping any component. 2. LCEL is the modern standard — always use pipe operator chains. 3. Pydantic output parsers ensure type-safe extraction. 4. Choose memory type based on conversation length and token budget. 5. Agents + Tools create autonomous systems — start simple with Tool Calling Agent. 6. Production systems need caching, fallbacks, retries, and monitoring. These foundations prepare you for Module 3 (RAG &amp; Vector Databases) and Module 4 (Agentic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Module 2. Students should review the concepts, interview questions (28 questions from beginner to advanced), and take the quiz (20 questions). The mini-projects provide hands-on practice. Next module covers RAG (Retrieval-Augmented Generation) and Vector Databases — building on the chains, memory, and tool foundations from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E3A5F"/>
          </a:solidFill>
          <a:ln/>
        </p:spPr>
      </p:sp>
      <p:sp>
        <p:nvSpPr>
          <p:cNvPr id="3" name="Shape 1"/>
          <p:cNvSpPr/>
          <p:nvPr/>
        </p:nvSpPr>
        <p:spPr>
          <a:xfrm>
            <a:off x="4114800" y="0"/>
            <a:ext cx="73152" cy="5143500"/>
          </a:xfrm>
          <a:prstGeom prst="rect">
            <a:avLst/>
          </a:prstGeom>
          <a:solidFill>
            <a:srgbClr val="0D9488"/>
          </a:solidFill>
          <a:ln/>
        </p:spPr>
      </p:sp>
      <p:sp>
        <p:nvSpPr>
          <p:cNvPr id="4" name="Text 2"/>
          <p:cNvSpPr/>
          <p:nvPr/>
        </p:nvSpPr>
        <p:spPr>
          <a:xfrm>
            <a:off x="457200" y="1097280"/>
            <a:ext cx="3200400" cy="36576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MODULE 2</a:t>
            </a:r>
            <a:endParaRPr lang="en-US" sz="1200" dirty="0"/>
          </a:p>
        </p:txBody>
      </p:sp>
      <p:sp>
        <p:nvSpPr>
          <p:cNvPr id="5" name="Text 3"/>
          <p:cNvSpPr/>
          <p:nvPr/>
        </p:nvSpPr>
        <p:spPr>
          <a:xfrm>
            <a:off x="457200" y="1554480"/>
            <a:ext cx="3200400" cy="12801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LangChain</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Framework</a:t>
            </a:r>
            <a:endParaRPr lang="en-US" sz="3200" dirty="0"/>
          </a:p>
        </p:txBody>
      </p:sp>
      <p:sp>
        <p:nvSpPr>
          <p:cNvPr id="6" name="Text 4"/>
          <p:cNvSpPr/>
          <p:nvPr/>
        </p:nvSpPr>
        <p:spPr>
          <a:xfrm>
            <a:off x="457200" y="2926080"/>
            <a:ext cx="3200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Building Blocks &amp; Architecture</a:t>
            </a:r>
            <a:endParaRPr lang="en-US" sz="1300" dirty="0"/>
          </a:p>
        </p:txBody>
      </p:sp>
      <p:sp>
        <p:nvSpPr>
          <p:cNvPr id="7" name="Text 5"/>
          <p:cNvSpPr/>
          <p:nvPr/>
        </p:nvSpPr>
        <p:spPr>
          <a:xfrm>
            <a:off x="457200" y="3657600"/>
            <a:ext cx="3200400" cy="9144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Applied AI Course</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Part 1: Foundations</a:t>
            </a:r>
            <a:endParaRPr lang="en-US" sz="1100" dirty="0"/>
          </a:p>
          <a:p>
            <a:pPr indent="0" marL="0">
              <a:buNone/>
            </a:pPr>
            <a:r>
              <a:rPr lang="en-US" sz="1100" dirty="0">
                <a:solidFill>
                  <a:srgbClr val="0D9488"/>
                </a:solidFill>
                <a:latin typeface="Calibri" pitchFamily="34" charset="0"/>
                <a:ea typeface="Calibri" pitchFamily="34" charset="-122"/>
                <a:cs typeface="Calibri" pitchFamily="34" charset="-120"/>
              </a:rPr>
              <a:t>2026</a:t>
            </a:r>
            <a:endParaRPr lang="en-US" sz="1100" dirty="0"/>
          </a:p>
        </p:txBody>
      </p:sp>
      <p:sp>
        <p:nvSpPr>
          <p:cNvPr id="8" name="Text 6"/>
          <p:cNvSpPr/>
          <p:nvPr/>
        </p:nvSpPr>
        <p:spPr>
          <a:xfrm>
            <a:off x="4572000" y="731520"/>
            <a:ext cx="4114800" cy="457200"/>
          </a:xfrm>
          <a:prstGeom prst="rect">
            <a:avLst/>
          </a:prstGeom>
          <a:noFill/>
          <a:ln/>
        </p:spPr>
        <p:txBody>
          <a:bodyPr wrap="square" lIns="0" tIns="0" rIns="0" bIns="0" rtlCol="0" anchor="ctr"/>
          <a:lstStyle/>
          <a:p>
            <a:pPr indent="0" marL="0">
              <a:buNone/>
            </a:pPr>
            <a:r>
              <a:rPr lang="en-US" sz="1400" b="1" spc="400" kern="0" dirty="0">
                <a:solidFill>
                  <a:srgbClr val="0D9488"/>
                </a:solidFill>
                <a:latin typeface="Calibri" pitchFamily="34" charset="0"/>
                <a:ea typeface="Calibri" pitchFamily="34" charset="-122"/>
                <a:cs typeface="Calibri" pitchFamily="34" charset="-120"/>
              </a:rPr>
              <a:t>AGENDA</a:t>
            </a:r>
            <a:endParaRPr lang="en-US" sz="1400" dirty="0"/>
          </a:p>
        </p:txBody>
      </p:sp>
      <p:sp>
        <p:nvSpPr>
          <p:cNvPr id="9" name="Text 7"/>
          <p:cNvSpPr/>
          <p:nvPr/>
        </p:nvSpPr>
        <p:spPr>
          <a:xfrm>
            <a:off x="4572000" y="1371600"/>
            <a:ext cx="548640" cy="365760"/>
          </a:xfrm>
          <a:prstGeom prst="rect">
            <a:avLst/>
          </a:prstGeom>
          <a:noFill/>
          <a:ln/>
        </p:spPr>
        <p:txBody>
          <a:bodyPr wrap="square" lIns="0" tIns="0" rIns="0" bIns="0" rtlCol="0" anchor="ctr"/>
          <a:lstStyle/>
          <a:p>
            <a:pPr indent="0" marL="0">
              <a:buNone/>
            </a:pPr>
            <a:r>
              <a:rPr lang="en-US" sz="2000" b="1" dirty="0">
                <a:solidFill>
                  <a:srgbClr val="0D9488"/>
                </a:solidFill>
                <a:latin typeface="Georgia" pitchFamily="34" charset="0"/>
                <a:ea typeface="Georgia" pitchFamily="34" charset="-122"/>
                <a:cs typeface="Georgia" pitchFamily="34" charset="-120"/>
              </a:rPr>
              <a:t>01</a:t>
            </a:r>
            <a:endParaRPr lang="en-US" sz="2000" dirty="0"/>
          </a:p>
        </p:txBody>
      </p:sp>
      <p:sp>
        <p:nvSpPr>
          <p:cNvPr id="10" name="Text 8"/>
          <p:cNvSpPr/>
          <p:nvPr/>
        </p:nvSpPr>
        <p:spPr>
          <a:xfrm>
            <a:off x="5212080" y="141732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LangChain Overview &amp; Architecture</a:t>
            </a:r>
            <a:endParaRPr lang="en-US" sz="1400" dirty="0"/>
          </a:p>
        </p:txBody>
      </p:sp>
      <p:sp>
        <p:nvSpPr>
          <p:cNvPr id="11" name="Text 9"/>
          <p:cNvSpPr/>
          <p:nvPr/>
        </p:nvSpPr>
        <p:spPr>
          <a:xfrm>
            <a:off x="4572000" y="1938528"/>
            <a:ext cx="548640" cy="365760"/>
          </a:xfrm>
          <a:prstGeom prst="rect">
            <a:avLst/>
          </a:prstGeom>
          <a:noFill/>
          <a:ln/>
        </p:spPr>
        <p:txBody>
          <a:bodyPr wrap="square" lIns="0" tIns="0" rIns="0" bIns="0" rtlCol="0" anchor="ctr"/>
          <a:lstStyle/>
          <a:p>
            <a:pPr indent="0" marL="0">
              <a:buNone/>
            </a:pPr>
            <a:r>
              <a:rPr lang="en-US" sz="2000" b="1" dirty="0">
                <a:solidFill>
                  <a:srgbClr val="F97316"/>
                </a:solidFill>
                <a:latin typeface="Georgia" pitchFamily="34" charset="0"/>
                <a:ea typeface="Georgia" pitchFamily="34" charset="-122"/>
                <a:cs typeface="Georgia" pitchFamily="34" charset="-120"/>
              </a:rPr>
              <a:t>02</a:t>
            </a:r>
            <a:endParaRPr lang="en-US" sz="2000" dirty="0"/>
          </a:p>
        </p:txBody>
      </p:sp>
      <p:sp>
        <p:nvSpPr>
          <p:cNvPr id="12" name="Text 10"/>
          <p:cNvSpPr/>
          <p:nvPr/>
        </p:nvSpPr>
        <p:spPr>
          <a:xfrm>
            <a:off x="5212080" y="1984248"/>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Building Blocks: Chains, Prompts, Parsers</a:t>
            </a:r>
            <a:endParaRPr lang="en-US" sz="1400" dirty="0"/>
          </a:p>
        </p:txBody>
      </p:sp>
      <p:sp>
        <p:nvSpPr>
          <p:cNvPr id="13" name="Text 11"/>
          <p:cNvSpPr/>
          <p:nvPr/>
        </p:nvSpPr>
        <p:spPr>
          <a:xfrm>
            <a:off x="4572000" y="2505456"/>
            <a:ext cx="548640" cy="365760"/>
          </a:xfrm>
          <a:prstGeom prst="rect">
            <a:avLst/>
          </a:prstGeom>
          <a:noFill/>
          <a:ln/>
        </p:spPr>
        <p:txBody>
          <a:bodyPr wrap="square" lIns="0" tIns="0" rIns="0" bIns="0" rtlCol="0" anchor="ctr"/>
          <a:lstStyle/>
          <a:p>
            <a:pPr indent="0" marL="0">
              <a:buNone/>
            </a:pPr>
            <a:r>
              <a:rPr lang="en-US" sz="2000" b="1" dirty="0">
                <a:solidFill>
                  <a:srgbClr val="8B5CF6"/>
                </a:solidFill>
                <a:latin typeface="Georgia" pitchFamily="34" charset="0"/>
                <a:ea typeface="Georgia" pitchFamily="34" charset="-122"/>
                <a:cs typeface="Georgia" pitchFamily="34" charset="-120"/>
              </a:rPr>
              <a:t>03</a:t>
            </a:r>
            <a:endParaRPr lang="en-US" sz="2000" dirty="0"/>
          </a:p>
        </p:txBody>
      </p:sp>
      <p:sp>
        <p:nvSpPr>
          <p:cNvPr id="14" name="Text 12"/>
          <p:cNvSpPr/>
          <p:nvPr/>
        </p:nvSpPr>
        <p:spPr>
          <a:xfrm>
            <a:off x="5212080" y="2551176"/>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Chat Models &amp; Chains</a:t>
            </a:r>
            <a:endParaRPr lang="en-US" sz="1400" dirty="0"/>
          </a:p>
        </p:txBody>
      </p:sp>
      <p:sp>
        <p:nvSpPr>
          <p:cNvPr id="15" name="Text 13"/>
          <p:cNvSpPr/>
          <p:nvPr/>
        </p:nvSpPr>
        <p:spPr>
          <a:xfrm>
            <a:off x="4572000" y="3072384"/>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Georgia" pitchFamily="34" charset="0"/>
                <a:ea typeface="Georgia" pitchFamily="34" charset="-122"/>
                <a:cs typeface="Georgia" pitchFamily="34" charset="-120"/>
              </a:rPr>
              <a:t>04</a:t>
            </a:r>
            <a:endParaRPr lang="en-US" sz="2000" dirty="0"/>
          </a:p>
        </p:txBody>
      </p:sp>
      <p:sp>
        <p:nvSpPr>
          <p:cNvPr id="16" name="Text 14"/>
          <p:cNvSpPr/>
          <p:nvPr/>
        </p:nvSpPr>
        <p:spPr>
          <a:xfrm>
            <a:off x="5212080" y="3118104"/>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Memory, Tools &amp; Agents</a:t>
            </a:r>
            <a:endParaRPr lang="en-US" sz="1400" dirty="0"/>
          </a:p>
        </p:txBody>
      </p:sp>
      <p:sp>
        <p:nvSpPr>
          <p:cNvPr id="17" name="Text 15"/>
          <p:cNvSpPr/>
          <p:nvPr/>
        </p:nvSpPr>
        <p:spPr>
          <a:xfrm>
            <a:off x="4572000" y="3639312"/>
            <a:ext cx="548640" cy="365760"/>
          </a:xfrm>
          <a:prstGeom prst="rect">
            <a:avLst/>
          </a:prstGeom>
          <a:noFill/>
          <a:ln/>
        </p:spPr>
        <p:txBody>
          <a:bodyPr wrap="square" lIns="0" tIns="0" rIns="0" bIns="0" rtlCol="0" anchor="ctr"/>
          <a:lstStyle/>
          <a:p>
            <a:pPr indent="0" marL="0">
              <a:buNone/>
            </a:pPr>
            <a:r>
              <a:rPr lang="en-US" sz="2000" b="1" dirty="0">
                <a:solidFill>
                  <a:srgbClr val="0D9488"/>
                </a:solidFill>
                <a:latin typeface="Georgia" pitchFamily="34" charset="0"/>
                <a:ea typeface="Georgia" pitchFamily="34" charset="-122"/>
                <a:cs typeface="Georgia" pitchFamily="34" charset="-120"/>
              </a:rPr>
              <a:t>05</a:t>
            </a:r>
            <a:endParaRPr lang="en-US" sz="2000" dirty="0"/>
          </a:p>
        </p:txBody>
      </p:sp>
      <p:sp>
        <p:nvSpPr>
          <p:cNvPr id="18" name="Text 16"/>
          <p:cNvSpPr/>
          <p:nvPr/>
        </p:nvSpPr>
        <p:spPr>
          <a:xfrm>
            <a:off x="5212080" y="3685032"/>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Patterns &amp; Best Practices</a:t>
            </a:r>
            <a:endParaRPr lang="en-US" sz="1400" dirty="0"/>
          </a:p>
        </p:txBody>
      </p:sp>
      <p:sp>
        <p:nvSpPr>
          <p:cNvPr id="19" name="Text 17"/>
          <p:cNvSpPr/>
          <p:nvPr/>
        </p:nvSpPr>
        <p:spPr>
          <a:xfrm>
            <a:off x="4572000" y="4206240"/>
            <a:ext cx="548640" cy="365760"/>
          </a:xfrm>
          <a:prstGeom prst="rect">
            <a:avLst/>
          </a:prstGeom>
          <a:noFill/>
          <a:ln/>
        </p:spPr>
        <p:txBody>
          <a:bodyPr wrap="square" lIns="0" tIns="0" rIns="0" bIns="0" rtlCol="0" anchor="ctr"/>
          <a:lstStyle/>
          <a:p>
            <a:pPr indent="0" marL="0">
              <a:buNone/>
            </a:pPr>
            <a:r>
              <a:rPr lang="en-US" sz="2000" b="1" dirty="0">
                <a:solidFill>
                  <a:srgbClr val="F97316"/>
                </a:solidFill>
                <a:latin typeface="Georgia" pitchFamily="34" charset="0"/>
                <a:ea typeface="Georgia" pitchFamily="34" charset="-122"/>
                <a:cs typeface="Georgia" pitchFamily="34" charset="-120"/>
              </a:rPr>
              <a:t>06</a:t>
            </a:r>
            <a:endParaRPr lang="en-US" sz="2000" dirty="0"/>
          </a:p>
        </p:txBody>
      </p:sp>
      <p:sp>
        <p:nvSpPr>
          <p:cNvPr id="20" name="Text 18"/>
          <p:cNvSpPr/>
          <p:nvPr/>
        </p:nvSpPr>
        <p:spPr>
          <a:xfrm>
            <a:off x="5212080" y="425196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Enterprise Scenario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What is LangChain?</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An open-source framework for building applications powered by Large Language Models</a:t>
            </a:r>
            <a:endParaRPr lang="en-US" sz="1300" dirty="0"/>
          </a:p>
        </p:txBody>
      </p:sp>
      <p:sp>
        <p:nvSpPr>
          <p:cNvPr id="4" name="Shape 2"/>
          <p:cNvSpPr/>
          <p:nvPr/>
        </p:nvSpPr>
        <p:spPr>
          <a:xfrm>
            <a:off x="457200" y="146304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463040"/>
            <a:ext cx="73152" cy="1554480"/>
          </a:xfrm>
          <a:prstGeom prst="rect">
            <a:avLst/>
          </a:prstGeom>
          <a:solidFill>
            <a:srgbClr val="0D9488"/>
          </a:solidFill>
          <a:ln/>
        </p:spPr>
      </p:sp>
      <p:sp>
        <p:nvSpPr>
          <p:cNvPr id="6" name="Text 4"/>
          <p:cNvSpPr/>
          <p:nvPr/>
        </p:nvSpPr>
        <p:spPr>
          <a:xfrm>
            <a:off x="731520" y="160020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9</a:t>
            </a:r>
            <a:endParaRPr lang="en-US" sz="2800" dirty="0"/>
          </a:p>
        </p:txBody>
      </p:sp>
      <p:sp>
        <p:nvSpPr>
          <p:cNvPr id="7" name="Text 5"/>
          <p:cNvSpPr/>
          <p:nvPr/>
        </p:nvSpPr>
        <p:spPr>
          <a:xfrm>
            <a:off x="2103120" y="164592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Core Components</a:t>
            </a:r>
            <a:endParaRPr lang="en-US" sz="1400" dirty="0"/>
          </a:p>
        </p:txBody>
      </p:sp>
      <p:sp>
        <p:nvSpPr>
          <p:cNvPr id="8" name="Text 6"/>
          <p:cNvSpPr/>
          <p:nvPr/>
        </p:nvSpPr>
        <p:spPr>
          <a:xfrm>
            <a:off x="731520" y="228600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Models, Prompts, Chains, Memory, Agents, Tools, Parsers, Indexes, Callbacks</a:t>
            </a:r>
            <a:endParaRPr lang="en-US" sz="1100" dirty="0"/>
          </a:p>
        </p:txBody>
      </p:sp>
      <p:sp>
        <p:nvSpPr>
          <p:cNvPr id="9" name="Shape 7"/>
          <p:cNvSpPr/>
          <p:nvPr/>
        </p:nvSpPr>
        <p:spPr>
          <a:xfrm>
            <a:off x="4663440" y="146304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663440" y="1463040"/>
            <a:ext cx="73152" cy="1554480"/>
          </a:xfrm>
          <a:prstGeom prst="rect">
            <a:avLst/>
          </a:prstGeom>
          <a:solidFill>
            <a:srgbClr val="F97316"/>
          </a:solidFill>
          <a:ln/>
        </p:spPr>
      </p:sp>
      <p:sp>
        <p:nvSpPr>
          <p:cNvPr id="11" name="Text 9"/>
          <p:cNvSpPr/>
          <p:nvPr/>
        </p:nvSpPr>
        <p:spPr>
          <a:xfrm>
            <a:off x="4937760" y="160020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4</a:t>
            </a:r>
            <a:endParaRPr lang="en-US" sz="2800" dirty="0"/>
          </a:p>
        </p:txBody>
      </p:sp>
      <p:sp>
        <p:nvSpPr>
          <p:cNvPr id="12" name="Text 10"/>
          <p:cNvSpPr/>
          <p:nvPr/>
        </p:nvSpPr>
        <p:spPr>
          <a:xfrm>
            <a:off x="6309360" y="164592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Architecture Layers</a:t>
            </a:r>
            <a:endParaRPr lang="en-US" sz="1400" dirty="0"/>
          </a:p>
        </p:txBody>
      </p:sp>
      <p:sp>
        <p:nvSpPr>
          <p:cNvPr id="13" name="Text 11"/>
          <p:cNvSpPr/>
          <p:nvPr/>
        </p:nvSpPr>
        <p:spPr>
          <a:xfrm>
            <a:off x="4937760" y="228600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Provider, Integration, Orchestration, Application</a:t>
            </a:r>
            <a:endParaRPr lang="en-US" sz="1100" dirty="0"/>
          </a:p>
        </p:txBody>
      </p:sp>
      <p:sp>
        <p:nvSpPr>
          <p:cNvPr id="14" name="Shape 12"/>
          <p:cNvSpPr/>
          <p:nvPr/>
        </p:nvSpPr>
        <p:spPr>
          <a:xfrm>
            <a:off x="457200" y="32004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200400"/>
            <a:ext cx="73152" cy="1554480"/>
          </a:xfrm>
          <a:prstGeom prst="rect">
            <a:avLst/>
          </a:prstGeom>
          <a:solidFill>
            <a:srgbClr val="8B5CF6"/>
          </a:solidFill>
          <a:ln/>
        </p:spPr>
      </p:sp>
      <p:sp>
        <p:nvSpPr>
          <p:cNvPr id="16" name="Text 14"/>
          <p:cNvSpPr/>
          <p:nvPr/>
        </p:nvSpPr>
        <p:spPr>
          <a:xfrm>
            <a:off x="731520" y="333756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LCEL</a:t>
            </a:r>
            <a:endParaRPr lang="en-US" sz="2800" dirty="0"/>
          </a:p>
        </p:txBody>
      </p:sp>
      <p:sp>
        <p:nvSpPr>
          <p:cNvPr id="17" name="Text 15"/>
          <p:cNvSpPr/>
          <p:nvPr/>
        </p:nvSpPr>
        <p:spPr>
          <a:xfrm>
            <a:off x="2103120" y="33832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Modern Syntax</a:t>
            </a:r>
            <a:endParaRPr lang="en-US" sz="1400" dirty="0"/>
          </a:p>
        </p:txBody>
      </p:sp>
      <p:sp>
        <p:nvSpPr>
          <p:cNvPr id="18" name="Text 16"/>
          <p:cNvSpPr/>
          <p:nvPr/>
        </p:nvSpPr>
        <p:spPr>
          <a:xfrm>
            <a:off x="731520" y="40233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Pipe operator (|) for declarative chain composition</a:t>
            </a:r>
            <a:endParaRPr lang="en-US" sz="1100" dirty="0"/>
          </a:p>
        </p:txBody>
      </p:sp>
      <p:sp>
        <p:nvSpPr>
          <p:cNvPr id="19" name="Shape 17"/>
          <p:cNvSpPr/>
          <p:nvPr/>
        </p:nvSpPr>
        <p:spPr>
          <a:xfrm>
            <a:off x="4663440" y="32004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663440" y="3200400"/>
            <a:ext cx="73152" cy="1554480"/>
          </a:xfrm>
          <a:prstGeom prst="rect">
            <a:avLst/>
          </a:prstGeom>
          <a:solidFill>
            <a:srgbClr val="1E3A5F"/>
          </a:solidFill>
          <a:ln/>
        </p:spPr>
      </p:sp>
      <p:sp>
        <p:nvSpPr>
          <p:cNvPr id="21" name="Text 19"/>
          <p:cNvSpPr/>
          <p:nvPr/>
        </p:nvSpPr>
        <p:spPr>
          <a:xfrm>
            <a:off x="4937760" y="333756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100+</a:t>
            </a:r>
            <a:endParaRPr lang="en-US" sz="2800" dirty="0"/>
          </a:p>
        </p:txBody>
      </p:sp>
      <p:sp>
        <p:nvSpPr>
          <p:cNvPr id="22" name="Text 20"/>
          <p:cNvSpPr/>
          <p:nvPr/>
        </p:nvSpPr>
        <p:spPr>
          <a:xfrm>
            <a:off x="6309360" y="33832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Integrations</a:t>
            </a:r>
            <a:endParaRPr lang="en-US" sz="1400" dirty="0"/>
          </a:p>
        </p:txBody>
      </p:sp>
      <p:sp>
        <p:nvSpPr>
          <p:cNvPr id="23" name="Text 21"/>
          <p:cNvSpPr/>
          <p:nvPr/>
        </p:nvSpPr>
        <p:spPr>
          <a:xfrm>
            <a:off x="4937760" y="40233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OpenAI, Anthropic, Google, HuggingFace, vector DBs, tools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LangChain Architecture</a:t>
            </a:r>
            <a:endParaRPr lang="en-US" sz="2800" dirty="0"/>
          </a:p>
        </p:txBody>
      </p:sp>
      <p:sp>
        <p:nvSpPr>
          <p:cNvPr id="3" name="Shape 1"/>
          <p:cNvSpPr/>
          <p:nvPr/>
        </p:nvSpPr>
        <p:spPr>
          <a:xfrm>
            <a:off x="731520" y="2286000"/>
            <a:ext cx="7680960" cy="54864"/>
          </a:xfrm>
          <a:prstGeom prst="rect">
            <a:avLst/>
          </a:prstGeom>
          <a:solidFill>
            <a:srgbClr val="0D9488"/>
          </a:solidFill>
          <a:ln/>
        </p:spPr>
      </p:sp>
      <p:sp>
        <p:nvSpPr>
          <p:cNvPr id="4" name="Shape 2"/>
          <p:cNvSpPr/>
          <p:nvPr/>
        </p:nvSpPr>
        <p:spPr>
          <a:xfrm>
            <a:off x="1051560" y="1920240"/>
            <a:ext cx="822960" cy="822960"/>
          </a:xfrm>
          <a:prstGeom prst="ellipse">
            <a:avLst/>
          </a:prstGeom>
          <a:solidFill>
            <a:srgbClr val="0D9488"/>
          </a:solidFill>
          <a:ln/>
        </p:spPr>
      </p:sp>
      <p:sp>
        <p:nvSpPr>
          <p:cNvPr id="5" name="Text 3"/>
          <p:cNvSpPr/>
          <p:nvPr/>
        </p:nvSpPr>
        <p:spPr>
          <a:xfrm>
            <a:off x="105156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548640" y="2926080"/>
            <a:ext cx="18288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p>
        </p:txBody>
      </p:sp>
      <p:sp>
        <p:nvSpPr>
          <p:cNvPr id="7" name="Text 5"/>
          <p:cNvSpPr/>
          <p:nvPr/>
        </p:nvSpPr>
        <p:spPr>
          <a:xfrm>
            <a:off x="548640" y="3246120"/>
            <a:ext cx="182880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Chatbots, Agents, RAG Systems</a:t>
            </a:r>
            <a:endParaRPr lang="en-US" sz="1000" dirty="0"/>
          </a:p>
        </p:txBody>
      </p:sp>
      <p:sp>
        <p:nvSpPr>
          <p:cNvPr id="8" name="Shape 6"/>
          <p:cNvSpPr/>
          <p:nvPr/>
        </p:nvSpPr>
        <p:spPr>
          <a:xfrm>
            <a:off x="3154680" y="1920240"/>
            <a:ext cx="822960" cy="822960"/>
          </a:xfrm>
          <a:prstGeom prst="ellipse">
            <a:avLst/>
          </a:prstGeom>
          <a:solidFill>
            <a:srgbClr val="F97316"/>
          </a:solidFill>
          <a:ln/>
        </p:spPr>
      </p:sp>
      <p:sp>
        <p:nvSpPr>
          <p:cNvPr id="9" name="Text 7"/>
          <p:cNvSpPr/>
          <p:nvPr/>
        </p:nvSpPr>
        <p:spPr>
          <a:xfrm>
            <a:off x="315468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2651760" y="2926080"/>
            <a:ext cx="18288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Orchestration</a:t>
            </a:r>
            <a:endParaRPr lang="en-US" sz="1400" dirty="0"/>
          </a:p>
        </p:txBody>
      </p:sp>
      <p:sp>
        <p:nvSpPr>
          <p:cNvPr id="11" name="Text 9"/>
          <p:cNvSpPr/>
          <p:nvPr/>
        </p:nvSpPr>
        <p:spPr>
          <a:xfrm>
            <a:off x="2651760" y="3246120"/>
            <a:ext cx="182880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Chains, Agents, Graphs, Workflows</a:t>
            </a:r>
            <a:endParaRPr lang="en-US" sz="1000" dirty="0"/>
          </a:p>
        </p:txBody>
      </p:sp>
      <p:sp>
        <p:nvSpPr>
          <p:cNvPr id="12" name="Shape 10"/>
          <p:cNvSpPr/>
          <p:nvPr/>
        </p:nvSpPr>
        <p:spPr>
          <a:xfrm>
            <a:off x="5257800" y="1920240"/>
            <a:ext cx="822960" cy="822960"/>
          </a:xfrm>
          <a:prstGeom prst="ellipse">
            <a:avLst/>
          </a:prstGeom>
          <a:solidFill>
            <a:srgbClr val="8B5CF6"/>
          </a:solidFill>
          <a:ln/>
        </p:spPr>
      </p:sp>
      <p:sp>
        <p:nvSpPr>
          <p:cNvPr id="13" name="Text 11"/>
          <p:cNvSpPr/>
          <p:nvPr/>
        </p:nvSpPr>
        <p:spPr>
          <a:xfrm>
            <a:off x="525780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4754880" y="2926080"/>
            <a:ext cx="18288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Integration</a:t>
            </a:r>
            <a:endParaRPr lang="en-US" sz="1400" dirty="0"/>
          </a:p>
        </p:txBody>
      </p:sp>
      <p:sp>
        <p:nvSpPr>
          <p:cNvPr id="15" name="Text 13"/>
          <p:cNvSpPr/>
          <p:nvPr/>
        </p:nvSpPr>
        <p:spPr>
          <a:xfrm>
            <a:off x="4754880" y="3246120"/>
            <a:ext cx="182880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Models, Prompts, Memory, Tools, Vector Stores</a:t>
            </a:r>
            <a:endParaRPr lang="en-US" sz="1000" dirty="0"/>
          </a:p>
        </p:txBody>
      </p:sp>
      <p:sp>
        <p:nvSpPr>
          <p:cNvPr id="16" name="Shape 14"/>
          <p:cNvSpPr/>
          <p:nvPr/>
        </p:nvSpPr>
        <p:spPr>
          <a:xfrm>
            <a:off x="7360920" y="1920240"/>
            <a:ext cx="822960" cy="822960"/>
          </a:xfrm>
          <a:prstGeom prst="ellipse">
            <a:avLst/>
          </a:prstGeom>
          <a:solidFill>
            <a:srgbClr val="3B82F6"/>
          </a:solidFill>
          <a:ln/>
        </p:spPr>
      </p:sp>
      <p:sp>
        <p:nvSpPr>
          <p:cNvPr id="17" name="Text 15"/>
          <p:cNvSpPr/>
          <p:nvPr/>
        </p:nvSpPr>
        <p:spPr>
          <a:xfrm>
            <a:off x="736092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6858000" y="2926080"/>
            <a:ext cx="18288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Provider</a:t>
            </a:r>
            <a:endParaRPr lang="en-US" sz="1400" dirty="0"/>
          </a:p>
        </p:txBody>
      </p:sp>
      <p:sp>
        <p:nvSpPr>
          <p:cNvPr id="19" name="Text 17"/>
          <p:cNvSpPr/>
          <p:nvPr/>
        </p:nvSpPr>
        <p:spPr>
          <a:xfrm>
            <a:off x="6858000" y="3246120"/>
            <a:ext cx="182880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OpenAI, Anthropic, Google, HuggingFace</a:t>
            </a:r>
            <a:endParaRPr lang="en-US" sz="1000" dirty="0"/>
          </a:p>
        </p:txBody>
      </p:sp>
      <p:sp>
        <p:nvSpPr>
          <p:cNvPr id="20" name="Shape 18"/>
          <p:cNvSpPr/>
          <p:nvPr/>
        </p:nvSpPr>
        <p:spPr>
          <a:xfrm>
            <a:off x="457200" y="3931920"/>
            <a:ext cx="1920240" cy="731520"/>
          </a:xfrm>
          <a:prstGeom prst="rect">
            <a:avLst/>
          </a:prstGeom>
          <a:solidFill>
            <a:srgbClr val="2D4A6F"/>
          </a:solidFill>
          <a:ln/>
        </p:spPr>
      </p:sp>
      <p:sp>
        <p:nvSpPr>
          <p:cNvPr id="21" name="Text 19"/>
          <p:cNvSpPr/>
          <p:nvPr/>
        </p:nvSpPr>
        <p:spPr>
          <a:xfrm>
            <a:off x="548640" y="4023360"/>
            <a:ext cx="1737360" cy="548640"/>
          </a:xfrm>
          <a:prstGeom prst="rect">
            <a:avLst/>
          </a:prstGeom>
          <a:noFill/>
          <a:ln/>
        </p:spPr>
        <p:txBody>
          <a:bodyPr wrap="square" rtlCol="0" anchor="ctr"/>
          <a:lstStyle/>
          <a:p>
            <a:pPr algn="ctr" indent="0" marL="0">
              <a:buNone/>
            </a:pPr>
            <a:r>
              <a:rPr lang="en-US" sz="1000" dirty="0">
                <a:solidFill>
                  <a:srgbClr val="E2E8F0"/>
                </a:solidFill>
                <a:latin typeface="Calibri" pitchFamily="34" charset="0"/>
                <a:ea typeface="Calibri" pitchFamily="34" charset="-122"/>
                <a:cs typeface="Calibri" pitchFamily="34" charset="-120"/>
              </a:rPr>
              <a:t>End-user interfaces</a:t>
            </a:r>
            <a:endParaRPr lang="en-US" sz="1000" dirty="0"/>
          </a:p>
        </p:txBody>
      </p:sp>
      <p:sp>
        <p:nvSpPr>
          <p:cNvPr id="22" name="Shape 20"/>
          <p:cNvSpPr/>
          <p:nvPr/>
        </p:nvSpPr>
        <p:spPr>
          <a:xfrm>
            <a:off x="2560320" y="3931920"/>
            <a:ext cx="1920240" cy="731520"/>
          </a:xfrm>
          <a:prstGeom prst="rect">
            <a:avLst/>
          </a:prstGeom>
          <a:solidFill>
            <a:srgbClr val="2D4A6F"/>
          </a:solidFill>
          <a:ln/>
        </p:spPr>
      </p:sp>
      <p:sp>
        <p:nvSpPr>
          <p:cNvPr id="23" name="Text 21"/>
          <p:cNvSpPr/>
          <p:nvPr/>
        </p:nvSpPr>
        <p:spPr>
          <a:xfrm>
            <a:off x="2651760" y="4023360"/>
            <a:ext cx="1737360" cy="548640"/>
          </a:xfrm>
          <a:prstGeom prst="rect">
            <a:avLst/>
          </a:prstGeom>
          <a:noFill/>
          <a:ln/>
        </p:spPr>
        <p:txBody>
          <a:bodyPr wrap="square" rtlCol="0" anchor="ctr"/>
          <a:lstStyle/>
          <a:p>
            <a:pPr algn="ctr" indent="0" marL="0">
              <a:buNone/>
            </a:pPr>
            <a:r>
              <a:rPr lang="en-US" sz="1000" dirty="0">
                <a:solidFill>
                  <a:srgbClr val="E2E8F0"/>
                </a:solidFill>
                <a:latin typeface="Calibri" pitchFamily="34" charset="0"/>
                <a:ea typeface="Calibri" pitchFamily="34" charset="-122"/>
                <a:cs typeface="Calibri" pitchFamily="34" charset="-120"/>
              </a:rPr>
              <a:t>Chain &amp; agent logic</a:t>
            </a:r>
            <a:endParaRPr lang="en-US" sz="1000" dirty="0"/>
          </a:p>
        </p:txBody>
      </p:sp>
      <p:sp>
        <p:nvSpPr>
          <p:cNvPr id="24" name="Shape 22"/>
          <p:cNvSpPr/>
          <p:nvPr/>
        </p:nvSpPr>
        <p:spPr>
          <a:xfrm>
            <a:off x="4663440" y="3931920"/>
            <a:ext cx="1920240" cy="731520"/>
          </a:xfrm>
          <a:prstGeom prst="rect">
            <a:avLst/>
          </a:prstGeom>
          <a:solidFill>
            <a:srgbClr val="2D4A6F"/>
          </a:solidFill>
          <a:ln/>
        </p:spPr>
      </p:sp>
      <p:sp>
        <p:nvSpPr>
          <p:cNvPr id="25" name="Text 23"/>
          <p:cNvSpPr/>
          <p:nvPr/>
        </p:nvSpPr>
        <p:spPr>
          <a:xfrm>
            <a:off x="4754880" y="4023360"/>
            <a:ext cx="1737360" cy="548640"/>
          </a:xfrm>
          <a:prstGeom prst="rect">
            <a:avLst/>
          </a:prstGeom>
          <a:noFill/>
          <a:ln/>
        </p:spPr>
        <p:txBody>
          <a:bodyPr wrap="square" rtlCol="0" anchor="ctr"/>
          <a:lstStyle/>
          <a:p>
            <a:pPr algn="ctr" indent="0" marL="0">
              <a:buNone/>
            </a:pPr>
            <a:r>
              <a:rPr lang="en-US" sz="1000" dirty="0">
                <a:solidFill>
                  <a:srgbClr val="E2E8F0"/>
                </a:solidFill>
                <a:latin typeface="Calibri" pitchFamily="34" charset="0"/>
                <a:ea typeface="Calibri" pitchFamily="34" charset="-122"/>
                <a:cs typeface="Calibri" pitchFamily="34" charset="-120"/>
              </a:rPr>
              <a:t>Core abstractions</a:t>
            </a:r>
            <a:endParaRPr lang="en-US" sz="1000" dirty="0"/>
          </a:p>
        </p:txBody>
      </p:sp>
      <p:sp>
        <p:nvSpPr>
          <p:cNvPr id="26" name="Shape 24"/>
          <p:cNvSpPr/>
          <p:nvPr/>
        </p:nvSpPr>
        <p:spPr>
          <a:xfrm>
            <a:off x="6766560" y="3931920"/>
            <a:ext cx="1920240" cy="731520"/>
          </a:xfrm>
          <a:prstGeom prst="rect">
            <a:avLst/>
          </a:prstGeom>
          <a:solidFill>
            <a:srgbClr val="2D4A6F"/>
          </a:solidFill>
          <a:ln/>
        </p:spPr>
      </p:sp>
      <p:sp>
        <p:nvSpPr>
          <p:cNvPr id="27" name="Text 25"/>
          <p:cNvSpPr/>
          <p:nvPr/>
        </p:nvSpPr>
        <p:spPr>
          <a:xfrm>
            <a:off x="6858000" y="4023360"/>
            <a:ext cx="1737360" cy="548640"/>
          </a:xfrm>
          <a:prstGeom prst="rect">
            <a:avLst/>
          </a:prstGeom>
          <a:noFill/>
          <a:ln/>
        </p:spPr>
        <p:txBody>
          <a:bodyPr wrap="square" rtlCol="0" anchor="ctr"/>
          <a:lstStyle/>
          <a:p>
            <a:pPr algn="ctr" indent="0" marL="0">
              <a:buNone/>
            </a:pPr>
            <a:r>
              <a:rPr lang="en-US" sz="1000" dirty="0">
                <a:solidFill>
                  <a:srgbClr val="E2E8F0"/>
                </a:solidFill>
                <a:latin typeface="Calibri" pitchFamily="34" charset="0"/>
                <a:ea typeface="Calibri" pitchFamily="34" charset="-122"/>
                <a:cs typeface="Calibri" pitchFamily="34" charset="-120"/>
              </a:rPr>
              <a:t>Model API providers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LangChain Expression Language (LCEL)</a:t>
            </a:r>
            <a:endParaRPr lang="en-US" sz="2600" dirty="0"/>
          </a:p>
        </p:txBody>
      </p:sp>
      <p:sp>
        <p:nvSpPr>
          <p:cNvPr id="3" name="Shape 1"/>
          <p:cNvSpPr/>
          <p:nvPr/>
        </p:nvSpPr>
        <p:spPr>
          <a:xfrm>
            <a:off x="45720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0D9488"/>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CONCEPT</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Declarative Composition</a:t>
            </a:r>
            <a:endParaRPr lang="en-US" sz="1300" dirty="0"/>
          </a:p>
          <a:p>
            <a:pPr indent="0" marL="0">
              <a:buNone/>
            </a:pPr>
            <a:r>
              <a:rPr lang="en-US" sz="1200" dirty="0">
                <a:solidFill>
                  <a:srgbClr val="64748B"/>
                </a:solidFill>
                <a:latin typeface="Calibri" pitchFamily="34" charset="0"/>
                <a:ea typeface="Calibri" pitchFamily="34" charset="-122"/>
                <a:cs typeface="Calibri" pitchFamily="34" charset="-120"/>
              </a:rPr>
              <a:t>Use the pipe (|) operator to chain components together in a readable, composable way.</a:t>
            </a: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Built-in Features</a:t>
            </a:r>
            <a:endParaRPr lang="en-US" sz="1300" dirty="0"/>
          </a:p>
          <a:p>
            <a:pPr indent="0" marL="0">
              <a:buNone/>
            </a:pPr>
            <a:r>
              <a:rPr lang="en-US" sz="1200" dirty="0">
                <a:solidFill>
                  <a:srgbClr val="64748B"/>
                </a:solidFill>
                <a:latin typeface="Calibri" pitchFamily="34" charset="0"/>
                <a:ea typeface="Calibri" pitchFamily="34" charset="-122"/>
                <a:cs typeface="Calibri" pitchFamily="34" charset="-120"/>
              </a:rPr>
              <a:t>Streaming, async/await, parallel execution, fallbacks, retries — all out of the box.</a:t>
            </a: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Why LCEL?</a:t>
            </a:r>
            <a:endParaRPr lang="en-US" sz="1300" dirty="0"/>
          </a:p>
          <a:p>
            <a:pPr indent="0" marL="0">
              <a:buNone/>
            </a:pPr>
            <a:r>
              <a:rPr lang="en-US" sz="1200" dirty="0">
                <a:solidFill>
                  <a:srgbClr val="64748B"/>
                </a:solidFill>
                <a:latin typeface="Calibri" pitchFamily="34" charset="0"/>
                <a:ea typeface="Calibri" pitchFamily="34" charset="-122"/>
                <a:cs typeface="Calibri" pitchFamily="34" charset="-120"/>
              </a:rPr>
              <a:t>Replaces legacy LLMChain. Better performance, simpler syntax, production-ready.</a:t>
            </a:r>
            <a:endParaRPr lang="en-US" sz="1300" dirty="0"/>
          </a:p>
        </p:txBody>
      </p:sp>
      <p:sp>
        <p:nvSpPr>
          <p:cNvPr id="7" name="Shape 5"/>
          <p:cNvSpPr/>
          <p:nvPr/>
        </p:nvSpPr>
        <p:spPr>
          <a:xfrm>
            <a:off x="4754880" y="1097280"/>
            <a:ext cx="3931920" cy="3657600"/>
          </a:xfrm>
          <a:prstGeom prst="rect">
            <a:avLst/>
          </a:prstGeom>
          <a:solidFill>
            <a:srgbClr val="FFF7ED"/>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F97316"/>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000" dirty="0">
                <a:solidFill>
                  <a:srgbClr val="1E293B"/>
                </a:solidFill>
                <a:latin typeface="Consolas" pitchFamily="34" charset="0"/>
                <a:ea typeface="Consolas" pitchFamily="34" charset="-122"/>
                <a:cs typeface="Consolas" pitchFamily="34" charset="-120"/>
              </a:rPr>
              <a:t>from langchain_core.prompts import ChatPromptTemplate</a:t>
            </a:r>
            <a:pPr indent="0" marL="0">
              <a:buNone/>
            </a:pPr>
            <a:r>
              <a:rPr lang="en-US" sz="1000" dirty="0">
                <a:solidFill>
                  <a:srgbClr val="1E293B"/>
                </a:solidFill>
                <a:latin typeface="Consolas" pitchFamily="34" charset="0"/>
                <a:ea typeface="Consolas" pitchFamily="34" charset="-122"/>
                <a:cs typeface="Consolas" pitchFamily="34" charset="-120"/>
              </a:rPr>
              <a:t>from langchain_openai import ChatOpenAI</a:t>
            </a:r>
            <a:pPr indent="0" marL="0">
              <a:buNone/>
            </a:pPr>
            <a:r>
              <a:rPr lang="en-US" sz="1000" dirty="0">
                <a:solidFill>
                  <a:srgbClr val="1E293B"/>
                </a:solidFill>
                <a:latin typeface="Consolas" pitchFamily="34" charset="0"/>
                <a:ea typeface="Consolas" pitchFamily="34" charset="-122"/>
                <a:cs typeface="Consolas" pitchFamily="34" charset="-120"/>
              </a:rPr>
              <a:t>from langchain_core.output_parsers import StrOutputParser</a:t>
            </a:r>
            <a:pPr indent="0" marL="0">
              <a:buNone/>
            </a:pPr>
            <a:pPr indent="0" marL="0">
              <a:buNone/>
            </a:pPr>
            <a:r>
              <a:rPr lang="en-US" sz="1000" dirty="0">
                <a:solidFill>
                  <a:srgbClr val="0D9488"/>
                </a:solidFill>
                <a:latin typeface="Consolas" pitchFamily="34" charset="0"/>
                <a:ea typeface="Consolas" pitchFamily="34" charset="-122"/>
                <a:cs typeface="Consolas" pitchFamily="34" charset="-120"/>
              </a:rPr>
              <a:t>prompt = ChatPromptTemplate.from_template(</a:t>
            </a:r>
            <a:pPr indent="0" marL="0">
              <a:buNone/>
            </a:pPr>
            <a:r>
              <a:rPr lang="en-US" sz="1000" dirty="0">
                <a:solidFill>
                  <a:srgbClr val="64748B"/>
                </a:solidFill>
                <a:latin typeface="Consolas" pitchFamily="34" charset="0"/>
                <a:ea typeface="Consolas" pitchFamily="34" charset="-122"/>
                <a:cs typeface="Consolas" pitchFamily="34" charset="-120"/>
              </a:rPr>
              <a:t>    "Tell me a joke about {topic}"</a:t>
            </a:r>
            <a:pPr indent="0" marL="0">
              <a:buNone/>
            </a:pPr>
            <a:r>
              <a:rPr lang="en-US" sz="1000" dirty="0">
                <a:solidFill>
                  <a:srgbClr val="0D9488"/>
                </a:solidFill>
                <a:latin typeface="Consolas" pitchFamily="34" charset="0"/>
                <a:ea typeface="Consolas" pitchFamily="34" charset="-122"/>
                <a:cs typeface="Consolas" pitchFamily="34" charset="-120"/>
              </a:rPr>
              <a:t>)</a:t>
            </a:r>
            <a:pPr indent="0" marL="0">
              <a:buNone/>
            </a:pPr>
            <a:r>
              <a:rPr lang="en-US" sz="1000" dirty="0">
                <a:solidFill>
                  <a:srgbClr val="1E293B"/>
                </a:solidFill>
                <a:latin typeface="Consolas" pitchFamily="34" charset="0"/>
                <a:ea typeface="Consolas" pitchFamily="34" charset="-122"/>
                <a:cs typeface="Consolas" pitchFamily="34" charset="-120"/>
              </a:rPr>
              <a:t>model = ChatOpenAI(model='gpt-4o-mini')</a:t>
            </a:r>
            <a:pPr indent="0" marL="0">
              <a:buNone/>
            </a:pPr>
            <a:r>
              <a:rPr lang="en-US" sz="1000" dirty="0">
                <a:solidFill>
                  <a:srgbClr val="1E293B"/>
                </a:solidFill>
                <a:latin typeface="Consolas" pitchFamily="34" charset="0"/>
                <a:ea typeface="Consolas" pitchFamily="34" charset="-122"/>
                <a:cs typeface="Consolas" pitchFamily="34" charset="-120"/>
              </a:rPr>
              <a:t>parser = StrOutputParser()</a:t>
            </a:r>
            <a:pPr indent="0" marL="0">
              <a:buNone/>
            </a:pPr>
            <a:pPr indent="0" marL="0">
              <a:buNone/>
            </a:pPr>
            <a:r>
              <a:rPr lang="en-US" sz="1100" b="1" dirty="0">
                <a:solidFill>
                  <a:srgbClr val="F97316"/>
                </a:solidFill>
                <a:latin typeface="Consolas" pitchFamily="34" charset="0"/>
                <a:ea typeface="Consolas" pitchFamily="34" charset="-122"/>
                <a:cs typeface="Consolas" pitchFamily="34" charset="-120"/>
              </a:rPr>
              <a:t>chain = prompt | model | parser</a:t>
            </a:r>
            <a:pPr indent="0" marL="0">
              <a:buNone/>
            </a:pPr>
            <a:r>
              <a:rPr lang="en-US" sz="1000" dirty="0">
                <a:solidFill>
                  <a:srgbClr val="1E293B"/>
                </a:solidFill>
                <a:latin typeface="Consolas" pitchFamily="34" charset="0"/>
                <a:ea typeface="Consolas" pitchFamily="34" charset="-122"/>
                <a:cs typeface="Consolas" pitchFamily="34" charset="-120"/>
              </a:rPr>
              <a:t>result = chain.invoke({"topic": "programming"})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Prompt Templates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PromptTemplate</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Simple string template with {variable} placeholders. Used for text completion models.</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ChatPromptTemplate</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Message-based template with system, human, and AI roles. Used for chat models.</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FewShot Prompting</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Provide examples in the prompt to demonstrate expected input-output patterns.</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1E3A5F">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Dynamic Placeholders</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Use .partial() to fill some variables early, others at invocation 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Output Parsers</a:t>
            </a:r>
            <a:endParaRPr lang="en-US" sz="28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Transform raw LLM responses into structured, parseable formats</a:t>
            </a:r>
            <a:endParaRPr lang="en-US" sz="1300" dirty="0"/>
          </a:p>
        </p:txBody>
      </p:sp>
      <p:sp>
        <p:nvSpPr>
          <p:cNvPr id="4" name="Shape 2"/>
          <p:cNvSpPr/>
          <p:nvPr/>
        </p:nvSpPr>
        <p:spPr>
          <a:xfrm>
            <a:off x="457200" y="1444752"/>
            <a:ext cx="73152" cy="548640"/>
          </a:xfrm>
          <a:prstGeom prst="rect">
            <a:avLst/>
          </a:prstGeom>
          <a:solidFill>
            <a:srgbClr val="0D9488"/>
          </a:solidFill>
          <a:ln/>
        </p:spPr>
      </p:sp>
      <p:sp>
        <p:nvSpPr>
          <p:cNvPr id="5" name="Text 3"/>
          <p:cNvSpPr/>
          <p:nvPr/>
        </p:nvSpPr>
        <p:spPr>
          <a:xfrm>
            <a:off x="731520" y="1371600"/>
            <a:ext cx="3200400" cy="365760"/>
          </a:xfrm>
          <a:prstGeom prst="rect">
            <a:avLst/>
          </a:prstGeom>
          <a:noFill/>
          <a:ln/>
        </p:spPr>
        <p:txBody>
          <a:bodyPr wrap="square" lIns="0" tIns="0" rIns="0" bIns="0" rtlCol="0" anchor="ctr"/>
          <a:lstStyle/>
          <a:p>
            <a:pPr indent="0" marL="0">
              <a:buNone/>
            </a:pPr>
            <a:r>
              <a:rPr lang="en-US" sz="1400" b="1" dirty="0">
                <a:solidFill>
                  <a:srgbClr val="1E3A5F"/>
                </a:solidFill>
                <a:latin typeface="Consolas" pitchFamily="34" charset="0"/>
                <a:ea typeface="Consolas" pitchFamily="34" charset="-122"/>
                <a:cs typeface="Consolas" pitchFamily="34" charset="-120"/>
              </a:rPr>
              <a:t>StrOutputParser</a:t>
            </a:r>
            <a:endParaRPr lang="en-US" sz="1400" dirty="0"/>
          </a:p>
        </p:txBody>
      </p:sp>
      <p:sp>
        <p:nvSpPr>
          <p:cNvPr id="6" name="Text 4"/>
          <p:cNvSpPr/>
          <p:nvPr/>
        </p:nvSpPr>
        <p:spPr>
          <a:xfrm>
            <a:off x="731520" y="1719072"/>
            <a:ext cx="77724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Strips whitespace from raw text response. Simplest parser for string output.</a:t>
            </a:r>
            <a:endParaRPr lang="en-US" sz="1200" dirty="0"/>
          </a:p>
        </p:txBody>
      </p:sp>
      <p:sp>
        <p:nvSpPr>
          <p:cNvPr id="7" name="Shape 5"/>
          <p:cNvSpPr/>
          <p:nvPr/>
        </p:nvSpPr>
        <p:spPr>
          <a:xfrm>
            <a:off x="457200" y="2313432"/>
            <a:ext cx="73152" cy="548640"/>
          </a:xfrm>
          <a:prstGeom prst="rect">
            <a:avLst/>
          </a:prstGeom>
          <a:solidFill>
            <a:srgbClr val="F97316"/>
          </a:solidFill>
          <a:ln/>
        </p:spPr>
      </p:sp>
      <p:sp>
        <p:nvSpPr>
          <p:cNvPr id="8" name="Text 6"/>
          <p:cNvSpPr/>
          <p:nvPr/>
        </p:nvSpPr>
        <p:spPr>
          <a:xfrm>
            <a:off x="731520" y="2240280"/>
            <a:ext cx="3200400" cy="365760"/>
          </a:xfrm>
          <a:prstGeom prst="rect">
            <a:avLst/>
          </a:prstGeom>
          <a:noFill/>
          <a:ln/>
        </p:spPr>
        <p:txBody>
          <a:bodyPr wrap="square" lIns="0" tIns="0" rIns="0" bIns="0" rtlCol="0" anchor="ctr"/>
          <a:lstStyle/>
          <a:p>
            <a:pPr indent="0" marL="0">
              <a:buNone/>
            </a:pPr>
            <a:r>
              <a:rPr lang="en-US" sz="1400" b="1" dirty="0">
                <a:solidFill>
                  <a:srgbClr val="1E3A5F"/>
                </a:solidFill>
                <a:latin typeface="Consolas" pitchFamily="34" charset="0"/>
                <a:ea typeface="Consolas" pitchFamily="34" charset="-122"/>
                <a:cs typeface="Consolas" pitchFamily="34" charset="-120"/>
              </a:rPr>
              <a:t>JsonOutputParser</a:t>
            </a:r>
            <a:endParaRPr lang="en-US" sz="1400" dirty="0"/>
          </a:p>
        </p:txBody>
      </p:sp>
      <p:sp>
        <p:nvSpPr>
          <p:cNvPr id="9" name="Text 7"/>
          <p:cNvSpPr/>
          <p:nvPr/>
        </p:nvSpPr>
        <p:spPr>
          <a:xfrm>
            <a:off x="731520" y="2587752"/>
            <a:ext cx="77724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Parses JSON from model output. Supports Pydantic schema validation.</a:t>
            </a:r>
            <a:endParaRPr lang="en-US" sz="1200" dirty="0"/>
          </a:p>
        </p:txBody>
      </p:sp>
      <p:sp>
        <p:nvSpPr>
          <p:cNvPr id="10" name="Shape 8"/>
          <p:cNvSpPr/>
          <p:nvPr/>
        </p:nvSpPr>
        <p:spPr>
          <a:xfrm>
            <a:off x="457200" y="3182112"/>
            <a:ext cx="73152" cy="548640"/>
          </a:xfrm>
          <a:prstGeom prst="rect">
            <a:avLst/>
          </a:prstGeom>
          <a:solidFill>
            <a:srgbClr val="8B5CF6"/>
          </a:solidFill>
          <a:ln/>
        </p:spPr>
      </p:sp>
      <p:sp>
        <p:nvSpPr>
          <p:cNvPr id="11" name="Text 9"/>
          <p:cNvSpPr/>
          <p:nvPr/>
        </p:nvSpPr>
        <p:spPr>
          <a:xfrm>
            <a:off x="731520" y="3108960"/>
            <a:ext cx="3200400" cy="365760"/>
          </a:xfrm>
          <a:prstGeom prst="rect">
            <a:avLst/>
          </a:prstGeom>
          <a:noFill/>
          <a:ln/>
        </p:spPr>
        <p:txBody>
          <a:bodyPr wrap="square" lIns="0" tIns="0" rIns="0" bIns="0" rtlCol="0" anchor="ctr"/>
          <a:lstStyle/>
          <a:p>
            <a:pPr indent="0" marL="0">
              <a:buNone/>
            </a:pPr>
            <a:r>
              <a:rPr lang="en-US" sz="1400" b="1" dirty="0">
                <a:solidFill>
                  <a:srgbClr val="1E3A5F"/>
                </a:solidFill>
                <a:latin typeface="Consolas" pitchFamily="34" charset="0"/>
                <a:ea typeface="Consolas" pitchFamily="34" charset="-122"/>
                <a:cs typeface="Consolas" pitchFamily="34" charset="-120"/>
              </a:rPr>
              <a:t>PydanticOutputParser</a:t>
            </a:r>
            <a:endParaRPr lang="en-US" sz="1400" dirty="0"/>
          </a:p>
        </p:txBody>
      </p:sp>
      <p:sp>
        <p:nvSpPr>
          <p:cNvPr id="12" name="Text 10"/>
          <p:cNvSpPr/>
          <p:nvPr/>
        </p:nvSpPr>
        <p:spPr>
          <a:xfrm>
            <a:off x="731520" y="3456432"/>
            <a:ext cx="77724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Returns typed Pydantic model instances with validation and autocomplete.</a:t>
            </a:r>
            <a:endParaRPr lang="en-US" sz="1200" dirty="0"/>
          </a:p>
        </p:txBody>
      </p:sp>
      <p:sp>
        <p:nvSpPr>
          <p:cNvPr id="13" name="Shape 11"/>
          <p:cNvSpPr/>
          <p:nvPr/>
        </p:nvSpPr>
        <p:spPr>
          <a:xfrm>
            <a:off x="457200" y="4050792"/>
            <a:ext cx="73152" cy="548640"/>
          </a:xfrm>
          <a:prstGeom prst="rect">
            <a:avLst/>
          </a:prstGeom>
          <a:solidFill>
            <a:srgbClr val="3B82F6"/>
          </a:solidFill>
          <a:ln/>
        </p:spPr>
      </p:sp>
      <p:sp>
        <p:nvSpPr>
          <p:cNvPr id="14" name="Text 12"/>
          <p:cNvSpPr/>
          <p:nvPr/>
        </p:nvSpPr>
        <p:spPr>
          <a:xfrm>
            <a:off x="731520" y="3977640"/>
            <a:ext cx="3200400" cy="365760"/>
          </a:xfrm>
          <a:prstGeom prst="rect">
            <a:avLst/>
          </a:prstGeom>
          <a:noFill/>
          <a:ln/>
        </p:spPr>
        <p:txBody>
          <a:bodyPr wrap="square" lIns="0" tIns="0" rIns="0" bIns="0" rtlCol="0" anchor="ctr"/>
          <a:lstStyle/>
          <a:p>
            <a:pPr indent="0" marL="0">
              <a:buNone/>
            </a:pPr>
            <a:r>
              <a:rPr lang="en-US" sz="1400" b="1" dirty="0">
                <a:solidFill>
                  <a:srgbClr val="1E3A5F"/>
                </a:solidFill>
                <a:latin typeface="Consolas" pitchFamily="34" charset="0"/>
                <a:ea typeface="Consolas" pitchFamily="34" charset="-122"/>
                <a:cs typeface="Consolas" pitchFamily="34" charset="-120"/>
              </a:rPr>
              <a:t>ListOutputParser</a:t>
            </a:r>
            <a:endParaRPr lang="en-US" sz="1400" dirty="0"/>
          </a:p>
        </p:txBody>
      </p:sp>
      <p:sp>
        <p:nvSpPr>
          <p:cNvPr id="15" name="Text 13"/>
          <p:cNvSpPr/>
          <p:nvPr/>
        </p:nvSpPr>
        <p:spPr>
          <a:xfrm>
            <a:off x="731520" y="4325112"/>
            <a:ext cx="77724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Parses comma-separated values into a Python list.</a:t>
            </a:r>
            <a:endParaRPr lang="en-US" sz="1200" dirty="0"/>
          </a:p>
        </p:txBody>
      </p:sp>
      <p:sp>
        <p:nvSpPr>
          <p:cNvPr id="16" name="Shape 14"/>
          <p:cNvSpPr/>
          <p:nvPr/>
        </p:nvSpPr>
        <p:spPr>
          <a:xfrm>
            <a:off x="4754880" y="1371600"/>
            <a:ext cx="393192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5"/>
          <p:cNvSpPr/>
          <p:nvPr/>
        </p:nvSpPr>
        <p:spPr>
          <a:xfrm>
            <a:off x="4754880" y="1371600"/>
            <a:ext cx="3931920" cy="411480"/>
          </a:xfrm>
          <a:prstGeom prst="rect">
            <a:avLst/>
          </a:prstGeom>
          <a:solidFill>
            <a:srgbClr val="F97316"/>
          </a:solidFill>
          <a:ln/>
        </p:spPr>
      </p:sp>
      <p:sp>
        <p:nvSpPr>
          <p:cNvPr id="18" name="Text 16"/>
          <p:cNvSpPr/>
          <p:nvPr/>
        </p:nvSpPr>
        <p:spPr>
          <a:xfrm>
            <a:off x="4754880" y="1417320"/>
            <a:ext cx="39319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PYDANTIC EXAMPLE</a:t>
            </a:r>
            <a:endParaRPr lang="en-US" sz="1200" dirty="0"/>
          </a:p>
        </p:txBody>
      </p:sp>
      <p:sp>
        <p:nvSpPr>
          <p:cNvPr id="19" name="Text 17"/>
          <p:cNvSpPr/>
          <p:nvPr/>
        </p:nvSpPr>
        <p:spPr>
          <a:xfrm>
            <a:off x="4937760" y="1920240"/>
            <a:ext cx="3566160" cy="2468880"/>
          </a:xfrm>
          <a:prstGeom prst="rect">
            <a:avLst/>
          </a:prstGeom>
          <a:noFill/>
          <a:ln/>
        </p:spPr>
        <p:txBody>
          <a:bodyPr wrap="square" lIns="0" tIns="0" rIns="0" bIns="0" rtlCol="0" anchor="t"/>
          <a:lstStyle/>
          <a:p>
            <a:pPr indent="0" marL="0">
              <a:buNone/>
            </a:pPr>
            <a:r>
              <a:rPr lang="en-US" sz="1000" b="1" dirty="0">
                <a:solidFill>
                  <a:srgbClr val="0D9488"/>
                </a:solidFill>
                <a:latin typeface="Consolas" pitchFamily="34" charset="0"/>
                <a:ea typeface="Consolas" pitchFamily="34" charset="-122"/>
                <a:cs typeface="Consolas" pitchFamily="34" charset="-120"/>
              </a:rPr>
              <a:t>class PersonInfo(BaseModel):</a:t>
            </a:r>
            <a:pPr indent="0" marL="0">
              <a:buNone/>
            </a:pPr>
            <a:r>
              <a:rPr lang="en-US" sz="1000" dirty="0">
                <a:solidFill>
                  <a:srgbClr val="64748B"/>
                </a:solidFill>
                <a:latin typeface="Consolas" pitchFamily="34" charset="0"/>
                <a:ea typeface="Consolas" pitchFamily="34" charset="-122"/>
                <a:cs typeface="Consolas" pitchFamily="34" charset="-120"/>
              </a:rPr>
              <a:t>    name: str  # Person's full name</a:t>
            </a:r>
            <a:pPr indent="0" marL="0">
              <a:buNone/>
            </a:pPr>
            <a:r>
              <a:rPr lang="en-US" sz="1000" dirty="0">
                <a:solidFill>
                  <a:srgbClr val="64748B"/>
                </a:solidFill>
                <a:latin typeface="Consolas" pitchFamily="34" charset="0"/>
                <a:ea typeface="Consolas" pitchFamily="34" charset="-122"/>
                <a:cs typeface="Consolas" pitchFamily="34" charset="-120"/>
              </a:rPr>
              <a:t>    age: int   # Person's age</a:t>
            </a:r>
            <a:pPr indent="0" marL="0">
              <a:buNone/>
            </a:pPr>
            <a:r>
              <a:rPr lang="en-US" sz="1000" dirty="0">
                <a:solidFill>
                  <a:srgbClr val="64748B"/>
                </a:solidFill>
                <a:latin typeface="Consolas" pitchFamily="34" charset="0"/>
                <a:ea typeface="Consolas" pitchFamily="34" charset="-122"/>
                <a:cs typeface="Consolas" pitchFamily="34" charset="-120"/>
              </a:rPr>
              <a:t>    occupation: str</a:t>
            </a:r>
            <a:pPr indent="0" marL="0">
              <a:buNone/>
            </a:pPr>
            <a:pPr indent="0" marL="0">
              <a:buNone/>
            </a:pPr>
            <a:r>
              <a:rPr lang="en-US" sz="1000" dirty="0">
                <a:solidFill>
                  <a:srgbClr val="1E293B"/>
                </a:solidFill>
                <a:latin typeface="Consolas" pitchFamily="34" charset="0"/>
                <a:ea typeface="Consolas" pitchFamily="34" charset="-122"/>
                <a:cs typeface="Consolas" pitchFamily="34" charset="-120"/>
              </a:rPr>
              <a:t>parser = JsonOutputParser(</a:t>
            </a:r>
            <a:pPr indent="0" marL="0">
              <a:buNone/>
            </a:pPr>
            <a:r>
              <a:rPr lang="en-US" sz="1000" dirty="0">
                <a:solidFill>
                  <a:srgbClr val="1E293B"/>
                </a:solidFill>
                <a:latin typeface="Consolas" pitchFamily="34" charset="0"/>
                <a:ea typeface="Consolas" pitchFamily="34" charset="-122"/>
                <a:cs typeface="Consolas" pitchFamily="34" charset="-120"/>
              </a:rPr>
              <a:t>    pydantic_object=PersonInfo</a:t>
            </a:r>
            <a:pPr indent="0" marL="0">
              <a:buNone/>
            </a:pPr>
            <a:r>
              <a:rPr lang="en-US" sz="1000" dirty="0">
                <a:solidFill>
                  <a:srgbClr val="1E293B"/>
                </a:solidFill>
                <a:latin typeface="Consolas" pitchFamily="34" charset="0"/>
                <a:ea typeface="Consolas" pitchFamily="34" charset="-122"/>
                <a:cs typeface="Consolas" pitchFamily="34" charset="-120"/>
              </a:rPr>
              <a:t>)</a:t>
            </a:r>
            <a:pPr indent="0" marL="0">
              <a:buNone/>
            </a:pPr>
            <a:pPr indent="0" marL="0">
              <a:buNone/>
            </a:pPr>
            <a:r>
              <a:rPr lang="en-US" sz="1000" b="1" dirty="0">
                <a:solidFill>
                  <a:srgbClr val="F97316"/>
                </a:solidFill>
                <a:latin typeface="Consolas" pitchFamily="34" charset="0"/>
                <a:ea typeface="Consolas" pitchFamily="34" charset="-122"/>
                <a:cs typeface="Consolas" pitchFamily="34" charset="-120"/>
              </a:rPr>
              <a:t>chain = prompt | model | parser</a:t>
            </a:r>
            <a:pPr indent="0" marL="0">
              <a:buNone/>
            </a:pPr>
            <a:pPr indent="0" marL="0">
              <a:buNone/>
            </a:pPr>
            <a:r>
              <a:rPr lang="en-US" sz="1000" dirty="0">
                <a:solidFill>
                  <a:srgbClr val="64748B"/>
                </a:solidFill>
                <a:latin typeface="Consolas" pitchFamily="34" charset="0"/>
                <a:ea typeface="Consolas" pitchFamily="34" charset="-122"/>
                <a:cs typeface="Consolas" pitchFamily="34" charset="-120"/>
              </a:rPr>
              <a:t># Output:</a:t>
            </a:r>
            <a:pPr indent="0" marL="0">
              <a:buNone/>
            </a:pPr>
            <a:r>
              <a:rPr lang="en-US" sz="1000" dirty="0">
                <a:solidFill>
                  <a:srgbClr val="059669"/>
                </a:solidFill>
                <a:latin typeface="Consolas" pitchFamily="34" charset="0"/>
                <a:ea typeface="Consolas" pitchFamily="34" charset="-122"/>
                <a:cs typeface="Consolas" pitchFamily="34" charset="-120"/>
              </a:rPr>
              <a:t># {"name":"John","age":32,</a:t>
            </a:r>
            <a:pPr indent="0" marL="0">
              <a:buNone/>
            </a:pPr>
            <a:r>
              <a:rPr lang="en-US" sz="1000" dirty="0">
                <a:solidFill>
                  <a:srgbClr val="059669"/>
                </a:solidFill>
                <a:latin typeface="Consolas" pitchFamily="34" charset="0"/>
                <a:ea typeface="Consolas" pitchFamily="34" charset="-122"/>
                <a:cs typeface="Consolas" pitchFamily="34" charset="-120"/>
              </a:rPr>
              <a:t>#  "occupation":"engineer"}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Chains: Legacy vs. Modern LCEL</a:t>
            </a:r>
            <a:endParaRPr lang="en-US" sz="2600" dirty="0"/>
          </a:p>
        </p:txBody>
      </p:sp>
      <p:sp>
        <p:nvSpPr>
          <p:cNvPr id="3" name="Shape 1"/>
          <p:cNvSpPr/>
          <p:nvPr/>
        </p:nvSpPr>
        <p:spPr>
          <a:xfrm>
            <a:off x="457200" y="1097280"/>
            <a:ext cx="3931920" cy="3657600"/>
          </a:xfrm>
          <a:prstGeom prst="rect">
            <a:avLst/>
          </a:prstGeom>
          <a:solidFill>
            <a:srgbClr val="FEF2F2"/>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DC2626"/>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LEGACY (Avoid)</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300" b="1" dirty="0">
                <a:solidFill>
                  <a:srgbClr val="DC2626"/>
                </a:solidFill>
                <a:latin typeface="Calibri" pitchFamily="34" charset="0"/>
                <a:ea typeface="Calibri" pitchFamily="34" charset="-122"/>
                <a:cs typeface="Calibri" pitchFamily="34" charset="-120"/>
              </a:rPr>
              <a:t>LLMChain</a:t>
            </a:r>
            <a:pPr indent="0" marL="0">
              <a:buNone/>
            </a:pPr>
            <a:r>
              <a:rPr lang="en-US" sz="1000" dirty="0">
                <a:solidFill>
                  <a:srgbClr val="64748B"/>
                </a:solidFill>
                <a:latin typeface="Calibri" pitchFamily="34" charset="0"/>
                <a:ea typeface="Calibri" pitchFamily="34" charset="-122"/>
                <a:cs typeface="Calibri" pitchFamily="34" charset="-120"/>
              </a:rPr>
              <a:t>from langchain.chains import LLMChain</a:t>
            </a:r>
            <a:pPr indent="0" marL="0">
              <a:buNone/>
            </a:pPr>
            <a:r>
              <a:rPr lang="en-US" sz="1000" dirty="0">
                <a:solidFill>
                  <a:srgbClr val="64748B"/>
                </a:solidFill>
                <a:latin typeface="Calibri" pitchFamily="34" charset="0"/>
                <a:ea typeface="Calibri" pitchFamily="34" charset="-122"/>
                <a:cs typeface="Calibri" pitchFamily="34" charset="-120"/>
              </a:rPr>
              <a:t>chain = LLMChain(llm=model, prompt=prompt)</a:t>
            </a:r>
            <a:pPr indent="0" marL="0">
              <a:buNone/>
            </a:pPr>
            <a:pPr indent="0" marL="0">
              <a:buNone/>
            </a:pPr>
            <a:r>
              <a:rPr lang="en-US" sz="1300" b="1" dirty="0">
                <a:solidFill>
                  <a:srgbClr val="DC2626"/>
                </a:solidFill>
                <a:latin typeface="Calibri" pitchFamily="34" charset="0"/>
                <a:ea typeface="Calibri" pitchFamily="34" charset="-122"/>
                <a:cs typeface="Calibri" pitchFamily="34" charset="-120"/>
              </a:rPr>
              <a:t>SequentialChain</a:t>
            </a:r>
            <a:pPr indent="0" marL="0">
              <a:buNone/>
            </a:pPr>
            <a:r>
              <a:rPr lang="en-US" sz="1000" dirty="0">
                <a:solidFill>
                  <a:srgbClr val="64748B"/>
                </a:solidFill>
                <a:latin typeface="Calibri" pitchFamily="34" charset="0"/>
                <a:ea typeface="Calibri" pitchFamily="34" charset="-122"/>
                <a:cs typeface="Calibri" pitchFamily="34" charset="-120"/>
              </a:rPr>
              <a:t>Requires explicit input/output key mapping.</a:t>
            </a:r>
            <a:pPr indent="0" marL="0">
              <a:buNone/>
            </a:pPr>
            <a:r>
              <a:rPr lang="en-US" sz="1000" dirty="0">
                <a:solidFill>
                  <a:srgbClr val="64748B"/>
                </a:solidFill>
                <a:latin typeface="Calibri" pitchFamily="34" charset="0"/>
                <a:ea typeface="Calibri" pitchFamily="34" charset="-122"/>
                <a:cs typeface="Calibri" pitchFamily="34" charset="-120"/>
              </a:rPr>
              <a:t>Harder to debug, less composable.</a:t>
            </a:r>
            <a:pPr indent="0" marL="0">
              <a:buNone/>
            </a:pPr>
            <a:pPr indent="0" marL="0">
              <a:buNone/>
            </a:pPr>
            <a:r>
              <a:rPr lang="en-US" sz="1300" b="1" dirty="0">
                <a:solidFill>
                  <a:srgbClr val="DC2626"/>
                </a:solidFill>
                <a:latin typeface="Calibri" pitchFamily="34" charset="0"/>
                <a:ea typeface="Calibri" pitchFamily="34" charset="-122"/>
                <a:cs typeface="Calibri" pitchFamily="34" charset="-120"/>
              </a:rPr>
              <a:t>ConversationChain</a:t>
            </a:r>
            <a:pPr indent="0" marL="0">
              <a:buNone/>
            </a:pPr>
            <a:r>
              <a:rPr lang="en-US" sz="1000" dirty="0">
                <a:solidFill>
                  <a:srgbClr val="64748B"/>
                </a:solidFill>
                <a:latin typeface="Calibri" pitchFamily="34" charset="0"/>
                <a:ea typeface="Calibri" pitchFamily="34" charset="-122"/>
                <a:cs typeface="Calibri" pitchFamily="34" charset="-120"/>
              </a:rPr>
              <a:t>Deprecated — use LCEL with memory instead.</a:t>
            </a:r>
            <a:endParaRPr lang="en-US" sz="1300" dirty="0"/>
          </a:p>
        </p:txBody>
      </p:sp>
      <p:sp>
        <p:nvSpPr>
          <p:cNvPr id="7" name="Shape 5"/>
          <p:cNvSpPr/>
          <p:nvPr/>
        </p:nvSpPr>
        <p:spPr>
          <a:xfrm>
            <a:off x="475488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0D9488"/>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MODERN LCEL (Recommended)</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300" b="1" dirty="0">
                <a:solidFill>
                  <a:srgbClr val="0D9488"/>
                </a:solidFill>
                <a:latin typeface="Calibri" pitchFamily="34" charset="0"/>
                <a:ea typeface="Calibri" pitchFamily="34" charset="-122"/>
                <a:cs typeface="Calibri" pitchFamily="34" charset="-120"/>
              </a:rPr>
              <a:t>Simple Chain</a:t>
            </a:r>
            <a:pPr indent="0" marL="0">
              <a:buNone/>
            </a:pPr>
            <a:r>
              <a:rPr lang="en-US" sz="1000" dirty="0">
                <a:solidFill>
                  <a:srgbClr val="64748B"/>
                </a:solidFill>
                <a:latin typeface="Calibri" pitchFamily="34" charset="0"/>
                <a:ea typeface="Calibri" pitchFamily="34" charset="-122"/>
                <a:cs typeface="Calibri" pitchFamily="34" charset="-120"/>
              </a:rPr>
              <a:t>chain = prompt | model | parser</a:t>
            </a:r>
            <a:pPr indent="0" marL="0">
              <a:buNone/>
            </a:pPr>
            <a:pPr indent="0" marL="0">
              <a:buNone/>
            </a:pPr>
            <a:r>
              <a:rPr lang="en-US" sz="1300" b="1" dirty="0">
                <a:solidFill>
                  <a:srgbClr val="0D9488"/>
                </a:solidFill>
                <a:latin typeface="Calibri" pitchFamily="34" charset="0"/>
                <a:ea typeface="Calibri" pitchFamily="34" charset="-122"/>
                <a:cs typeface="Calibri" pitchFamily="34" charset="-120"/>
              </a:rPr>
              <a:t>Sequential</a:t>
            </a:r>
            <a:pPr indent="0" marL="0">
              <a:buNone/>
            </a:pPr>
            <a:r>
              <a:rPr lang="en-US" sz="1000" dirty="0">
                <a:solidFill>
                  <a:srgbClr val="64748B"/>
                </a:solidFill>
                <a:latin typeface="Calibri" pitchFamily="34" charset="0"/>
                <a:ea typeface="Calibri" pitchFamily="34" charset="-122"/>
                <a:cs typeface="Calibri" pitchFamily="34" charset="-120"/>
              </a:rPr>
              <a:t>full_chain = {"outline": outline} | essay</a:t>
            </a:r>
            <a:pPr indent="0" marL="0">
              <a:buNone/>
            </a:pPr>
            <a:pPr indent="0" marL="0">
              <a:buNone/>
            </a:pPr>
            <a:r>
              <a:rPr lang="en-US" sz="1300" b="1" dirty="0">
                <a:solidFill>
                  <a:srgbClr val="0D9488"/>
                </a:solidFill>
                <a:latin typeface="Calibri" pitchFamily="34" charset="0"/>
                <a:ea typeface="Calibri" pitchFamily="34" charset="-122"/>
                <a:cs typeface="Calibri" pitchFamily="34" charset="-120"/>
              </a:rPr>
              <a:t>Parallel</a:t>
            </a:r>
            <a:pPr indent="0" marL="0">
              <a:buNone/>
            </a:pPr>
            <a:r>
              <a:rPr lang="en-US" sz="1000" dirty="0">
                <a:solidFill>
                  <a:srgbClr val="64748B"/>
                </a:solidFill>
                <a:latin typeface="Calibri" pitchFamily="34" charset="0"/>
                <a:ea typeface="Calibri" pitchFamily="34" charset="-122"/>
                <a:cs typeface="Calibri" pitchFamily="34" charset="-120"/>
              </a:rPr>
              <a:t>RunnableParallel({summary, keywords})</a:t>
            </a:r>
            <a:pPr indent="0" marL="0">
              <a:buNone/>
            </a:pPr>
            <a:pPr indent="0" marL="0">
              <a:buNone/>
            </a:pPr>
            <a:r>
              <a:rPr lang="en-US" sz="1000" b="1" dirty="0">
                <a:solidFill>
                  <a:srgbClr val="059669"/>
                </a:solidFill>
                <a:latin typeface="Calibri" pitchFamily="34" charset="0"/>
                <a:ea typeface="Calibri" pitchFamily="34" charset="-122"/>
                <a:cs typeface="Calibri" pitchFamily="34" charset="-120"/>
              </a:rPr>
              <a:t>Built-in: streaming, async, fallbacks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Chat Models &amp; Streaming</a:t>
            </a:r>
            <a:endParaRPr lang="en-US" sz="2800" dirty="0"/>
          </a:p>
        </p:txBody>
      </p:sp>
      <p:sp>
        <p:nvSpPr>
          <p:cNvPr id="3" name="Shape 1"/>
          <p:cNvSpPr/>
          <p:nvPr/>
        </p:nvSpPr>
        <p:spPr>
          <a:xfrm>
            <a:off x="457200" y="1188720"/>
            <a:ext cx="393192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188720"/>
            <a:ext cx="73152" cy="1645920"/>
          </a:xfrm>
          <a:prstGeom prst="rect">
            <a:avLst/>
          </a:prstGeom>
          <a:solidFill>
            <a:srgbClr val="0D9488"/>
          </a:solidFill>
          <a:ln/>
        </p:spPr>
      </p:sp>
      <p:sp>
        <p:nvSpPr>
          <p:cNvPr id="5" name="Text 3"/>
          <p:cNvSpPr/>
          <p:nvPr/>
        </p:nvSpPr>
        <p:spPr>
          <a:xfrm>
            <a:off x="731520" y="132588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3</a:t>
            </a:r>
            <a:endParaRPr lang="en-US" sz="2800" dirty="0"/>
          </a:p>
        </p:txBody>
      </p:sp>
      <p:sp>
        <p:nvSpPr>
          <p:cNvPr id="6" name="Text 4"/>
          <p:cNvSpPr/>
          <p:nvPr/>
        </p:nvSpPr>
        <p:spPr>
          <a:xfrm>
            <a:off x="2103120" y="137160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Message Types</a:t>
            </a:r>
            <a:endParaRPr lang="en-US" sz="1400" dirty="0"/>
          </a:p>
        </p:txBody>
      </p:sp>
      <p:sp>
        <p:nvSpPr>
          <p:cNvPr id="7" name="Text 5"/>
          <p:cNvSpPr/>
          <p:nvPr/>
        </p:nvSpPr>
        <p:spPr>
          <a:xfrm>
            <a:off x="731520" y="2011680"/>
            <a:ext cx="347472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SystemMessage, HumanMessage, AIMessage — structured conversation roles</a:t>
            </a:r>
            <a:endParaRPr lang="en-US" sz="1100" dirty="0"/>
          </a:p>
        </p:txBody>
      </p:sp>
      <p:sp>
        <p:nvSpPr>
          <p:cNvPr id="8" name="Shape 6"/>
          <p:cNvSpPr/>
          <p:nvPr/>
        </p:nvSpPr>
        <p:spPr>
          <a:xfrm>
            <a:off x="4663440" y="1188720"/>
            <a:ext cx="393192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663440" y="1188720"/>
            <a:ext cx="73152" cy="1645920"/>
          </a:xfrm>
          <a:prstGeom prst="rect">
            <a:avLst/>
          </a:prstGeom>
          <a:solidFill>
            <a:srgbClr val="F97316"/>
          </a:solidFill>
          <a:ln/>
        </p:spPr>
      </p:sp>
      <p:sp>
        <p:nvSpPr>
          <p:cNvPr id="10" name="Text 8"/>
          <p:cNvSpPr/>
          <p:nvPr/>
        </p:nvSpPr>
        <p:spPr>
          <a:xfrm>
            <a:off x="4937760" y="132588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a:t>
            </a:r>
            <a:endParaRPr lang="en-US" sz="2800" dirty="0"/>
          </a:p>
        </p:txBody>
      </p:sp>
      <p:sp>
        <p:nvSpPr>
          <p:cNvPr id="11" name="Text 9"/>
          <p:cNvSpPr/>
          <p:nvPr/>
        </p:nvSpPr>
        <p:spPr>
          <a:xfrm>
            <a:off x="6309360" y="137160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Streaming</a:t>
            </a:r>
            <a:endParaRPr lang="en-US" sz="1400" dirty="0"/>
          </a:p>
        </p:txBody>
      </p:sp>
      <p:sp>
        <p:nvSpPr>
          <p:cNvPr id="12" name="Text 10"/>
          <p:cNvSpPr/>
          <p:nvPr/>
        </p:nvSpPr>
        <p:spPr>
          <a:xfrm>
            <a:off x="4937760" y="2011680"/>
            <a:ext cx="347472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Real-time token output with .stream() for responsive UX</a:t>
            </a:r>
            <a:endParaRPr lang="en-US" sz="1100" dirty="0"/>
          </a:p>
        </p:txBody>
      </p:sp>
      <p:sp>
        <p:nvSpPr>
          <p:cNvPr id="13" name="Shape 11"/>
          <p:cNvSpPr/>
          <p:nvPr/>
        </p:nvSpPr>
        <p:spPr>
          <a:xfrm>
            <a:off x="457200" y="3017520"/>
            <a:ext cx="393192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3017520"/>
            <a:ext cx="73152" cy="1645920"/>
          </a:xfrm>
          <a:prstGeom prst="rect">
            <a:avLst/>
          </a:prstGeom>
          <a:solidFill>
            <a:srgbClr val="8B5CF6"/>
          </a:solidFill>
          <a:ln/>
        </p:spPr>
      </p:sp>
      <p:sp>
        <p:nvSpPr>
          <p:cNvPr id="15" name="Text 13"/>
          <p:cNvSpPr/>
          <p:nvPr/>
        </p:nvSpPr>
        <p:spPr>
          <a:xfrm>
            <a:off x="731520" y="315468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async</a:t>
            </a:r>
            <a:endParaRPr lang="en-US" sz="2800" dirty="0"/>
          </a:p>
        </p:txBody>
      </p:sp>
      <p:sp>
        <p:nvSpPr>
          <p:cNvPr id="16" name="Text 14"/>
          <p:cNvSpPr/>
          <p:nvPr/>
        </p:nvSpPr>
        <p:spPr>
          <a:xfrm>
            <a:off x="2103120" y="320040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Async Support</a:t>
            </a:r>
            <a:endParaRPr lang="en-US" sz="1400" dirty="0"/>
          </a:p>
        </p:txBody>
      </p:sp>
      <p:sp>
        <p:nvSpPr>
          <p:cNvPr id="17" name="Text 15"/>
          <p:cNvSpPr/>
          <p:nvPr/>
        </p:nvSpPr>
        <p:spPr>
          <a:xfrm>
            <a:off x="731520" y="3840480"/>
            <a:ext cx="347472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ainvoke(), astream() — concurrent calls with asyncio.gather()</a:t>
            </a:r>
            <a:endParaRPr lang="en-US" sz="1100" dirty="0"/>
          </a:p>
        </p:txBody>
      </p:sp>
      <p:sp>
        <p:nvSpPr>
          <p:cNvPr id="18" name="Shape 16"/>
          <p:cNvSpPr/>
          <p:nvPr/>
        </p:nvSpPr>
        <p:spPr>
          <a:xfrm>
            <a:off x="4663440" y="3017520"/>
            <a:ext cx="393192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663440" y="3017520"/>
            <a:ext cx="73152" cy="1645920"/>
          </a:xfrm>
          <a:prstGeom prst="rect">
            <a:avLst/>
          </a:prstGeom>
          <a:solidFill>
            <a:srgbClr val="3B82F6"/>
          </a:solidFill>
          <a:ln/>
        </p:spPr>
      </p:sp>
      <p:sp>
        <p:nvSpPr>
          <p:cNvPr id="20" name="Text 18"/>
          <p:cNvSpPr/>
          <p:nvPr/>
        </p:nvSpPr>
        <p:spPr>
          <a:xfrm>
            <a:off x="4937760" y="3154680"/>
            <a:ext cx="1371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7+</a:t>
            </a:r>
            <a:endParaRPr lang="en-US" sz="2800" dirty="0"/>
          </a:p>
        </p:txBody>
      </p:sp>
      <p:sp>
        <p:nvSpPr>
          <p:cNvPr id="21" name="Text 19"/>
          <p:cNvSpPr/>
          <p:nvPr/>
        </p:nvSpPr>
        <p:spPr>
          <a:xfrm>
            <a:off x="6309360" y="320040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Parameters</a:t>
            </a:r>
            <a:endParaRPr lang="en-US" sz="1400" dirty="0"/>
          </a:p>
        </p:txBody>
      </p:sp>
      <p:sp>
        <p:nvSpPr>
          <p:cNvPr id="22" name="Text 20"/>
          <p:cNvSpPr/>
          <p:nvPr/>
        </p:nvSpPr>
        <p:spPr>
          <a:xfrm>
            <a:off x="4937760" y="3840480"/>
            <a:ext cx="3474720" cy="6400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temperature, max_tokens, top_p, seed, timeout, retries, and more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B5CF6"/>
        </a:solidFill>
      </p:bgPr>
    </p:bg>
    <p:spTree>
      <p:nvGrpSpPr>
        <p:cNvPr id="1" name=""/>
        <p:cNvGrpSpPr/>
        <p:nvPr/>
      </p:nvGrpSpPr>
      <p:grpSpPr>
        <a:xfrm>
          <a:off x="0" y="0"/>
          <a:ext cx="0" cy="0"/>
          <a:chOff x="0" y="0"/>
          <a:chExt cx="0" cy="0"/>
        </a:xfrm>
      </p:grpSpPr>
      <p:sp>
        <p:nvSpPr>
          <p:cNvPr id="2" name="Text 0"/>
          <p:cNvSpPr/>
          <p:nvPr/>
        </p:nvSpPr>
        <p:spPr>
          <a:xfrm>
            <a:off x="0" y="2011680"/>
            <a:ext cx="9144000" cy="457200"/>
          </a:xfrm>
          <a:prstGeom prst="rect">
            <a:avLst/>
          </a:prstGeom>
          <a:noFill/>
          <a:ln/>
        </p:spPr>
        <p:txBody>
          <a:bodyPr wrap="square" lIns="0" tIns="0" rIns="0" bIns="0" rtlCol="0" anchor="ctr"/>
          <a:lstStyle/>
          <a:p>
            <a:pPr algn="ctr" indent="0" marL="0">
              <a:buNone/>
            </a:pPr>
            <a:r>
              <a:rPr lang="en-US" sz="1800" dirty="0">
                <a:solidFill>
                  <a:srgbClr val="D8B4FE"/>
                </a:solidFill>
                <a:latin typeface="Calibri" pitchFamily="34" charset="0"/>
                <a:ea typeface="Calibri" pitchFamily="34" charset="-122"/>
                <a:cs typeface="Calibri" pitchFamily="34" charset="-120"/>
              </a:rPr>
              <a:t>Section 2.4</a:t>
            </a:r>
            <a:endParaRPr lang="en-US" sz="1800" dirty="0"/>
          </a:p>
        </p:txBody>
      </p:sp>
      <p:sp>
        <p:nvSpPr>
          <p:cNvPr id="3" name="Text 1"/>
          <p:cNvSpPr/>
          <p:nvPr/>
        </p:nvSpPr>
        <p:spPr>
          <a:xfrm>
            <a:off x="0" y="2468880"/>
            <a:ext cx="91440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Memory, Tools &amp; Agents</a:t>
            </a:r>
            <a:endParaRPr lang="en-US" sz="4200" dirty="0"/>
          </a:p>
        </p:txBody>
      </p:sp>
      <p:sp>
        <p:nvSpPr>
          <p:cNvPr id="4" name="Text 2"/>
          <p:cNvSpPr/>
          <p:nvPr/>
        </p:nvSpPr>
        <p:spPr>
          <a:xfrm>
            <a:off x="0" y="3474720"/>
            <a:ext cx="9144000" cy="457200"/>
          </a:xfrm>
          <a:prstGeom prst="rect">
            <a:avLst/>
          </a:prstGeom>
          <a:noFill/>
          <a:ln/>
        </p:spPr>
        <p:txBody>
          <a:bodyPr wrap="square" lIns="0" tIns="0" rIns="0" bIns="0" rtlCol="0" anchor="ctr"/>
          <a:lstStyle/>
          <a:p>
            <a:pPr algn="ctr" indent="0" marL="0">
              <a:buNone/>
            </a:pPr>
            <a:r>
              <a:rPr lang="en-US" sz="1600" dirty="0">
                <a:solidFill>
                  <a:srgbClr val="D8B4FE"/>
                </a:solidFill>
                <a:latin typeface="Calibri" pitchFamily="34" charset="0"/>
                <a:ea typeface="Calibri" pitchFamily="34" charset="-122"/>
                <a:cs typeface="Calibri" pitchFamily="34" charset="-120"/>
              </a:rPr>
              <a:t>Adding state, actions, and autonomy to LLM applications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Memory Types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Buffer Memory</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Stores complete conversation history. Simple but token-heavy for long chats.</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W</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Window Memory</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Keeps only the last N exchanges. Balances context with token efficiency.</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S</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Summary Memory</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Maintains a running summary via LLM. Compresses long conversations.</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V</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Vector Memory</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Semantic search over past conversations. Retrieves relevant context on demand.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Tools &amp; Agents</a:t>
            </a:r>
            <a:endParaRPr lang="en-US" sz="2800" dirty="0"/>
          </a:p>
        </p:txBody>
      </p:sp>
      <p:sp>
        <p:nvSpPr>
          <p:cNvPr id="3" name="Shape 1"/>
          <p:cNvSpPr/>
          <p:nvPr/>
        </p:nvSpPr>
        <p:spPr>
          <a:xfrm>
            <a:off x="45720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0D9488"/>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TOOLS</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Functions an agent can invoke</a:t>
            </a:r>
            <a:pPr indent="0" marL="0">
              <a:buNone/>
            </a:pPr>
            <a:pPr indent="0" marL="0">
              <a:buNone/>
            </a:pPr>
            <a:r>
              <a:rPr lang="en-US" sz="1100" dirty="0">
                <a:solidFill>
                  <a:srgbClr val="64748B"/>
                </a:solidFill>
                <a:latin typeface="Calibri" pitchFamily="34" charset="0"/>
                <a:ea typeface="Calibri" pitchFamily="34" charset="-122"/>
                <a:cs typeface="Calibri" pitchFamily="34" charset="-120"/>
              </a:rPr>
              <a:t>@tool decorator defines tools</a:t>
            </a:r>
            <a:pPr indent="0" marL="0">
              <a:buNone/>
            </a:pPr>
            <a:r>
              <a:rPr lang="en-US" sz="1100" dirty="0">
                <a:solidFill>
                  <a:srgbClr val="64748B"/>
                </a:solidFill>
                <a:latin typeface="Calibri" pitchFamily="34" charset="0"/>
                <a:ea typeface="Calibri" pitchFamily="34" charset="-122"/>
                <a:cs typeface="Calibri" pitchFamily="34" charset="-120"/>
              </a:rPr>
              <a:t>Docstring becomes tool description</a:t>
            </a:r>
            <a:pPr indent="0" marL="0">
              <a:buNone/>
            </a:pPr>
            <a:r>
              <a:rPr lang="en-US" sz="1100" dirty="0">
                <a:solidFill>
                  <a:srgbClr val="64748B"/>
                </a:solidFill>
                <a:latin typeface="Calibri" pitchFamily="34" charset="0"/>
                <a:ea typeface="Calibri" pitchFamily="34" charset="-122"/>
                <a:cs typeface="Calibri" pitchFamily="34" charset="-120"/>
              </a:rPr>
              <a:t>Type hints define parameters</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Examples:</a:t>
            </a:r>
            <a:pPr indent="0" marL="0">
              <a:buNone/>
            </a:pPr>
            <a:r>
              <a:rPr lang="en-US" sz="1100" dirty="0">
                <a:solidFill>
                  <a:srgbClr val="0D9488"/>
                </a:solidFill>
                <a:latin typeface="Calibri" pitchFamily="34" charset="0"/>
                <a:ea typeface="Calibri" pitchFamily="34" charset="-122"/>
                <a:cs typeface="Calibri" pitchFamily="34" charset="-120"/>
              </a:rPr>
              <a:t>calculator(), search_weather()</a:t>
            </a:r>
            <a:pPr indent="0" marL="0">
              <a:buNone/>
            </a:pPr>
            <a:r>
              <a:rPr lang="en-US" sz="1100" dirty="0">
                <a:solidFill>
                  <a:srgbClr val="0D9488"/>
                </a:solidFill>
                <a:latin typeface="Calibri" pitchFamily="34" charset="0"/>
                <a:ea typeface="Calibri" pitchFamily="34" charset="-122"/>
                <a:cs typeface="Calibri" pitchFamily="34" charset="-120"/>
              </a:rPr>
              <a:t>get_current_time(), db_query()</a:t>
            </a:r>
            <a:pPr indent="0" marL="0">
              <a:buNone/>
            </a:pPr>
            <a:r>
              <a:rPr lang="en-US" sz="1100" dirty="0">
                <a:solidFill>
                  <a:srgbClr val="0D9488"/>
                </a:solidFill>
                <a:latin typeface="Calibri" pitchFamily="34" charset="0"/>
                <a:ea typeface="Calibri" pitchFamily="34" charset="-122"/>
                <a:cs typeface="Calibri" pitchFamily="34" charset="-120"/>
              </a:rPr>
              <a:t>web_search(), file_reader()</a:t>
            </a:r>
            <a:endParaRPr lang="en-US" sz="1200" dirty="0"/>
          </a:p>
        </p:txBody>
      </p:sp>
      <p:sp>
        <p:nvSpPr>
          <p:cNvPr id="7" name="Shape 5"/>
          <p:cNvSpPr/>
          <p:nvPr/>
        </p:nvSpPr>
        <p:spPr>
          <a:xfrm>
            <a:off x="4754880" y="1097280"/>
            <a:ext cx="3931920" cy="3657600"/>
          </a:xfrm>
          <a:prstGeom prst="rect">
            <a:avLst/>
          </a:prstGeom>
          <a:solidFill>
            <a:srgbClr val="FFF7ED"/>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F97316"/>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AGENTS</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LLMs that decide which tools to use</a:t>
            </a:r>
            <a:pPr indent="0" marL="0">
              <a:buNone/>
            </a:pPr>
            <a:pPr indent="0" marL="0">
              <a:buNone/>
            </a:pPr>
            <a:r>
              <a:rPr lang="en-US" sz="1100" dirty="0">
                <a:solidFill>
                  <a:srgbClr val="64748B"/>
                </a:solidFill>
                <a:latin typeface="Calibri" pitchFamily="34" charset="0"/>
                <a:ea typeface="Calibri" pitchFamily="34" charset="-122"/>
                <a:cs typeface="Calibri" pitchFamily="34" charset="-120"/>
              </a:rPr>
              <a:t>Thought → Action → Observation loop</a:t>
            </a:r>
            <a:pPr indent="0" marL="0">
              <a:buNone/>
            </a:pPr>
            <a:r>
              <a:rPr lang="en-US" sz="1100" dirty="0">
                <a:solidFill>
                  <a:srgbClr val="64748B"/>
                </a:solidFill>
                <a:latin typeface="Calibri" pitchFamily="34" charset="0"/>
                <a:ea typeface="Calibri" pitchFamily="34" charset="-122"/>
                <a:cs typeface="Calibri" pitchFamily="34" charset="-120"/>
              </a:rPr>
              <a:t>create_tool_calling_agent()</a:t>
            </a:r>
            <a:pPr indent="0" marL="0">
              <a:buNone/>
            </a:pPr>
            <a:r>
              <a:rPr lang="en-US" sz="1100" dirty="0">
                <a:solidFill>
                  <a:srgbClr val="64748B"/>
                </a:solidFill>
                <a:latin typeface="Calibri" pitchFamily="34" charset="0"/>
                <a:ea typeface="Calibri" pitchFamily="34" charset="-122"/>
                <a:cs typeface="Calibri" pitchFamily="34" charset="-120"/>
              </a:rPr>
              <a:t>AgentExecutor runs the loop</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Agent Types:</a:t>
            </a:r>
            <a:pPr indent="0" marL="0">
              <a:buNone/>
            </a:pPr>
            <a:r>
              <a:rPr lang="en-US" sz="1100" dirty="0">
                <a:solidFill>
                  <a:srgbClr val="F97316"/>
                </a:solidFill>
                <a:latin typeface="Calibri" pitchFamily="34" charset="0"/>
                <a:ea typeface="Calibri" pitchFamily="34" charset="-122"/>
                <a:cs typeface="Calibri" pitchFamily="34" charset="-120"/>
              </a:rPr>
              <a:t>Tool Calling — native function calls</a:t>
            </a:r>
            <a:pPr indent="0" marL="0">
              <a:buNone/>
            </a:pPr>
            <a:r>
              <a:rPr lang="en-US" sz="1100" dirty="0">
                <a:solidFill>
                  <a:srgbClr val="F97316"/>
                </a:solidFill>
                <a:latin typeface="Calibri" pitchFamily="34" charset="0"/>
                <a:ea typeface="Calibri" pitchFamily="34" charset="-122"/>
                <a:cs typeface="Calibri" pitchFamily="34" charset="-120"/>
              </a:rPr>
              <a:t>ReAct — reasoning + acting loop</a:t>
            </a:r>
            <a:pPr indent="0" marL="0">
              <a:buNone/>
            </a:pPr>
            <a:r>
              <a:rPr lang="en-US" sz="1100" dirty="0">
                <a:solidFill>
                  <a:srgbClr val="F97316"/>
                </a:solidFill>
                <a:latin typeface="Calibri" pitchFamily="34" charset="0"/>
                <a:ea typeface="Calibri" pitchFamily="34" charset="-122"/>
                <a:cs typeface="Calibri" pitchFamily="34" charset="-120"/>
              </a:rPr>
              <a:t>Plan-and-Execute — strategy first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Agent Types Comparison</a:t>
            </a:r>
            <a:endParaRPr lang="en-US" sz="2800" dirty="0"/>
          </a:p>
        </p:txBody>
      </p:sp>
      <p:sp>
        <p:nvSpPr>
          <p:cNvPr id="3" name="Text 1"/>
          <p:cNvSpPr/>
          <p:nvPr/>
        </p:nvSpPr>
        <p:spPr>
          <a:xfrm>
            <a:off x="457200" y="1097280"/>
            <a:ext cx="2286000" cy="365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Agent Type</a:t>
            </a:r>
            <a:endParaRPr lang="en-US" sz="1300" dirty="0"/>
          </a:p>
        </p:txBody>
      </p:sp>
      <p:sp>
        <p:nvSpPr>
          <p:cNvPr id="4" name="Text 2"/>
          <p:cNvSpPr/>
          <p:nvPr/>
        </p:nvSpPr>
        <p:spPr>
          <a:xfrm>
            <a:off x="2926080" y="1097280"/>
            <a:ext cx="3108960" cy="365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Mechanism</a:t>
            </a:r>
            <a:endParaRPr lang="en-US" sz="1300" dirty="0"/>
          </a:p>
        </p:txBody>
      </p:sp>
      <p:sp>
        <p:nvSpPr>
          <p:cNvPr id="5" name="Text 3"/>
          <p:cNvSpPr/>
          <p:nvPr/>
        </p:nvSpPr>
        <p:spPr>
          <a:xfrm>
            <a:off x="6217920" y="1097280"/>
            <a:ext cx="2560320" cy="365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Best For</a:t>
            </a:r>
            <a:endParaRPr lang="en-US" sz="1300" dirty="0"/>
          </a:p>
        </p:txBody>
      </p:sp>
      <p:sp>
        <p:nvSpPr>
          <p:cNvPr id="6" name="Shape 4"/>
          <p:cNvSpPr/>
          <p:nvPr/>
        </p:nvSpPr>
        <p:spPr>
          <a:xfrm>
            <a:off x="457200" y="1463040"/>
            <a:ext cx="8229600" cy="18288"/>
          </a:xfrm>
          <a:prstGeom prst="rect">
            <a:avLst/>
          </a:prstGeom>
          <a:solidFill>
            <a:srgbClr val="E2E8F0"/>
          </a:solidFill>
          <a:ln/>
        </p:spPr>
      </p:sp>
      <p:sp>
        <p:nvSpPr>
          <p:cNvPr id="7" name="Shape 5"/>
          <p:cNvSpPr/>
          <p:nvPr/>
        </p:nvSpPr>
        <p:spPr>
          <a:xfrm>
            <a:off x="274320" y="1737360"/>
            <a:ext cx="73152" cy="457200"/>
          </a:xfrm>
          <a:prstGeom prst="rect">
            <a:avLst/>
          </a:prstGeom>
          <a:solidFill>
            <a:srgbClr val="0D9488"/>
          </a:solidFill>
          <a:ln/>
        </p:spPr>
      </p:sp>
      <p:sp>
        <p:nvSpPr>
          <p:cNvPr id="8" name="Text 6"/>
          <p:cNvSpPr/>
          <p:nvPr/>
        </p:nvSpPr>
        <p:spPr>
          <a:xfrm>
            <a:off x="457200" y="1645920"/>
            <a:ext cx="2286000" cy="36576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Tool Calling</a:t>
            </a:r>
            <a:endParaRPr lang="en-US" sz="1300" dirty="0"/>
          </a:p>
        </p:txBody>
      </p:sp>
      <p:sp>
        <p:nvSpPr>
          <p:cNvPr id="9" name="Text 7"/>
          <p:cNvSpPr/>
          <p:nvPr/>
        </p:nvSpPr>
        <p:spPr>
          <a:xfrm>
            <a:off x="2926080" y="1645920"/>
            <a:ext cx="310896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Native function calling API</a:t>
            </a:r>
            <a:endParaRPr lang="en-US" sz="1200" dirty="0"/>
          </a:p>
        </p:txBody>
      </p:sp>
      <p:sp>
        <p:nvSpPr>
          <p:cNvPr id="10" name="Text 8"/>
          <p:cNvSpPr/>
          <p:nvPr/>
        </p:nvSpPr>
        <p:spPr>
          <a:xfrm>
            <a:off x="6217920" y="1645920"/>
            <a:ext cx="25603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Modern LLMs with tool support</a:t>
            </a:r>
            <a:endParaRPr lang="en-US" sz="1200" dirty="0"/>
          </a:p>
        </p:txBody>
      </p:sp>
      <p:sp>
        <p:nvSpPr>
          <p:cNvPr id="11" name="Shape 9"/>
          <p:cNvSpPr/>
          <p:nvPr/>
        </p:nvSpPr>
        <p:spPr>
          <a:xfrm>
            <a:off x="274320" y="2514600"/>
            <a:ext cx="73152" cy="457200"/>
          </a:xfrm>
          <a:prstGeom prst="rect">
            <a:avLst/>
          </a:prstGeom>
          <a:solidFill>
            <a:srgbClr val="F97316"/>
          </a:solidFill>
          <a:ln/>
        </p:spPr>
      </p:sp>
      <p:sp>
        <p:nvSpPr>
          <p:cNvPr id="12" name="Text 10"/>
          <p:cNvSpPr/>
          <p:nvPr/>
        </p:nvSpPr>
        <p:spPr>
          <a:xfrm>
            <a:off x="457200" y="2423160"/>
            <a:ext cx="2286000" cy="36576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ReAct</a:t>
            </a:r>
            <a:endParaRPr lang="en-US" sz="1300" dirty="0"/>
          </a:p>
        </p:txBody>
      </p:sp>
      <p:sp>
        <p:nvSpPr>
          <p:cNvPr id="13" name="Text 11"/>
          <p:cNvSpPr/>
          <p:nvPr/>
        </p:nvSpPr>
        <p:spPr>
          <a:xfrm>
            <a:off x="2926080" y="2423160"/>
            <a:ext cx="310896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Thought → Action → Observation loop</a:t>
            </a:r>
            <a:endParaRPr lang="en-US" sz="1200" dirty="0"/>
          </a:p>
        </p:txBody>
      </p:sp>
      <p:sp>
        <p:nvSpPr>
          <p:cNvPr id="14" name="Text 12"/>
          <p:cNvSpPr/>
          <p:nvPr/>
        </p:nvSpPr>
        <p:spPr>
          <a:xfrm>
            <a:off x="6217920" y="2423160"/>
            <a:ext cx="25603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Complex multi-step reasoning</a:t>
            </a:r>
            <a:endParaRPr lang="en-US" sz="1200" dirty="0"/>
          </a:p>
        </p:txBody>
      </p:sp>
      <p:sp>
        <p:nvSpPr>
          <p:cNvPr id="15" name="Shape 13"/>
          <p:cNvSpPr/>
          <p:nvPr/>
        </p:nvSpPr>
        <p:spPr>
          <a:xfrm>
            <a:off x="274320" y="3291840"/>
            <a:ext cx="73152" cy="457200"/>
          </a:xfrm>
          <a:prstGeom prst="rect">
            <a:avLst/>
          </a:prstGeom>
          <a:solidFill>
            <a:srgbClr val="8B5CF6"/>
          </a:solidFill>
          <a:ln/>
        </p:spPr>
      </p:sp>
      <p:sp>
        <p:nvSpPr>
          <p:cNvPr id="16" name="Text 14"/>
          <p:cNvSpPr/>
          <p:nvPr/>
        </p:nvSpPr>
        <p:spPr>
          <a:xfrm>
            <a:off x="457200" y="3200400"/>
            <a:ext cx="2286000" cy="36576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Plan-and-Execute</a:t>
            </a:r>
            <a:endParaRPr lang="en-US" sz="1300" dirty="0"/>
          </a:p>
        </p:txBody>
      </p:sp>
      <p:sp>
        <p:nvSpPr>
          <p:cNvPr id="17" name="Text 15"/>
          <p:cNvSpPr/>
          <p:nvPr/>
        </p:nvSpPr>
        <p:spPr>
          <a:xfrm>
            <a:off x="2926080" y="3200400"/>
            <a:ext cx="310896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Plans strategy first, then executes</a:t>
            </a:r>
            <a:endParaRPr lang="en-US" sz="1200" dirty="0"/>
          </a:p>
        </p:txBody>
      </p:sp>
      <p:sp>
        <p:nvSpPr>
          <p:cNvPr id="18" name="Text 16"/>
          <p:cNvSpPr/>
          <p:nvPr/>
        </p:nvSpPr>
        <p:spPr>
          <a:xfrm>
            <a:off x="6217920" y="3200400"/>
            <a:ext cx="25603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Tasks requiring forethought</a:t>
            </a:r>
            <a:endParaRPr lang="en-US" sz="1200" dirty="0"/>
          </a:p>
        </p:txBody>
      </p:sp>
      <p:sp>
        <p:nvSpPr>
          <p:cNvPr id="19" name="Shape 17"/>
          <p:cNvSpPr/>
          <p:nvPr/>
        </p:nvSpPr>
        <p:spPr>
          <a:xfrm>
            <a:off x="274320" y="4069080"/>
            <a:ext cx="73152" cy="457200"/>
          </a:xfrm>
          <a:prstGeom prst="rect">
            <a:avLst/>
          </a:prstGeom>
          <a:solidFill>
            <a:srgbClr val="3B82F6"/>
          </a:solidFill>
          <a:ln/>
        </p:spPr>
      </p:sp>
      <p:sp>
        <p:nvSpPr>
          <p:cNvPr id="20" name="Text 18"/>
          <p:cNvSpPr/>
          <p:nvPr/>
        </p:nvSpPr>
        <p:spPr>
          <a:xfrm>
            <a:off x="457200" y="3977640"/>
            <a:ext cx="2286000" cy="36576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Self-Ask</a:t>
            </a:r>
            <a:endParaRPr lang="en-US" sz="1300" dirty="0"/>
          </a:p>
        </p:txBody>
      </p:sp>
      <p:sp>
        <p:nvSpPr>
          <p:cNvPr id="21" name="Text 19"/>
          <p:cNvSpPr/>
          <p:nvPr/>
        </p:nvSpPr>
        <p:spPr>
          <a:xfrm>
            <a:off x="2926080" y="3977640"/>
            <a:ext cx="310896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Decomposes into sub-questions</a:t>
            </a:r>
            <a:endParaRPr lang="en-US" sz="1200" dirty="0"/>
          </a:p>
        </p:txBody>
      </p:sp>
      <p:sp>
        <p:nvSpPr>
          <p:cNvPr id="22" name="Text 20"/>
          <p:cNvSpPr/>
          <p:nvPr/>
        </p:nvSpPr>
        <p:spPr>
          <a:xfrm>
            <a:off x="6217920" y="3977640"/>
            <a:ext cx="25603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Multi-hop reasoning chains</a:t>
            </a:r>
            <a:endParaRPr lang="en-US" sz="1200" dirty="0"/>
          </a:p>
        </p:txBody>
      </p:sp>
      <p:sp>
        <p:nvSpPr>
          <p:cNvPr id="23" name="Shape 21"/>
          <p:cNvSpPr/>
          <p:nvPr/>
        </p:nvSpPr>
        <p:spPr>
          <a:xfrm>
            <a:off x="457200" y="3657600"/>
            <a:ext cx="8229600" cy="10972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57200" y="3657600"/>
            <a:ext cx="73152" cy="1097280"/>
          </a:xfrm>
          <a:prstGeom prst="rect">
            <a:avLst/>
          </a:prstGeom>
          <a:solidFill>
            <a:srgbClr val="0D9488"/>
          </a:solidFill>
          <a:ln/>
        </p:spPr>
      </p:sp>
      <p:sp>
        <p:nvSpPr>
          <p:cNvPr id="25" name="Text 23"/>
          <p:cNvSpPr/>
          <p:nvPr/>
        </p:nvSpPr>
        <p:spPr>
          <a:xfrm>
            <a:off x="731520" y="3749040"/>
            <a:ext cx="777240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Production Tip</a:t>
            </a:r>
            <a:endParaRPr lang="en-US" sz="1300" dirty="0"/>
          </a:p>
        </p:txBody>
      </p:sp>
      <p:sp>
        <p:nvSpPr>
          <p:cNvPr id="26" name="Text 24"/>
          <p:cNvSpPr/>
          <p:nvPr/>
        </p:nvSpPr>
        <p:spPr>
          <a:xfrm>
            <a:off x="731520" y="4069080"/>
            <a:ext cx="777240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Start with Tool Calling Agent for most use cases — it leverages native function calling and is the most reliable. Add memory with ConversationBufferMemory. Use AgentExecutor with handle_parsing_errors=True and verbose=True for debugging.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0" y="2011680"/>
            <a:ext cx="9144000" cy="457200"/>
          </a:xfrm>
          <a:prstGeom prst="rect">
            <a:avLst/>
          </a:prstGeom>
          <a:noFill/>
          <a:ln/>
        </p:spPr>
        <p:txBody>
          <a:bodyPr wrap="square" lIns="0" tIns="0" rIns="0" bIns="0" rtlCol="0" anchor="ctr"/>
          <a:lstStyle/>
          <a:p>
            <a:pPr algn="ctr" indent="0" marL="0">
              <a:buNone/>
            </a:pPr>
            <a:r>
              <a:rPr lang="en-US" sz="1800" dirty="0">
                <a:solidFill>
                  <a:srgbClr val="0D9488"/>
                </a:solidFill>
                <a:latin typeface="Calibri" pitchFamily="34" charset="0"/>
                <a:ea typeface="Calibri" pitchFamily="34" charset="-122"/>
                <a:cs typeface="Calibri" pitchFamily="34" charset="-120"/>
              </a:rPr>
              <a:t>Section 2.5</a:t>
            </a:r>
            <a:endParaRPr lang="en-US" sz="1800" dirty="0"/>
          </a:p>
        </p:txBody>
      </p:sp>
      <p:sp>
        <p:nvSpPr>
          <p:cNvPr id="3" name="Text 1"/>
          <p:cNvSpPr/>
          <p:nvPr/>
        </p:nvSpPr>
        <p:spPr>
          <a:xfrm>
            <a:off x="0" y="2468880"/>
            <a:ext cx="91440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Patterns &amp; Best Practices</a:t>
            </a:r>
            <a:endParaRPr lang="en-US" sz="4200" dirty="0"/>
          </a:p>
        </p:txBody>
      </p:sp>
      <p:sp>
        <p:nvSpPr>
          <p:cNvPr id="4" name="Text 2"/>
          <p:cNvSpPr/>
          <p:nvPr/>
        </p:nvSpPr>
        <p:spPr>
          <a:xfrm>
            <a:off x="0" y="3474720"/>
            <a:ext cx="914400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Production-ready patterns for reliable, scalable LangChain applications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Top Best Practices</a:t>
            </a:r>
            <a:endParaRPr lang="en-US" sz="2800" dirty="0"/>
          </a:p>
        </p:txBody>
      </p:sp>
      <p:sp>
        <p:nvSpPr>
          <p:cNvPr id="3" name="Shape 1"/>
          <p:cNvSpPr/>
          <p:nvPr/>
        </p:nvSpPr>
        <p:spPr>
          <a:xfrm>
            <a:off x="274320" y="109728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11480" y="1234440"/>
            <a:ext cx="365760" cy="365760"/>
          </a:xfrm>
          <a:prstGeom prst="ellipse">
            <a:avLst/>
          </a:prstGeom>
          <a:solidFill>
            <a:srgbClr val="0D9488"/>
          </a:solidFill>
          <a:ln/>
        </p:spPr>
      </p:sp>
      <p:sp>
        <p:nvSpPr>
          <p:cNvPr id="5" name="Text 3"/>
          <p:cNvSpPr/>
          <p:nvPr/>
        </p:nvSpPr>
        <p:spPr>
          <a:xfrm>
            <a:off x="411480" y="125272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868680" y="128016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Use LCEL</a:t>
            </a:r>
            <a:endParaRPr lang="en-US" sz="1300" dirty="0"/>
          </a:p>
        </p:txBody>
      </p:sp>
      <p:sp>
        <p:nvSpPr>
          <p:cNvPr id="7" name="Text 5"/>
          <p:cNvSpPr/>
          <p:nvPr/>
        </p:nvSpPr>
        <p:spPr>
          <a:xfrm>
            <a:off x="411480" y="178308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Pipe operator over legacy LLMChain. Streaming, async, composable.</a:t>
            </a:r>
            <a:endParaRPr lang="en-US" sz="1000" dirty="0"/>
          </a:p>
        </p:txBody>
      </p:sp>
      <p:sp>
        <p:nvSpPr>
          <p:cNvPr id="8" name="Shape 6"/>
          <p:cNvSpPr/>
          <p:nvPr/>
        </p:nvSpPr>
        <p:spPr>
          <a:xfrm>
            <a:off x="2423160" y="109728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2560320" y="1234440"/>
            <a:ext cx="365760" cy="365760"/>
          </a:xfrm>
          <a:prstGeom prst="ellipse">
            <a:avLst/>
          </a:prstGeom>
          <a:solidFill>
            <a:srgbClr val="F97316"/>
          </a:solidFill>
          <a:ln/>
        </p:spPr>
      </p:sp>
      <p:sp>
        <p:nvSpPr>
          <p:cNvPr id="10" name="Text 8"/>
          <p:cNvSpPr/>
          <p:nvPr/>
        </p:nvSpPr>
        <p:spPr>
          <a:xfrm>
            <a:off x="2560320" y="125272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1" name="Text 9"/>
          <p:cNvSpPr/>
          <p:nvPr/>
        </p:nvSpPr>
        <p:spPr>
          <a:xfrm>
            <a:off x="3017520" y="128016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Error Handling</a:t>
            </a:r>
            <a:endParaRPr lang="en-US" sz="1300" dirty="0"/>
          </a:p>
        </p:txBody>
      </p:sp>
      <p:sp>
        <p:nvSpPr>
          <p:cNvPr id="12" name="Text 10"/>
          <p:cNvSpPr/>
          <p:nvPr/>
        </p:nvSpPr>
        <p:spPr>
          <a:xfrm>
            <a:off x="2560320" y="178308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Wrap parsers in try/except. Return graceful fallbacks.</a:t>
            </a:r>
            <a:endParaRPr lang="en-US" sz="1000" dirty="0"/>
          </a:p>
        </p:txBody>
      </p:sp>
      <p:sp>
        <p:nvSpPr>
          <p:cNvPr id="13" name="Shape 11"/>
          <p:cNvSpPr/>
          <p:nvPr/>
        </p:nvSpPr>
        <p:spPr>
          <a:xfrm>
            <a:off x="4572000" y="109728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709160" y="1234440"/>
            <a:ext cx="365760" cy="365760"/>
          </a:xfrm>
          <a:prstGeom prst="ellipse">
            <a:avLst/>
          </a:prstGeom>
          <a:solidFill>
            <a:srgbClr val="8B5CF6"/>
          </a:solidFill>
          <a:ln/>
        </p:spPr>
      </p:sp>
      <p:sp>
        <p:nvSpPr>
          <p:cNvPr id="15" name="Text 13"/>
          <p:cNvSpPr/>
          <p:nvPr/>
        </p:nvSpPr>
        <p:spPr>
          <a:xfrm>
            <a:off x="4709160" y="125272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6" name="Text 14"/>
          <p:cNvSpPr/>
          <p:nvPr/>
        </p:nvSpPr>
        <p:spPr>
          <a:xfrm>
            <a:off x="5166360" y="128016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Fallbacks</a:t>
            </a:r>
            <a:endParaRPr lang="en-US" sz="1300" dirty="0"/>
          </a:p>
        </p:txBody>
      </p:sp>
      <p:sp>
        <p:nvSpPr>
          <p:cNvPr id="17" name="Text 15"/>
          <p:cNvSpPr/>
          <p:nvPr/>
        </p:nvSpPr>
        <p:spPr>
          <a:xfrm>
            <a:off x="4709160" y="178308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.with_fallbacks() for model redundancy and reliability.</a:t>
            </a:r>
            <a:endParaRPr lang="en-US" sz="1000" dirty="0"/>
          </a:p>
        </p:txBody>
      </p:sp>
      <p:sp>
        <p:nvSpPr>
          <p:cNvPr id="18" name="Shape 16"/>
          <p:cNvSpPr/>
          <p:nvPr/>
        </p:nvSpPr>
        <p:spPr>
          <a:xfrm>
            <a:off x="6720840" y="109728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6858000" y="1234440"/>
            <a:ext cx="365760" cy="365760"/>
          </a:xfrm>
          <a:prstGeom prst="ellipse">
            <a:avLst/>
          </a:prstGeom>
          <a:solidFill>
            <a:srgbClr val="3B82F6"/>
          </a:solidFill>
          <a:ln/>
        </p:spPr>
      </p:sp>
      <p:sp>
        <p:nvSpPr>
          <p:cNvPr id="20" name="Text 18"/>
          <p:cNvSpPr/>
          <p:nvPr/>
        </p:nvSpPr>
        <p:spPr>
          <a:xfrm>
            <a:off x="6858000" y="125272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1" name="Text 19"/>
          <p:cNvSpPr/>
          <p:nvPr/>
        </p:nvSpPr>
        <p:spPr>
          <a:xfrm>
            <a:off x="7315200" y="128016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Retries</a:t>
            </a:r>
            <a:endParaRPr lang="en-US" sz="1300" dirty="0"/>
          </a:p>
        </p:txBody>
      </p:sp>
      <p:sp>
        <p:nvSpPr>
          <p:cNvPr id="22" name="Text 20"/>
          <p:cNvSpPr/>
          <p:nvPr/>
        </p:nvSpPr>
        <p:spPr>
          <a:xfrm>
            <a:off x="6858000" y="178308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tenacity library with exponential backoff for transient errors.</a:t>
            </a:r>
            <a:endParaRPr lang="en-US" sz="1000" dirty="0"/>
          </a:p>
        </p:txBody>
      </p:sp>
      <p:sp>
        <p:nvSpPr>
          <p:cNvPr id="23" name="Shape 21"/>
          <p:cNvSpPr/>
          <p:nvPr/>
        </p:nvSpPr>
        <p:spPr>
          <a:xfrm>
            <a:off x="274320" y="301752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11480" y="3154680"/>
            <a:ext cx="365760" cy="365760"/>
          </a:xfrm>
          <a:prstGeom prst="ellipse">
            <a:avLst/>
          </a:prstGeom>
          <a:solidFill>
            <a:srgbClr val="0D9488"/>
          </a:solidFill>
          <a:ln/>
        </p:spPr>
      </p:sp>
      <p:sp>
        <p:nvSpPr>
          <p:cNvPr id="25" name="Text 23"/>
          <p:cNvSpPr/>
          <p:nvPr/>
        </p:nvSpPr>
        <p:spPr>
          <a:xfrm>
            <a:off x="411480" y="317296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6" name="Text 24"/>
          <p:cNvSpPr/>
          <p:nvPr/>
        </p:nvSpPr>
        <p:spPr>
          <a:xfrm>
            <a:off x="868680" y="320040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Token Optimization</a:t>
            </a:r>
            <a:endParaRPr lang="en-US" sz="1300" dirty="0"/>
          </a:p>
        </p:txBody>
      </p:sp>
      <p:sp>
        <p:nvSpPr>
          <p:cNvPr id="27" name="Text 25"/>
          <p:cNvSpPr/>
          <p:nvPr/>
        </p:nvSpPr>
        <p:spPr>
          <a:xfrm>
            <a:off x="411480" y="370332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Chunk documents, summarize history, limit context windows.</a:t>
            </a:r>
            <a:endParaRPr lang="en-US" sz="1000" dirty="0"/>
          </a:p>
        </p:txBody>
      </p:sp>
      <p:sp>
        <p:nvSpPr>
          <p:cNvPr id="28" name="Shape 26"/>
          <p:cNvSpPr/>
          <p:nvPr/>
        </p:nvSpPr>
        <p:spPr>
          <a:xfrm>
            <a:off x="2423160" y="301752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9" name="Shape 27"/>
          <p:cNvSpPr/>
          <p:nvPr/>
        </p:nvSpPr>
        <p:spPr>
          <a:xfrm>
            <a:off x="2560320" y="3154680"/>
            <a:ext cx="365760" cy="365760"/>
          </a:xfrm>
          <a:prstGeom prst="ellipse">
            <a:avLst/>
          </a:prstGeom>
          <a:solidFill>
            <a:srgbClr val="F97316"/>
          </a:solidFill>
          <a:ln/>
        </p:spPr>
      </p:sp>
      <p:sp>
        <p:nvSpPr>
          <p:cNvPr id="30" name="Text 28"/>
          <p:cNvSpPr/>
          <p:nvPr/>
        </p:nvSpPr>
        <p:spPr>
          <a:xfrm>
            <a:off x="2560320" y="317296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1" name="Text 29"/>
          <p:cNvSpPr/>
          <p:nvPr/>
        </p:nvSpPr>
        <p:spPr>
          <a:xfrm>
            <a:off x="3017520" y="320040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Structured Output</a:t>
            </a:r>
            <a:endParaRPr lang="en-US" sz="1300" dirty="0"/>
          </a:p>
        </p:txBody>
      </p:sp>
      <p:sp>
        <p:nvSpPr>
          <p:cNvPr id="32" name="Text 30"/>
          <p:cNvSpPr/>
          <p:nvPr/>
        </p:nvSpPr>
        <p:spPr>
          <a:xfrm>
            <a:off x="2560320" y="370332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with_structured_output() for type-safe Pydantic extraction.</a:t>
            </a:r>
            <a:endParaRPr lang="en-US" sz="1000" dirty="0"/>
          </a:p>
        </p:txBody>
      </p:sp>
      <p:sp>
        <p:nvSpPr>
          <p:cNvPr id="33" name="Shape 31"/>
          <p:cNvSpPr/>
          <p:nvPr/>
        </p:nvSpPr>
        <p:spPr>
          <a:xfrm>
            <a:off x="4572000" y="301752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4" name="Shape 32"/>
          <p:cNvSpPr/>
          <p:nvPr/>
        </p:nvSpPr>
        <p:spPr>
          <a:xfrm>
            <a:off x="4709160" y="3154680"/>
            <a:ext cx="365760" cy="365760"/>
          </a:xfrm>
          <a:prstGeom prst="ellipse">
            <a:avLst/>
          </a:prstGeom>
          <a:solidFill>
            <a:srgbClr val="8B5CF6"/>
          </a:solidFill>
          <a:ln/>
        </p:spPr>
      </p:sp>
      <p:sp>
        <p:nvSpPr>
          <p:cNvPr id="35" name="Text 33"/>
          <p:cNvSpPr/>
          <p:nvPr/>
        </p:nvSpPr>
        <p:spPr>
          <a:xfrm>
            <a:off x="4709160" y="317296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7</a:t>
            </a:r>
            <a:endParaRPr lang="en-US" sz="1400" dirty="0"/>
          </a:p>
        </p:txBody>
      </p:sp>
      <p:sp>
        <p:nvSpPr>
          <p:cNvPr id="36" name="Text 34"/>
          <p:cNvSpPr/>
          <p:nvPr/>
        </p:nvSpPr>
        <p:spPr>
          <a:xfrm>
            <a:off x="5166360" y="320040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Callbacks</a:t>
            </a:r>
            <a:endParaRPr lang="en-US" sz="1300" dirty="0"/>
          </a:p>
        </p:txBody>
      </p:sp>
      <p:sp>
        <p:nvSpPr>
          <p:cNvPr id="37" name="Text 35"/>
          <p:cNvSpPr/>
          <p:nvPr/>
        </p:nvSpPr>
        <p:spPr>
          <a:xfrm>
            <a:off x="4709160" y="370332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Custom handlers for logging, token counting, monitoring.</a:t>
            </a:r>
            <a:endParaRPr lang="en-US" sz="1000" dirty="0"/>
          </a:p>
        </p:txBody>
      </p:sp>
      <p:sp>
        <p:nvSpPr>
          <p:cNvPr id="38" name="Shape 36"/>
          <p:cNvSpPr/>
          <p:nvPr/>
        </p:nvSpPr>
        <p:spPr>
          <a:xfrm>
            <a:off x="6720840" y="3017520"/>
            <a:ext cx="196596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9" name="Shape 37"/>
          <p:cNvSpPr/>
          <p:nvPr/>
        </p:nvSpPr>
        <p:spPr>
          <a:xfrm>
            <a:off x="6858000" y="3154680"/>
            <a:ext cx="365760" cy="365760"/>
          </a:xfrm>
          <a:prstGeom prst="ellipse">
            <a:avLst/>
          </a:prstGeom>
          <a:solidFill>
            <a:srgbClr val="3B82F6"/>
          </a:solidFill>
          <a:ln/>
        </p:spPr>
      </p:sp>
      <p:sp>
        <p:nvSpPr>
          <p:cNvPr id="40" name="Text 38"/>
          <p:cNvSpPr/>
          <p:nvPr/>
        </p:nvSpPr>
        <p:spPr>
          <a:xfrm>
            <a:off x="6858000" y="317296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8</a:t>
            </a:r>
            <a:endParaRPr lang="en-US" sz="1400" dirty="0"/>
          </a:p>
        </p:txBody>
      </p:sp>
      <p:sp>
        <p:nvSpPr>
          <p:cNvPr id="41" name="Text 39"/>
          <p:cNvSpPr/>
          <p:nvPr/>
        </p:nvSpPr>
        <p:spPr>
          <a:xfrm>
            <a:off x="7315200" y="3200400"/>
            <a:ext cx="123444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Parallel Execution</a:t>
            </a:r>
            <a:endParaRPr lang="en-US" sz="1300" dirty="0"/>
          </a:p>
        </p:txBody>
      </p:sp>
      <p:sp>
        <p:nvSpPr>
          <p:cNvPr id="42" name="Text 40"/>
          <p:cNvSpPr/>
          <p:nvPr/>
        </p:nvSpPr>
        <p:spPr>
          <a:xfrm>
            <a:off x="6858000" y="3703320"/>
            <a:ext cx="1691640" cy="9144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RunnableParallel for concurrent chain branches.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Security &amp; Performance</a:t>
            </a:r>
            <a:endParaRPr lang="en-US" sz="2800" dirty="0"/>
          </a:p>
        </p:txBody>
      </p:sp>
      <p:sp>
        <p:nvSpPr>
          <p:cNvPr id="3" name="Shape 1"/>
          <p:cNvSpPr/>
          <p:nvPr/>
        </p:nvSpPr>
        <p:spPr>
          <a:xfrm>
            <a:off x="457200" y="1097280"/>
            <a:ext cx="3931920" cy="3657600"/>
          </a:xfrm>
          <a:prstGeom prst="rect">
            <a:avLst/>
          </a:prstGeom>
          <a:solidFill>
            <a:srgbClr val="FEF2F2"/>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DC2626"/>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Never hardcode API keys</a:t>
            </a:r>
            <a:pPr indent="0" marL="0">
              <a:buNone/>
            </a:pPr>
            <a:r>
              <a:rPr lang="en-US" sz="1100" dirty="0">
                <a:solidFill>
                  <a:srgbClr val="64748B"/>
                </a:solidFill>
                <a:latin typeface="Calibri" pitchFamily="34" charset="0"/>
                <a:ea typeface="Calibri" pitchFamily="34" charset="-122"/>
                <a:cs typeface="Calibri" pitchFamily="34" charset="-120"/>
              </a:rPr>
              <a:t>Use environment variables or .env files</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Sanitize user inputs</a:t>
            </a:r>
            <a:pPr indent="0" marL="0">
              <a:buNone/>
            </a:pPr>
            <a:r>
              <a:rPr lang="en-US" sz="1100" dirty="0">
                <a:solidFill>
                  <a:srgbClr val="64748B"/>
                </a:solidFill>
                <a:latin typeface="Calibri" pitchFamily="34" charset="0"/>
                <a:ea typeface="Calibri" pitchFamily="34" charset="-122"/>
                <a:cs typeface="Calibri" pitchFamily="34" charset="-120"/>
              </a:rPr>
              <a:t>Strip prompt injection patterns</a:t>
            </a:r>
            <a:pPr indent="0" marL="0">
              <a:buNone/>
            </a:pPr>
            <a:r>
              <a:rPr lang="en-US" sz="1100" dirty="0">
                <a:solidFill>
                  <a:srgbClr val="64748B"/>
                </a:solidFill>
                <a:latin typeface="Calibri" pitchFamily="34" charset="0"/>
                <a:ea typeface="Calibri" pitchFamily="34" charset="-122"/>
                <a:cs typeface="Calibri" pitchFamily="34" charset="-120"/>
              </a:rPr>
              <a:t>Limit input length</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Validate LLM outputs</a:t>
            </a:r>
            <a:pPr indent="0" marL="0">
              <a:buNone/>
            </a:pPr>
            <a:r>
              <a:rPr lang="en-US" sz="1100" dirty="0">
                <a:solidFill>
                  <a:srgbClr val="64748B"/>
                </a:solidFill>
                <a:latin typeface="Calibri" pitchFamily="34" charset="0"/>
                <a:ea typeface="Calibri" pitchFamily="34" charset="-122"/>
                <a:cs typeface="Calibri" pitchFamily="34" charset="-120"/>
              </a:rPr>
              <a:t>Pydantic schemas enforce types</a:t>
            </a:r>
            <a:pPr indent="0" marL="0">
              <a:buNone/>
            </a:pPr>
            <a:r>
              <a:rPr lang="en-US" sz="1100" dirty="0">
                <a:solidFill>
                  <a:srgbClr val="64748B"/>
                </a:solidFill>
                <a:latin typeface="Calibri" pitchFamily="34" charset="0"/>
                <a:ea typeface="Calibri" pitchFamily="34" charset="-122"/>
                <a:cs typeface="Calibri" pitchFamily="34" charset="-120"/>
              </a:rPr>
              <a:t>Never execute unvalidated code</a:t>
            </a:r>
            <a:endParaRPr lang="en-US" sz="1200" dirty="0"/>
          </a:p>
        </p:txBody>
      </p:sp>
      <p:sp>
        <p:nvSpPr>
          <p:cNvPr id="7" name="Shape 5"/>
          <p:cNvSpPr/>
          <p:nvPr/>
        </p:nvSpPr>
        <p:spPr>
          <a:xfrm>
            <a:off x="475488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0D9488"/>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PERFORMANCE</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Caching</a:t>
            </a:r>
            <a:pPr indent="0" marL="0">
              <a:buNone/>
            </a:pPr>
            <a:r>
              <a:rPr lang="en-US" sz="1100" dirty="0">
                <a:solidFill>
                  <a:srgbClr val="64748B"/>
                </a:solidFill>
                <a:latin typeface="Calibri" pitchFamily="34" charset="0"/>
                <a:ea typeface="Calibri" pitchFamily="34" charset="-122"/>
                <a:cs typeface="Calibri" pitchFamily="34" charset="-120"/>
              </a:rPr>
              <a:t>InMemoryCache for speed, SQLiteCache for persistence</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Parallel Execution</a:t>
            </a:r>
            <a:pPr indent="0" marL="0">
              <a:buNone/>
            </a:pPr>
            <a:r>
              <a:rPr lang="en-US" sz="1100" dirty="0">
                <a:solidFill>
                  <a:srgbClr val="64748B"/>
                </a:solidFill>
                <a:latin typeface="Calibri" pitchFamily="34" charset="0"/>
                <a:ea typeface="Calibri" pitchFamily="34" charset="-122"/>
                <a:cs typeface="Calibri" pitchFamily="34" charset="-120"/>
              </a:rPr>
              <a:t>RunnableParallel runs branches concurrently</a:t>
            </a:r>
            <a:pPr indent="0" marL="0">
              <a:buNone/>
            </a:pPr>
            <a:pPr indent="0" marL="0">
              <a:buNone/>
            </a:pPr>
            <a:r>
              <a:rPr lang="en-US" sz="1200" b="1" dirty="0">
                <a:solidFill>
                  <a:srgbClr val="1E293B"/>
                </a:solidFill>
                <a:latin typeface="Calibri" pitchFamily="34" charset="0"/>
                <a:ea typeface="Calibri" pitchFamily="34" charset="-122"/>
                <a:cs typeface="Calibri" pitchFamily="34" charset="-120"/>
              </a:rPr>
              <a:t>Token Optimization</a:t>
            </a:r>
            <a:pPr indent="0" marL="0">
              <a:buNone/>
            </a:pPr>
            <a:r>
              <a:rPr lang="en-US" sz="1100" dirty="0">
                <a:solidFill>
                  <a:srgbClr val="64748B"/>
                </a:solidFill>
                <a:latin typeface="Calibri" pitchFamily="34" charset="0"/>
                <a:ea typeface="Calibri" pitchFamily="34" charset="-122"/>
                <a:cs typeface="Calibri" pitchFamily="34" charset="-120"/>
              </a:rPr>
              <a:t>RecursiveCharacterTextSplitter for chunking</a:t>
            </a:r>
            <a:pPr indent="0" marL="0">
              <a:buNone/>
            </a:pPr>
            <a:r>
              <a:rPr lang="en-US" sz="1100" dirty="0">
                <a:solidFill>
                  <a:srgbClr val="64748B"/>
                </a:solidFill>
                <a:latin typeface="Calibri" pitchFamily="34" charset="0"/>
                <a:ea typeface="Calibri" pitchFamily="34" charset="-122"/>
                <a:cs typeface="Calibri" pitchFamily="34" charset="-120"/>
              </a:rPr>
              <a:t>Summarize instead of passing full history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Mini-Projects in This Module</a:t>
            </a:r>
            <a:endParaRPr lang="en-US" sz="2800" dirty="0"/>
          </a:p>
        </p:txBody>
      </p:sp>
      <p:sp>
        <p:nvSpPr>
          <p:cNvPr id="3" name="Shape 1"/>
          <p:cNvSpPr/>
          <p:nvPr/>
        </p:nvSpPr>
        <p:spPr>
          <a:xfrm>
            <a:off x="731520" y="2286000"/>
            <a:ext cx="7680960" cy="54864"/>
          </a:xfrm>
          <a:prstGeom prst="rect">
            <a:avLst/>
          </a:prstGeom>
          <a:solidFill>
            <a:srgbClr val="0D9488"/>
          </a:solidFill>
          <a:ln/>
        </p:spPr>
      </p:sp>
      <p:sp>
        <p:nvSpPr>
          <p:cNvPr id="4" name="Shape 2"/>
          <p:cNvSpPr/>
          <p:nvPr/>
        </p:nvSpPr>
        <p:spPr>
          <a:xfrm>
            <a:off x="640080" y="1920240"/>
            <a:ext cx="822960" cy="822960"/>
          </a:xfrm>
          <a:prstGeom prst="ellipse">
            <a:avLst/>
          </a:prstGeom>
          <a:solidFill>
            <a:srgbClr val="0D9488"/>
          </a:solidFill>
          <a:ln/>
        </p:spPr>
      </p:sp>
      <p:sp>
        <p:nvSpPr>
          <p:cNvPr id="5" name="Text 3"/>
          <p:cNvSpPr/>
          <p:nvPr/>
        </p:nvSpPr>
        <p:spPr>
          <a:xfrm>
            <a:off x="64008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27432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Chatbot</a:t>
            </a:r>
            <a:endParaRPr lang="en-US" sz="1300" dirty="0"/>
          </a:p>
        </p:txBody>
      </p:sp>
      <p:sp>
        <p:nvSpPr>
          <p:cNvPr id="7" name="Text 5"/>
          <p:cNvSpPr/>
          <p:nvPr/>
        </p:nvSpPr>
        <p:spPr>
          <a:xfrm>
            <a:off x="27432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Memory + personality</a:t>
            </a:r>
            <a:endParaRPr lang="en-US" sz="1000" dirty="0"/>
          </a:p>
        </p:txBody>
      </p:sp>
      <p:sp>
        <p:nvSpPr>
          <p:cNvPr id="8" name="Shape 6"/>
          <p:cNvSpPr/>
          <p:nvPr/>
        </p:nvSpPr>
        <p:spPr>
          <a:xfrm>
            <a:off x="365760" y="3840480"/>
            <a:ext cx="1463040" cy="822960"/>
          </a:xfrm>
          <a:prstGeom prst="rect">
            <a:avLst/>
          </a:prstGeom>
          <a:solidFill>
            <a:srgbClr val="2D4A6F"/>
          </a:solidFill>
          <a:ln/>
        </p:spPr>
      </p:sp>
      <p:sp>
        <p:nvSpPr>
          <p:cNvPr id="9" name="Text 7"/>
          <p:cNvSpPr/>
          <p:nvPr/>
        </p:nvSpPr>
        <p:spPr>
          <a:xfrm>
            <a:off x="45720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BufferMemory, ChatPrompt</a:t>
            </a:r>
            <a:endParaRPr lang="en-US" sz="900" dirty="0"/>
          </a:p>
        </p:txBody>
      </p:sp>
      <p:sp>
        <p:nvSpPr>
          <p:cNvPr id="10" name="Shape 8"/>
          <p:cNvSpPr/>
          <p:nvPr/>
        </p:nvSpPr>
        <p:spPr>
          <a:xfrm>
            <a:off x="2377440" y="1920240"/>
            <a:ext cx="822960" cy="822960"/>
          </a:xfrm>
          <a:prstGeom prst="ellipse">
            <a:avLst/>
          </a:prstGeom>
          <a:solidFill>
            <a:srgbClr val="F97316"/>
          </a:solidFill>
          <a:ln/>
        </p:spPr>
      </p:sp>
      <p:sp>
        <p:nvSpPr>
          <p:cNvPr id="11" name="Text 9"/>
          <p:cNvSpPr/>
          <p:nvPr/>
        </p:nvSpPr>
        <p:spPr>
          <a:xfrm>
            <a:off x="237744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201168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Summarizer</a:t>
            </a:r>
            <a:endParaRPr lang="en-US" sz="1300" dirty="0"/>
          </a:p>
        </p:txBody>
      </p:sp>
      <p:sp>
        <p:nvSpPr>
          <p:cNvPr id="13" name="Text 11"/>
          <p:cNvSpPr/>
          <p:nvPr/>
        </p:nvSpPr>
        <p:spPr>
          <a:xfrm>
            <a:off x="201168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Map-Reduce pattern</a:t>
            </a:r>
            <a:endParaRPr lang="en-US" sz="1000" dirty="0"/>
          </a:p>
        </p:txBody>
      </p:sp>
      <p:sp>
        <p:nvSpPr>
          <p:cNvPr id="14" name="Shape 12"/>
          <p:cNvSpPr/>
          <p:nvPr/>
        </p:nvSpPr>
        <p:spPr>
          <a:xfrm>
            <a:off x="2103120" y="3840480"/>
            <a:ext cx="1463040" cy="822960"/>
          </a:xfrm>
          <a:prstGeom prst="rect">
            <a:avLst/>
          </a:prstGeom>
          <a:solidFill>
            <a:srgbClr val="2D4A6F"/>
          </a:solidFill>
          <a:ln/>
        </p:spPr>
      </p:sp>
      <p:sp>
        <p:nvSpPr>
          <p:cNvPr id="15" name="Text 13"/>
          <p:cNvSpPr/>
          <p:nvPr/>
        </p:nvSpPr>
        <p:spPr>
          <a:xfrm>
            <a:off x="219456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Chunking, Map-Reduce</a:t>
            </a:r>
            <a:endParaRPr lang="en-US" sz="900" dirty="0"/>
          </a:p>
        </p:txBody>
      </p:sp>
      <p:sp>
        <p:nvSpPr>
          <p:cNvPr id="16" name="Shape 14"/>
          <p:cNvSpPr/>
          <p:nvPr/>
        </p:nvSpPr>
        <p:spPr>
          <a:xfrm>
            <a:off x="4114800" y="1920240"/>
            <a:ext cx="822960" cy="822960"/>
          </a:xfrm>
          <a:prstGeom prst="ellipse">
            <a:avLst/>
          </a:prstGeom>
          <a:solidFill>
            <a:srgbClr val="8B5CF6"/>
          </a:solidFill>
          <a:ln/>
        </p:spPr>
      </p:sp>
      <p:sp>
        <p:nvSpPr>
          <p:cNvPr id="17" name="Text 15"/>
          <p:cNvSpPr/>
          <p:nvPr/>
        </p:nvSpPr>
        <p:spPr>
          <a:xfrm>
            <a:off x="411480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374904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 Q&amp;A</a:t>
            </a:r>
            <a:endParaRPr lang="en-US" sz="1300" dirty="0"/>
          </a:p>
        </p:txBody>
      </p:sp>
      <p:sp>
        <p:nvSpPr>
          <p:cNvPr id="19" name="Text 17"/>
          <p:cNvSpPr/>
          <p:nvPr/>
        </p:nvSpPr>
        <p:spPr>
          <a:xfrm>
            <a:off x="374904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RAG with FAISS</a:t>
            </a:r>
            <a:endParaRPr lang="en-US" sz="1000" dirty="0"/>
          </a:p>
        </p:txBody>
      </p:sp>
      <p:sp>
        <p:nvSpPr>
          <p:cNvPr id="20" name="Shape 18"/>
          <p:cNvSpPr/>
          <p:nvPr/>
        </p:nvSpPr>
        <p:spPr>
          <a:xfrm>
            <a:off x="3840480" y="3840480"/>
            <a:ext cx="1463040" cy="822960"/>
          </a:xfrm>
          <a:prstGeom prst="rect">
            <a:avLst/>
          </a:prstGeom>
          <a:solidFill>
            <a:srgbClr val="2D4A6F"/>
          </a:solidFill>
          <a:ln/>
        </p:spPr>
      </p:sp>
      <p:sp>
        <p:nvSpPr>
          <p:cNvPr id="21" name="Text 19"/>
          <p:cNvSpPr/>
          <p:nvPr/>
        </p:nvSpPr>
        <p:spPr>
          <a:xfrm>
            <a:off x="393192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FAISS, retriever chain</a:t>
            </a:r>
            <a:endParaRPr lang="en-US" sz="900" dirty="0"/>
          </a:p>
        </p:txBody>
      </p:sp>
      <p:sp>
        <p:nvSpPr>
          <p:cNvPr id="22" name="Shape 20"/>
          <p:cNvSpPr/>
          <p:nvPr/>
        </p:nvSpPr>
        <p:spPr>
          <a:xfrm>
            <a:off x="5852160" y="1920240"/>
            <a:ext cx="822960" cy="822960"/>
          </a:xfrm>
          <a:prstGeom prst="ellipse">
            <a:avLst/>
          </a:prstGeom>
          <a:solidFill>
            <a:srgbClr val="3B82F6"/>
          </a:solidFill>
          <a:ln/>
        </p:spPr>
      </p:sp>
      <p:sp>
        <p:nvSpPr>
          <p:cNvPr id="23" name="Text 21"/>
          <p:cNvSpPr/>
          <p:nvPr/>
        </p:nvSpPr>
        <p:spPr>
          <a:xfrm>
            <a:off x="585216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548640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Waiter Bot</a:t>
            </a:r>
            <a:endParaRPr lang="en-US" sz="1300" dirty="0"/>
          </a:p>
        </p:txBody>
      </p:sp>
      <p:sp>
        <p:nvSpPr>
          <p:cNvPr id="25" name="Text 23"/>
          <p:cNvSpPr/>
          <p:nvPr/>
        </p:nvSpPr>
        <p:spPr>
          <a:xfrm>
            <a:off x="548640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Tool-calling agent</a:t>
            </a:r>
            <a:endParaRPr lang="en-US" sz="1000" dirty="0"/>
          </a:p>
        </p:txBody>
      </p:sp>
      <p:sp>
        <p:nvSpPr>
          <p:cNvPr id="26" name="Shape 24"/>
          <p:cNvSpPr/>
          <p:nvPr/>
        </p:nvSpPr>
        <p:spPr>
          <a:xfrm>
            <a:off x="5577840" y="3840480"/>
            <a:ext cx="1463040" cy="822960"/>
          </a:xfrm>
          <a:prstGeom prst="rect">
            <a:avLst/>
          </a:prstGeom>
          <a:solidFill>
            <a:srgbClr val="2D4A6F"/>
          </a:solidFill>
          <a:ln/>
        </p:spPr>
      </p:sp>
      <p:sp>
        <p:nvSpPr>
          <p:cNvPr id="27" name="Text 25"/>
          <p:cNvSpPr/>
          <p:nvPr/>
        </p:nvSpPr>
        <p:spPr>
          <a:xfrm>
            <a:off x="566928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@tool, AgentExecutor</a:t>
            </a:r>
            <a:endParaRPr lang="en-US" sz="900" dirty="0"/>
          </a:p>
        </p:txBody>
      </p:sp>
      <p:sp>
        <p:nvSpPr>
          <p:cNvPr id="28" name="Shape 26"/>
          <p:cNvSpPr/>
          <p:nvPr/>
        </p:nvSpPr>
        <p:spPr>
          <a:xfrm>
            <a:off x="7589520" y="1920240"/>
            <a:ext cx="822960" cy="822960"/>
          </a:xfrm>
          <a:prstGeom prst="ellipse">
            <a:avLst/>
          </a:prstGeom>
          <a:solidFill>
            <a:srgbClr val="0D9488"/>
          </a:solidFill>
          <a:ln/>
        </p:spPr>
      </p:sp>
      <p:sp>
        <p:nvSpPr>
          <p:cNvPr id="29" name="Text 27"/>
          <p:cNvSpPr/>
          <p:nvPr/>
        </p:nvSpPr>
        <p:spPr>
          <a:xfrm>
            <a:off x="758952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0" name="Text 28"/>
          <p:cNvSpPr/>
          <p:nvPr/>
        </p:nvSpPr>
        <p:spPr>
          <a:xfrm>
            <a:off x="722376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Travel Planner</a:t>
            </a:r>
            <a:endParaRPr lang="en-US" sz="1300" dirty="0"/>
          </a:p>
        </p:txBody>
      </p:sp>
      <p:sp>
        <p:nvSpPr>
          <p:cNvPr id="31" name="Text 29"/>
          <p:cNvSpPr/>
          <p:nvPr/>
        </p:nvSpPr>
        <p:spPr>
          <a:xfrm>
            <a:off x="722376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Multi-tool agent</a:t>
            </a:r>
            <a:endParaRPr lang="en-US" sz="1000" dirty="0"/>
          </a:p>
        </p:txBody>
      </p:sp>
      <p:sp>
        <p:nvSpPr>
          <p:cNvPr id="32" name="Shape 30"/>
          <p:cNvSpPr/>
          <p:nvPr/>
        </p:nvSpPr>
        <p:spPr>
          <a:xfrm>
            <a:off x="7315200" y="3840480"/>
            <a:ext cx="1463040" cy="822960"/>
          </a:xfrm>
          <a:prstGeom prst="rect">
            <a:avLst/>
          </a:prstGeom>
          <a:solidFill>
            <a:srgbClr val="2D4A6F"/>
          </a:solidFill>
          <a:ln/>
        </p:spPr>
      </p:sp>
      <p:sp>
        <p:nvSpPr>
          <p:cNvPr id="33" name="Text 31"/>
          <p:cNvSpPr/>
          <p:nvPr/>
        </p:nvSpPr>
        <p:spPr>
          <a:xfrm>
            <a:off x="740664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4 tools, cost estimator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7316"/>
        </a:solidFill>
      </p:bgPr>
    </p:bg>
    <p:spTree>
      <p:nvGrpSpPr>
        <p:cNvPr id="1" name=""/>
        <p:cNvGrpSpPr/>
        <p:nvPr/>
      </p:nvGrpSpPr>
      <p:grpSpPr>
        <a:xfrm>
          <a:off x="0" y="0"/>
          <a:ext cx="0" cy="0"/>
          <a:chOff x="0" y="0"/>
          <a:chExt cx="0" cy="0"/>
        </a:xfrm>
      </p:grpSpPr>
      <p:sp>
        <p:nvSpPr>
          <p:cNvPr id="2" name="Text 0"/>
          <p:cNvSpPr/>
          <p:nvPr/>
        </p:nvSpPr>
        <p:spPr>
          <a:xfrm>
            <a:off x="0" y="1828800"/>
            <a:ext cx="9144000" cy="457200"/>
          </a:xfrm>
          <a:prstGeom prst="rect">
            <a:avLst/>
          </a:prstGeom>
          <a:noFill/>
          <a:ln/>
        </p:spPr>
        <p:txBody>
          <a:bodyPr wrap="square" lIns="0" tIns="0" rIns="0" bIns="0" rtlCol="0" anchor="ctr"/>
          <a:lstStyle/>
          <a:p>
            <a:pPr algn="ctr" indent="0" marL="0">
              <a:buNone/>
            </a:pPr>
            <a:r>
              <a:rPr lang="en-US" sz="1400" spc="400" kern="0" dirty="0">
                <a:solidFill>
                  <a:srgbClr val="FED7AA"/>
                </a:solidFill>
                <a:latin typeface="Calibri" pitchFamily="34" charset="0"/>
                <a:ea typeface="Calibri" pitchFamily="34" charset="-122"/>
                <a:cs typeface="Calibri" pitchFamily="34" charset="-120"/>
              </a:rPr>
              <a:t>ENTERPRISE SCENARIO</a:t>
            </a:r>
            <a:endParaRPr lang="en-US" sz="1400" dirty="0"/>
          </a:p>
        </p:txBody>
      </p:sp>
      <p:sp>
        <p:nvSpPr>
          <p:cNvPr id="3" name="Text 1"/>
          <p:cNvSpPr/>
          <p:nvPr/>
        </p:nvSpPr>
        <p:spPr>
          <a:xfrm>
            <a:off x="0" y="2286000"/>
            <a:ext cx="9144000" cy="128016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AI-Powered Financial</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Document Analyzer</a:t>
            </a:r>
            <a:endParaRPr lang="en-US" sz="4000" dirty="0"/>
          </a:p>
        </p:txBody>
      </p:sp>
      <p:sp>
        <p:nvSpPr>
          <p:cNvPr id="4" name="Text 2"/>
          <p:cNvSpPr/>
          <p:nvPr/>
        </p:nvSpPr>
        <p:spPr>
          <a:xfrm>
            <a:off x="0" y="3749040"/>
            <a:ext cx="9144000" cy="457200"/>
          </a:xfrm>
          <a:prstGeom prst="rect">
            <a:avLst/>
          </a:prstGeom>
          <a:noFill/>
          <a:ln/>
        </p:spPr>
        <p:txBody>
          <a:bodyPr wrap="square" lIns="0" tIns="0" rIns="0" bIns="0" rtlCol="0" anchor="ctr"/>
          <a:lstStyle/>
          <a:p>
            <a:pPr algn="ctr" indent="0" marL="0">
              <a:buNone/>
            </a:pPr>
            <a:r>
              <a:rPr lang="en-US" sz="1500" dirty="0">
                <a:solidFill>
                  <a:srgbClr val="FED7AA"/>
                </a:solidFill>
                <a:latin typeface="Calibri" pitchFamily="34" charset="0"/>
                <a:ea typeface="Calibri" pitchFamily="34" charset="-122"/>
                <a:cs typeface="Calibri" pitchFamily="34" charset="-120"/>
              </a:rPr>
              <a:t>Meridian Capital — Automating quarterly earnings analysis with LangChain agents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Meridian Capital — Solution Architecture</a:t>
            </a:r>
            <a:endParaRPr lang="en-US" sz="2600" dirty="0"/>
          </a:p>
        </p:txBody>
      </p:sp>
      <p:sp>
        <p:nvSpPr>
          <p:cNvPr id="3" name="Shape 1"/>
          <p:cNvSpPr/>
          <p:nvPr/>
        </p:nvSpPr>
        <p:spPr>
          <a:xfrm>
            <a:off x="457200" y="1097280"/>
            <a:ext cx="2560320" cy="1828800"/>
          </a:xfrm>
          <a:prstGeom prst="rect">
            <a:avLst/>
          </a:prstGeom>
          <a:solidFill>
            <a:srgbClr val="FEF2F2"/>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2560320" cy="411480"/>
          </a:xfrm>
          <a:prstGeom prst="rect">
            <a:avLst/>
          </a:prstGeom>
          <a:solidFill>
            <a:srgbClr val="DC2626"/>
          </a:solidFill>
          <a:ln/>
        </p:spPr>
      </p:sp>
      <p:sp>
        <p:nvSpPr>
          <p:cNvPr id="5" name="Text 3"/>
          <p:cNvSpPr/>
          <p:nvPr/>
        </p:nvSpPr>
        <p:spPr>
          <a:xfrm>
            <a:off x="457200" y="1143000"/>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p>
        </p:txBody>
      </p:sp>
      <p:sp>
        <p:nvSpPr>
          <p:cNvPr id="6" name="Text 4"/>
          <p:cNvSpPr/>
          <p:nvPr/>
        </p:nvSpPr>
        <p:spPr>
          <a:xfrm>
            <a:off x="640080" y="1645920"/>
            <a:ext cx="2194560" cy="109728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15+ hrs/week per analyst</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50+ filings per quarter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Manual extraction errors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Inconsistent formats</a:t>
            </a:r>
            <a:endParaRPr lang="en-US" sz="1000" dirty="0"/>
          </a:p>
        </p:txBody>
      </p:sp>
      <p:sp>
        <p:nvSpPr>
          <p:cNvPr id="7" name="Shape 5"/>
          <p:cNvSpPr/>
          <p:nvPr/>
        </p:nvSpPr>
        <p:spPr>
          <a:xfrm>
            <a:off x="3291840" y="1097280"/>
            <a:ext cx="2560320" cy="18288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8" name="Shape 6"/>
          <p:cNvSpPr/>
          <p:nvPr/>
        </p:nvSpPr>
        <p:spPr>
          <a:xfrm>
            <a:off x="3291840" y="1097280"/>
            <a:ext cx="2560320" cy="411480"/>
          </a:xfrm>
          <a:prstGeom prst="rect">
            <a:avLst/>
          </a:prstGeom>
          <a:solidFill>
            <a:srgbClr val="0D9488"/>
          </a:solidFill>
          <a:ln/>
        </p:spPr>
      </p:sp>
      <p:sp>
        <p:nvSpPr>
          <p:cNvPr id="9" name="Text 7"/>
          <p:cNvSpPr/>
          <p:nvPr/>
        </p:nvSpPr>
        <p:spPr>
          <a:xfrm>
            <a:off x="3291840" y="1143000"/>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LANGCHAIN STACK</a:t>
            </a:r>
            <a:endParaRPr lang="en-US" sz="1200" dirty="0"/>
          </a:p>
        </p:txBody>
      </p:sp>
      <p:sp>
        <p:nvSpPr>
          <p:cNvPr id="10" name="Text 8"/>
          <p:cNvSpPr/>
          <p:nvPr/>
        </p:nvSpPr>
        <p:spPr>
          <a:xfrm>
            <a:off x="3474720" y="1645920"/>
            <a:ext cx="2194560" cy="109728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DocumentLoaders (PDF/HTML)</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TextSplitter for chunking</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Pydantic structured output</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Sequential chains for reports</a:t>
            </a:r>
            <a:endParaRPr lang="en-US" sz="1000" dirty="0"/>
          </a:p>
        </p:txBody>
      </p:sp>
      <p:sp>
        <p:nvSpPr>
          <p:cNvPr id="11" name="Shape 9"/>
          <p:cNvSpPr/>
          <p:nvPr/>
        </p:nvSpPr>
        <p:spPr>
          <a:xfrm>
            <a:off x="6126480" y="1097280"/>
            <a:ext cx="2560320" cy="18288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12" name="Shape 10"/>
          <p:cNvSpPr/>
          <p:nvPr/>
        </p:nvSpPr>
        <p:spPr>
          <a:xfrm>
            <a:off x="6126480" y="1097280"/>
            <a:ext cx="2560320" cy="411480"/>
          </a:xfrm>
          <a:prstGeom prst="rect">
            <a:avLst/>
          </a:prstGeom>
          <a:solidFill>
            <a:srgbClr val="059669"/>
          </a:solidFill>
          <a:ln/>
        </p:spPr>
      </p:sp>
      <p:sp>
        <p:nvSpPr>
          <p:cNvPr id="13" name="Text 11"/>
          <p:cNvSpPr/>
          <p:nvPr/>
        </p:nvSpPr>
        <p:spPr>
          <a:xfrm>
            <a:off x="6126480" y="1143000"/>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14" name="Text 12"/>
          <p:cNvSpPr/>
          <p:nvPr/>
        </p:nvSpPr>
        <p:spPr>
          <a:xfrm>
            <a:off x="6309360" y="1645920"/>
            <a:ext cx="2194560" cy="1097280"/>
          </a:xfrm>
          <a:prstGeom prst="rect">
            <a:avLst/>
          </a:prstGeom>
          <a:noFill/>
          <a:ln/>
        </p:spPr>
        <p:txBody>
          <a:bodyPr wrap="square" lIns="0" tIns="0" rIns="0" bIns="0" rtlCol="0" anchor="t"/>
          <a:lstStyle/>
          <a:p>
            <a:pPr indent="0" marL="0">
              <a:buNone/>
            </a:pPr>
            <a:r>
              <a:rPr lang="en-US" sz="1000" b="1" dirty="0">
                <a:solidFill>
                  <a:srgbClr val="059669"/>
                </a:solidFill>
                <a:latin typeface="Calibri" pitchFamily="34" charset="0"/>
                <a:ea typeface="Calibri" pitchFamily="34" charset="-122"/>
                <a:cs typeface="Calibri" pitchFamily="34" charset="-120"/>
              </a:rPr>
              <a:t>85% time reduction</a:t>
            </a:r>
            <a:endParaRPr lang="en-US" sz="1000" dirty="0"/>
          </a:p>
          <a:p>
            <a:pPr indent="0" marL="0">
              <a:buNone/>
            </a:pPr>
            <a:r>
              <a:rPr lang="en-US" sz="1000" b="1" dirty="0">
                <a:solidFill>
                  <a:srgbClr val="059669"/>
                </a:solidFill>
                <a:latin typeface="Calibri" pitchFamily="34" charset="0"/>
                <a:ea typeface="Calibri" pitchFamily="34" charset="-122"/>
                <a:cs typeface="Calibri" pitchFamily="34" charset="-120"/>
              </a:rPr>
              <a:t>99.2% extraction accuracy</a:t>
            </a:r>
            <a:endParaRPr lang="en-US" sz="1000" dirty="0"/>
          </a:p>
          <a:p>
            <a:pPr indent="0" marL="0">
              <a:buNone/>
            </a:pPr>
            <a:r>
              <a:rPr lang="en-US" sz="1000" b="1" dirty="0">
                <a:solidFill>
                  <a:srgbClr val="059669"/>
                </a:solidFill>
                <a:latin typeface="Calibri" pitchFamily="34" charset="0"/>
                <a:ea typeface="Calibri" pitchFamily="34" charset="-122"/>
                <a:cs typeface="Calibri" pitchFamily="34" charset="-120"/>
              </a:rPr>
              <a:t>$420K annual savings</a:t>
            </a:r>
            <a:endParaRPr lang="en-US" sz="1000" dirty="0"/>
          </a:p>
          <a:p>
            <a:pPr indent="0" marL="0">
              <a:buNone/>
            </a:pPr>
            <a:r>
              <a:rPr lang="en-US" sz="1000" b="1" dirty="0">
                <a:solidFill>
                  <a:srgbClr val="059669"/>
                </a:solidFill>
                <a:latin typeface="Calibri" pitchFamily="34" charset="0"/>
                <a:ea typeface="Calibri" pitchFamily="34" charset="-122"/>
                <a:cs typeface="Calibri" pitchFamily="34" charset="-120"/>
              </a:rPr>
              <a:t>Same-day report turnaround</a:t>
            </a:r>
            <a:endParaRPr lang="en-US" sz="1000" dirty="0"/>
          </a:p>
        </p:txBody>
      </p:sp>
      <p:sp>
        <p:nvSpPr>
          <p:cNvPr id="15" name="Shape 13"/>
          <p:cNvSpPr/>
          <p:nvPr/>
        </p:nvSpPr>
        <p:spPr>
          <a:xfrm>
            <a:off x="457200" y="3200400"/>
            <a:ext cx="1965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457200" y="3200400"/>
            <a:ext cx="73152" cy="1463040"/>
          </a:xfrm>
          <a:prstGeom prst="rect">
            <a:avLst/>
          </a:prstGeom>
          <a:solidFill>
            <a:srgbClr val="0D9488"/>
          </a:solidFill>
          <a:ln/>
        </p:spPr>
      </p:sp>
      <p:sp>
        <p:nvSpPr>
          <p:cNvPr id="17" name="Text 15"/>
          <p:cNvSpPr/>
          <p:nvPr/>
        </p:nvSpPr>
        <p:spPr>
          <a:xfrm>
            <a:off x="685800" y="3337560"/>
            <a:ext cx="1554480" cy="548640"/>
          </a:xfrm>
          <a:prstGeom prst="rect">
            <a:avLst/>
          </a:prstGeom>
          <a:noFill/>
          <a:ln/>
        </p:spPr>
        <p:txBody>
          <a:bodyPr wrap="square" lIns="0" tIns="0" rIns="0" bIns="0" rtlCol="0" anchor="ctr"/>
          <a:lstStyle/>
          <a:p>
            <a:pPr algn="ctr" indent="0" marL="0">
              <a:buNone/>
            </a:pPr>
            <a:r>
              <a:rPr lang="en-US" sz="2600" b="1" dirty="0">
                <a:solidFill>
                  <a:srgbClr val="1E3A5F"/>
                </a:solidFill>
                <a:latin typeface="Georgia" pitchFamily="34" charset="0"/>
                <a:ea typeface="Georgia" pitchFamily="34" charset="-122"/>
                <a:cs typeface="Georgia" pitchFamily="34" charset="-120"/>
              </a:rPr>
              <a:t>2.3s</a:t>
            </a:r>
            <a:endParaRPr lang="en-US" sz="2600" dirty="0"/>
          </a:p>
        </p:txBody>
      </p:sp>
      <p:sp>
        <p:nvSpPr>
          <p:cNvPr id="18" name="Text 16"/>
          <p:cNvSpPr/>
          <p:nvPr/>
        </p:nvSpPr>
        <p:spPr>
          <a:xfrm>
            <a:off x="685800" y="3977640"/>
            <a:ext cx="155448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Per Filing Analysis</a:t>
            </a:r>
            <a:endParaRPr lang="en-US" sz="1100" dirty="0"/>
          </a:p>
        </p:txBody>
      </p:sp>
      <p:sp>
        <p:nvSpPr>
          <p:cNvPr id="19" name="Shape 17"/>
          <p:cNvSpPr/>
          <p:nvPr/>
        </p:nvSpPr>
        <p:spPr>
          <a:xfrm>
            <a:off x="2606040" y="3200400"/>
            <a:ext cx="1965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2606040" y="3200400"/>
            <a:ext cx="73152" cy="1463040"/>
          </a:xfrm>
          <a:prstGeom prst="rect">
            <a:avLst/>
          </a:prstGeom>
          <a:solidFill>
            <a:srgbClr val="F97316"/>
          </a:solidFill>
          <a:ln/>
        </p:spPr>
      </p:sp>
      <p:sp>
        <p:nvSpPr>
          <p:cNvPr id="21" name="Text 19"/>
          <p:cNvSpPr/>
          <p:nvPr/>
        </p:nvSpPr>
        <p:spPr>
          <a:xfrm>
            <a:off x="2834640" y="3337560"/>
            <a:ext cx="1554480" cy="548640"/>
          </a:xfrm>
          <a:prstGeom prst="rect">
            <a:avLst/>
          </a:prstGeom>
          <a:noFill/>
          <a:ln/>
        </p:spPr>
        <p:txBody>
          <a:bodyPr wrap="square" lIns="0" tIns="0" rIns="0" bIns="0" rtlCol="0" anchor="ctr"/>
          <a:lstStyle/>
          <a:p>
            <a:pPr algn="ctr" indent="0" marL="0">
              <a:buNone/>
            </a:pPr>
            <a:r>
              <a:rPr lang="en-US" sz="2600" b="1" dirty="0">
                <a:solidFill>
                  <a:srgbClr val="1E3A5F"/>
                </a:solidFill>
                <a:latin typeface="Georgia" pitchFamily="34" charset="0"/>
                <a:ea typeface="Georgia" pitchFamily="34" charset="-122"/>
                <a:cs typeface="Georgia" pitchFamily="34" charset="-120"/>
              </a:rPr>
              <a:t>50+</a:t>
            </a:r>
            <a:endParaRPr lang="en-US" sz="2600" dirty="0"/>
          </a:p>
        </p:txBody>
      </p:sp>
      <p:sp>
        <p:nvSpPr>
          <p:cNvPr id="22" name="Text 20"/>
          <p:cNvSpPr/>
          <p:nvPr/>
        </p:nvSpPr>
        <p:spPr>
          <a:xfrm>
            <a:off x="2834640" y="3977640"/>
            <a:ext cx="155448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Filings / Quarter</a:t>
            </a:r>
            <a:endParaRPr lang="en-US" sz="1100" dirty="0"/>
          </a:p>
        </p:txBody>
      </p:sp>
      <p:sp>
        <p:nvSpPr>
          <p:cNvPr id="23" name="Shape 21"/>
          <p:cNvSpPr/>
          <p:nvPr/>
        </p:nvSpPr>
        <p:spPr>
          <a:xfrm>
            <a:off x="4754880" y="3200400"/>
            <a:ext cx="1965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754880" y="3200400"/>
            <a:ext cx="73152" cy="1463040"/>
          </a:xfrm>
          <a:prstGeom prst="rect">
            <a:avLst/>
          </a:prstGeom>
          <a:solidFill>
            <a:srgbClr val="8B5CF6"/>
          </a:solidFill>
          <a:ln/>
        </p:spPr>
      </p:sp>
      <p:sp>
        <p:nvSpPr>
          <p:cNvPr id="25" name="Text 23"/>
          <p:cNvSpPr/>
          <p:nvPr/>
        </p:nvSpPr>
        <p:spPr>
          <a:xfrm>
            <a:off x="4983480" y="3337560"/>
            <a:ext cx="1554480" cy="548640"/>
          </a:xfrm>
          <a:prstGeom prst="rect">
            <a:avLst/>
          </a:prstGeom>
          <a:noFill/>
          <a:ln/>
        </p:spPr>
        <p:txBody>
          <a:bodyPr wrap="square" lIns="0" tIns="0" rIns="0" bIns="0" rtlCol="0" anchor="ctr"/>
          <a:lstStyle/>
          <a:p>
            <a:pPr algn="ctr" indent="0" marL="0">
              <a:buNone/>
            </a:pPr>
            <a:r>
              <a:rPr lang="en-US" sz="2600" b="1" dirty="0">
                <a:solidFill>
                  <a:srgbClr val="1E3A5F"/>
                </a:solidFill>
                <a:latin typeface="Georgia" pitchFamily="34" charset="0"/>
                <a:ea typeface="Georgia" pitchFamily="34" charset="-122"/>
                <a:cs typeface="Georgia" pitchFamily="34" charset="-120"/>
              </a:rPr>
              <a:t>0</a:t>
            </a:r>
            <a:endParaRPr lang="en-US" sz="2600" dirty="0"/>
          </a:p>
        </p:txBody>
      </p:sp>
      <p:sp>
        <p:nvSpPr>
          <p:cNvPr id="26" name="Text 24"/>
          <p:cNvSpPr/>
          <p:nvPr/>
        </p:nvSpPr>
        <p:spPr>
          <a:xfrm>
            <a:off x="4983480" y="3977640"/>
            <a:ext cx="155448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Manual Extractions</a:t>
            </a:r>
            <a:endParaRPr lang="en-US" sz="1100" dirty="0"/>
          </a:p>
        </p:txBody>
      </p:sp>
      <p:sp>
        <p:nvSpPr>
          <p:cNvPr id="27" name="Shape 25"/>
          <p:cNvSpPr/>
          <p:nvPr/>
        </p:nvSpPr>
        <p:spPr>
          <a:xfrm>
            <a:off x="6903720" y="3200400"/>
            <a:ext cx="1965960"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Shape 26"/>
          <p:cNvSpPr/>
          <p:nvPr/>
        </p:nvSpPr>
        <p:spPr>
          <a:xfrm>
            <a:off x="6903720" y="3200400"/>
            <a:ext cx="73152" cy="1463040"/>
          </a:xfrm>
          <a:prstGeom prst="rect">
            <a:avLst/>
          </a:prstGeom>
          <a:solidFill>
            <a:srgbClr val="3B82F6"/>
          </a:solidFill>
          <a:ln/>
        </p:spPr>
      </p:sp>
      <p:sp>
        <p:nvSpPr>
          <p:cNvPr id="29" name="Text 27"/>
          <p:cNvSpPr/>
          <p:nvPr/>
        </p:nvSpPr>
        <p:spPr>
          <a:xfrm>
            <a:off x="7132320" y="3337560"/>
            <a:ext cx="1554480" cy="548640"/>
          </a:xfrm>
          <a:prstGeom prst="rect">
            <a:avLst/>
          </a:prstGeom>
          <a:noFill/>
          <a:ln/>
        </p:spPr>
        <p:txBody>
          <a:bodyPr wrap="square" lIns="0" tIns="0" rIns="0" bIns="0" rtlCol="0" anchor="ctr"/>
          <a:lstStyle/>
          <a:p>
            <a:pPr algn="ctr" indent="0" marL="0">
              <a:buNone/>
            </a:pPr>
            <a:r>
              <a:rPr lang="en-US" sz="2600" b="1" dirty="0">
                <a:solidFill>
                  <a:srgbClr val="1E3A5F"/>
                </a:solidFill>
                <a:latin typeface="Georgia" pitchFamily="34" charset="0"/>
                <a:ea typeface="Georgia" pitchFamily="34" charset="-122"/>
                <a:cs typeface="Georgia" pitchFamily="34" charset="-120"/>
              </a:rPr>
              <a:t>24/7</a:t>
            </a:r>
            <a:endParaRPr lang="en-US" sz="2600" dirty="0"/>
          </a:p>
        </p:txBody>
      </p:sp>
      <p:sp>
        <p:nvSpPr>
          <p:cNvPr id="30" name="Text 28"/>
          <p:cNvSpPr/>
          <p:nvPr/>
        </p:nvSpPr>
        <p:spPr>
          <a:xfrm>
            <a:off x="7132320" y="3977640"/>
            <a:ext cx="155448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Availability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Key Takeaways</a:t>
            </a:r>
            <a:endParaRPr lang="en-US" sz="2800" dirty="0"/>
          </a:p>
        </p:txBody>
      </p:sp>
      <p:sp>
        <p:nvSpPr>
          <p:cNvPr id="3" name="Shape 1"/>
          <p:cNvSpPr/>
          <p:nvPr/>
        </p:nvSpPr>
        <p:spPr>
          <a:xfrm>
            <a:off x="457200" y="1143000"/>
            <a:ext cx="411480" cy="411480"/>
          </a:xfrm>
          <a:prstGeom prst="ellipse">
            <a:avLst/>
          </a:prstGeom>
          <a:solidFill>
            <a:srgbClr val="0D9488"/>
          </a:solidFill>
          <a:ln/>
        </p:spPr>
      </p:sp>
      <p:sp>
        <p:nvSpPr>
          <p:cNvPr id="4" name="Text 2"/>
          <p:cNvSpPr/>
          <p:nvPr/>
        </p:nvSpPr>
        <p:spPr>
          <a:xfrm>
            <a:off x="457200" y="116128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5" name="Text 3"/>
          <p:cNvSpPr/>
          <p:nvPr/>
        </p:nvSpPr>
        <p:spPr>
          <a:xfrm>
            <a:off x="1097280" y="114300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LangChain provides a modular 4-layer architecture: Provider, Integration, Orchestration, Application</a:t>
            </a:r>
            <a:endParaRPr lang="en-US" sz="1300" dirty="0"/>
          </a:p>
        </p:txBody>
      </p:sp>
      <p:sp>
        <p:nvSpPr>
          <p:cNvPr id="6" name="Shape 4"/>
          <p:cNvSpPr/>
          <p:nvPr/>
        </p:nvSpPr>
        <p:spPr>
          <a:xfrm>
            <a:off x="457200" y="1783080"/>
            <a:ext cx="411480" cy="411480"/>
          </a:xfrm>
          <a:prstGeom prst="ellipse">
            <a:avLst/>
          </a:prstGeom>
          <a:solidFill>
            <a:srgbClr val="F97316"/>
          </a:solidFill>
          <a:ln/>
        </p:spPr>
      </p:sp>
      <p:sp>
        <p:nvSpPr>
          <p:cNvPr id="7" name="Text 5"/>
          <p:cNvSpPr/>
          <p:nvPr/>
        </p:nvSpPr>
        <p:spPr>
          <a:xfrm>
            <a:off x="457200" y="180136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8" name="Text 6"/>
          <p:cNvSpPr/>
          <p:nvPr/>
        </p:nvSpPr>
        <p:spPr>
          <a:xfrm>
            <a:off x="1097280" y="178308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LCEL (pipe operator) is the modern standard — replaces legacy LLMChain with streaming, async, and fallbacks</a:t>
            </a:r>
            <a:endParaRPr lang="en-US" sz="1300" dirty="0"/>
          </a:p>
        </p:txBody>
      </p:sp>
      <p:sp>
        <p:nvSpPr>
          <p:cNvPr id="9" name="Shape 7"/>
          <p:cNvSpPr/>
          <p:nvPr/>
        </p:nvSpPr>
        <p:spPr>
          <a:xfrm>
            <a:off x="457200" y="2423160"/>
            <a:ext cx="411480" cy="411480"/>
          </a:xfrm>
          <a:prstGeom prst="ellipse">
            <a:avLst/>
          </a:prstGeom>
          <a:solidFill>
            <a:srgbClr val="8B5CF6"/>
          </a:solidFill>
          <a:ln/>
        </p:spPr>
      </p:sp>
      <p:sp>
        <p:nvSpPr>
          <p:cNvPr id="10" name="Text 8"/>
          <p:cNvSpPr/>
          <p:nvPr/>
        </p:nvSpPr>
        <p:spPr>
          <a:xfrm>
            <a:off x="457200" y="244144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1" name="Text 9"/>
          <p:cNvSpPr/>
          <p:nvPr/>
        </p:nvSpPr>
        <p:spPr>
          <a:xfrm>
            <a:off x="1097280" y="242316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Output parsers (especially Pydantic) enable type-safe, structured extraction from LLM outputs</a:t>
            </a:r>
            <a:endParaRPr lang="en-US" sz="1300" dirty="0"/>
          </a:p>
        </p:txBody>
      </p:sp>
      <p:sp>
        <p:nvSpPr>
          <p:cNvPr id="12" name="Shape 10"/>
          <p:cNvSpPr/>
          <p:nvPr/>
        </p:nvSpPr>
        <p:spPr>
          <a:xfrm>
            <a:off x="457200" y="3063240"/>
            <a:ext cx="411480" cy="411480"/>
          </a:xfrm>
          <a:prstGeom prst="ellipse">
            <a:avLst/>
          </a:prstGeom>
          <a:solidFill>
            <a:srgbClr val="3B82F6"/>
          </a:solidFill>
          <a:ln/>
        </p:spPr>
      </p:sp>
      <p:sp>
        <p:nvSpPr>
          <p:cNvPr id="13" name="Text 11"/>
          <p:cNvSpPr/>
          <p:nvPr/>
        </p:nvSpPr>
        <p:spPr>
          <a:xfrm>
            <a:off x="457200" y="308152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4" name="Text 12"/>
          <p:cNvSpPr/>
          <p:nvPr/>
        </p:nvSpPr>
        <p:spPr>
          <a:xfrm>
            <a:off x="1097280" y="306324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Memory types trade off between completeness and token efficiency — choose based on use case</a:t>
            </a:r>
            <a:endParaRPr lang="en-US" sz="1300" dirty="0"/>
          </a:p>
        </p:txBody>
      </p:sp>
      <p:sp>
        <p:nvSpPr>
          <p:cNvPr id="15" name="Shape 13"/>
          <p:cNvSpPr/>
          <p:nvPr/>
        </p:nvSpPr>
        <p:spPr>
          <a:xfrm>
            <a:off x="457200" y="3703320"/>
            <a:ext cx="411480" cy="411480"/>
          </a:xfrm>
          <a:prstGeom prst="ellipse">
            <a:avLst/>
          </a:prstGeom>
          <a:solidFill>
            <a:srgbClr val="0D9488"/>
          </a:solidFill>
          <a:ln/>
        </p:spPr>
      </p:sp>
      <p:sp>
        <p:nvSpPr>
          <p:cNvPr id="16" name="Text 14"/>
          <p:cNvSpPr/>
          <p:nvPr/>
        </p:nvSpPr>
        <p:spPr>
          <a:xfrm>
            <a:off x="457200" y="372160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7" name="Text 15"/>
          <p:cNvSpPr/>
          <p:nvPr/>
        </p:nvSpPr>
        <p:spPr>
          <a:xfrm>
            <a:off x="1097280" y="370332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Agents + Tools create autonomous systems — start with Tool Calling Agent, add memory, handle errors</a:t>
            </a:r>
            <a:endParaRPr lang="en-US" sz="1300" dirty="0"/>
          </a:p>
        </p:txBody>
      </p:sp>
      <p:sp>
        <p:nvSpPr>
          <p:cNvPr id="18" name="Shape 16"/>
          <p:cNvSpPr/>
          <p:nvPr/>
        </p:nvSpPr>
        <p:spPr>
          <a:xfrm>
            <a:off x="457200" y="4343400"/>
            <a:ext cx="411480" cy="411480"/>
          </a:xfrm>
          <a:prstGeom prst="ellipse">
            <a:avLst/>
          </a:prstGeom>
          <a:solidFill>
            <a:srgbClr val="F97316"/>
          </a:solidFill>
          <a:ln/>
        </p:spPr>
      </p:sp>
      <p:sp>
        <p:nvSpPr>
          <p:cNvPr id="19" name="Text 17"/>
          <p:cNvSpPr/>
          <p:nvPr/>
        </p:nvSpPr>
        <p:spPr>
          <a:xfrm>
            <a:off x="457200" y="436168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0" name="Text 18"/>
          <p:cNvSpPr/>
          <p:nvPr/>
        </p:nvSpPr>
        <p:spPr>
          <a:xfrm>
            <a:off x="1097280" y="434340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Production demands: caching, fallbacks, retries, parallel execution, security, and monitoring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2743200" y="2011680"/>
            <a:ext cx="3657600" cy="36576"/>
          </a:xfrm>
          <a:prstGeom prst="rect">
            <a:avLst/>
          </a:prstGeom>
          <a:solidFill>
            <a:srgbClr val="0D9488"/>
          </a:solidFill>
          <a:ln/>
        </p:spPr>
      </p:sp>
      <p:sp>
        <p:nvSpPr>
          <p:cNvPr id="3" name="Text 1"/>
          <p:cNvSpPr/>
          <p:nvPr/>
        </p:nvSpPr>
        <p:spPr>
          <a:xfrm>
            <a:off x="0" y="2286000"/>
            <a:ext cx="914400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4" name="Text 2"/>
          <p:cNvSpPr/>
          <p:nvPr/>
        </p:nvSpPr>
        <p:spPr>
          <a:xfrm>
            <a:off x="0" y="3108960"/>
            <a:ext cx="9144000" cy="457200"/>
          </a:xfrm>
          <a:prstGeom prst="rect">
            <a:avLst/>
          </a:prstGeom>
          <a:noFill/>
          <a:ln/>
        </p:spPr>
        <p:txBody>
          <a:bodyPr wrap="square" lIns="0" tIns="0" rIns="0" bIns="0" rtlCol="0" anchor="ctr"/>
          <a:lstStyle/>
          <a:p>
            <a:pPr algn="ctr" indent="0" marL="0">
              <a:buNone/>
            </a:pPr>
            <a:r>
              <a:rPr lang="en-US" sz="2000" dirty="0">
                <a:solidFill>
                  <a:srgbClr val="0D9488"/>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2743200" y="3749040"/>
            <a:ext cx="3657600" cy="36576"/>
          </a:xfrm>
          <a:prstGeom prst="rect">
            <a:avLst/>
          </a:prstGeom>
          <a:solidFill>
            <a:srgbClr val="0D9488"/>
          </a:solidFill>
          <a:ln/>
        </p:spPr>
      </p:sp>
      <p:sp>
        <p:nvSpPr>
          <p:cNvPr id="6" name="Text 4"/>
          <p:cNvSpPr/>
          <p:nvPr/>
        </p:nvSpPr>
        <p:spPr>
          <a:xfrm>
            <a:off x="0" y="4023360"/>
            <a:ext cx="9144000" cy="36576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Next: Module 3 — RAG &amp; Vector Databases</a:t>
            </a:r>
            <a:endParaRPr lang="en-US" sz="1400" dirty="0"/>
          </a:p>
        </p:txBody>
      </p:sp>
      <p:sp>
        <p:nvSpPr>
          <p:cNvPr id="7" name="Text 5"/>
          <p:cNvSpPr/>
          <p:nvPr/>
        </p:nvSpPr>
        <p:spPr>
          <a:xfrm>
            <a:off x="0" y="4389120"/>
            <a:ext cx="9144000" cy="3657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Applied AI Course  |  Part 1: Foundations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LangChain Framework</dc:title>
  <dc:subject>PptxGenJS Presentation</dc:subject>
  <dc:creator>PptxGenJS</dc:creator>
  <cp:lastModifiedBy>PptxGenJS</cp:lastModifiedBy>
  <cp:revision>1</cp:revision>
  <dcterms:created xsi:type="dcterms:W3CDTF">2026-04-01T13:21:37Z</dcterms:created>
  <dcterms:modified xsi:type="dcterms:W3CDTF">2026-04-01T13:21:37Z</dcterms:modified>
</cp:coreProperties>
</file>